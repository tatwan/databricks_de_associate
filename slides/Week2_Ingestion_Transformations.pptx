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2" r:id="rId4"/>
    <p:sldId id="258" r:id="rId5"/>
    <p:sldId id="259" r:id="rId6"/>
    <p:sldId id="273" r:id="rId7"/>
    <p:sldId id="260" r:id="rId8"/>
    <p:sldId id="274" r:id="rId9"/>
    <p:sldId id="261" r:id="rId10"/>
    <p:sldId id="276" r:id="rId11"/>
    <p:sldId id="277" r:id="rId12"/>
    <p:sldId id="278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5" r:id="rId21"/>
    <p:sldId id="269" r:id="rId22"/>
    <p:sldId id="270" r:id="rId23"/>
    <p:sldId id="271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/>
    <p:restoredTop sz="94610"/>
  </p:normalViewPr>
  <p:slideViewPr>
    <p:cSldViewPr snapToGrid="0" snapToObjects="1">
      <p:cViewPr varScale="1">
        <p:scale>
          <a:sx n="189" d="100"/>
          <a:sy n="189" d="100"/>
        </p:scale>
        <p:origin x="1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488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Week 2 STARTER quiz (Markdown Mash, 5 questions on Week 1: DROP semantics, CTAS rule, hierarchy order, compute choice, medallion). Then the hook: who found the duplicates and NULLs in the Week 1 file? That dirty data is today's raw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session: loading once isn't the job; loading repeatedly without ever double-loading is. The answer-word is IDEMPOTENT and it threads every segment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Week 1 threads that lit up the room. The reveal: a 'table' is a folder of Parquet data files plus a _delta_log of ordered JSON commits — that log is what makes it a TABLE format, not just a file format. Parquet alone = no ACID, no history. Iceberg is a peer table format; Databricks interoperates via UniForm (Delta exposes Iceberg-readable metadata) and managed Iceberg tables in Unity Catalog. Exam-relevant: Delta is the DEFAULT format. Iceberg/UniForm = enrichment, label it clearly, do not let it sprawl into a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this domain refines one box on this ladder. Many exam questions resolve to: pick the MOST MANAGED thing that satisfies the constraints. ADF translation: managed connectors = copy activity with built-in linked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syntax matters — they write this in the lab. Stress file-tracking semantics: it remembers FILES, not rows. Rerun = 0 rows. Contrast with INSERT INTO SELECT read_files — that double-loads. The trap inverts: a renamed/moved file WILL reload.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straight back to Week 1's 'the log IS the table's truth.' COPY INTO records the files it loaded as part of each commit in the target table's own _delta_log — not a separate catalog. That's why rerun = 0 rows. Drill the trap orally: a renamed or moved file looks new (new path), so it reloads; force=true disables the skip entirely. Behavior is exam-tested; the storage location is the enrichment.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Anatomy drill: readStream + cloudFiles format + schemaLocation (remembered schema) + checkpointLocation (exactly-once bookkeeping) + availableNow (process new files, stop). Scales to millions of files; file-notification mode for extreme volume. _rescued_data catches non-conforming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'checkpoint = exactly-once' physical. schemaLocation persists the inferred schema under _schemas/ (versioned); the checkpoint tracks processed files via offsets/, commits/, and an embedded RocksDB index under sources/. This is the concrete answer to 'how does it know it already saw that file?' Deleting the checkpoint folder = the stream reprocesses from scratch. Enrichment — the exam tests the concept and _rescued_data, not the folder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Two-question discriminator: (1) how many files / how often? (2) does schema drift or latency matter? Both are current and exam-listed. 'Best' = simplest tool that satisfies every stated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AB3F-4FD1-C4E2-5735-3E0FF187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A4E6F-F671-BE02-A839-5443B1206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8AC80-010A-B259-59CE-BBF5826C6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ladder top-down: most managed at the top, most custom at the bottom. Lakeflow Connect for SaaS/databases; declarative pipelines wrap Auto Loader; COPY INTO + Auto Loader are the bronze file-ingestion sweet spot; MERGE handles row-level change in silver; CTAS is one-off only. Memory aid: production pipelines COMBINE these, not either/or. The graphic says 'DLT / Lakeflow Declarative Pipelines' — say the current name aloud: Lakeflow Spark Declarative Pipelines.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C023D-FD5F-030C-AA9E-D292841157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51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D181-D8A5-6EC1-56F8-9B795F75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FC954-C7DC-67B1-D916-2920E8D08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89A30-B98D-1358-7BDD-66B9C931D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one ROW at a time — each row is an exam stem in disguise. Raw files: COPY INTO and Auto Loader both BEST. Rows changed/removed: MERGE is the ONLY correct tool. Streaming/near-real-time: Auto Loader. Renamed/moved file: COPY INTO and Auto Loader treat it as a new path and may duplicate — key-based MERGE avoids that. Shortcut to repeat: files landing → COPY INTO or Auto Loader; row-level changes → MERGE INTO.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F3789-D310-8C45-581A-1906AC6A6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40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B83DC-9C59-6755-9B45-A3D5115A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C29FA-386D-434C-5432-B63DAE090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8BCB6-2C5D-FEDD-BFF1-8E7093886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composition picture: ingestion tools land BRONZE (COPY INTO batch, Auto Loader scale/streaming, Lakeflow Connect for SaaS/DBs); MERGE applies changes bronze→SILVER; GOLD serves BI. Declarative pipelines can orchestrate the whole flow with quality rules. When an exam question mixes ingestion and DML, first identify WHICH hop it is asking about — that alone eliminates two options.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989AC-42BD-9297-6543-F715D5986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18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Edition can't demo managed connectors — label it: exam concept. What the exam wants: given source type + effort budget, pick the layer. JDBC/REST in a notebook is a LEGITIMATE exam answer when no connector exists — scheduled by Lakeflow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Mental shift for warehouse people: don't pre-flatten JSON into staging tables. Dot syntax digs into parsed STRUCTs (colon digs into raw JSON strings). explode() expands ARRAYS into rows — verbatim outline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Attach the Week 1 concept to each tool. The design pattern answers a family of exam questions: bronze absorbs drift (evolution + rescue), silver is a contract (enforcement + constraints). Oral check: new column arrives, default Auto Loader settings — what happens?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 exam tests PySpark DataFrame reading fluency. Show the mapping once and it clicks. NULL arithmetic callback: quantity * unit_price is NULL if either side is NULL — they saw this in Week 1's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exam hooks. Broadcast: small-dim-to-big-fact eliminates the shuffle of the large side (returns in Week 4's Spark UI). UNION trap, three facts: SQL UNION dedupes; UNION ALL doesn't; PySpark df.union() does NOT dedupe and matches BY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retired official sample (hospital billing) is exactly groupBy + sum + count_distinct with correct aliases — its trap is counting the WRONG COLUMN. Dedup decision: DISTINCT for identical rows; ROW_NUMBER when you must control WHICH duplicate survives.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MERGE as 'the source sent us fixes' — exactly today's lab. One atomic statement, one new table version. Famous failure: multiple source rows matching one target row errors out — dedupe the source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payoff slide for the idempotency thread. Classic Delta MERGE is copy-on-write: a single changed row forces a rewrite of the entire Parquet file containing it, recorded as one atomic commit (old files removed, new files added). That's WHY it produces a new version and why rerun converges. Modern runtimes default managed tables to deletion vectors (merge-on-read): the row is soft-deleted via a tiny side file, deferring the rewrite to OPTIMIZE. Teach copy-on-write as the model; mention deletion vectors as the optimization. Exam tests behavior, not storage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objective: apply quality checks for reliable silver/gold. Key distinction the exam tests: a CHECK violation ABORTS THE ENTIRE WRITE — it does not skip bad rows. Skipping gracefully is the quarantine pattern or declarative expectations with a DROP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one elimination: '~200 CSV files nightly, SQL, rerun-safe' — Auto Loader works but isn't BEST (stem says SQL + modest volume); INSERT SELECT isn't rerun-safe; managed connector is for SaaS, not files → COPY INTO. Tuning parameters get one mention (Week 4 depth).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idempotency: ask the room where it came from at each step (file tracking, checkpoints, MERGE keys). Tease Week 3: 'you'll stop running these cells by hand.' Homework: ingestion docs + PySpark mirror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18104" y="91440"/>
            <a:ext cx="2377440" cy="2377440"/>
          </a:xfrm>
          <a:prstGeom prst="ellipse">
            <a:avLst/>
          </a:prstGeom>
          <a:ln w="12700">
            <a:solidFill>
              <a:srgbClr val="466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968496" y="3657600"/>
            <a:ext cx="1554480" cy="1554480"/>
          </a:xfrm>
          <a:prstGeom prst="ellipse">
            <a:avLst/>
          </a:prstGeom>
          <a:ln w="12700">
            <a:solidFill>
              <a:srgbClr val="466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3542" y="4114800"/>
            <a:ext cx="502920" cy="50292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280160" cy="54864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INSTRUCTOR-LED CERTIFICATION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Certified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 Associate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Data Ingestion &amp; Loading — full coverage (~20%)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Data Transformation &amp; Modeling — cleaning, joins,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dedup, MERGE, data quality (~22%)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Together: 40%+ of your exam, today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0"/>
            <a:ext cx="3246120" cy="514350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777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99632" y="9601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0" dirty="0"/>
          </a:p>
        </p:txBody>
      </p:sp>
      <p:sp>
        <p:nvSpPr>
          <p:cNvPr id="13" name="Text 11"/>
          <p:cNvSpPr/>
          <p:nvPr/>
        </p:nvSpPr>
        <p:spPr>
          <a:xfrm>
            <a:off x="6263640" y="30175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&amp; Transformation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6364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D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 · Auto Loader · Bronze→Silver · MERGE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 IN ONE QUESTION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load files that keep arriving — safely?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02920" y="141732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02920" y="2331720"/>
            <a:ext cx="252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kern="0" spc="1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DOMAIN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24200" y="1554480"/>
            <a:ext cx="0" cy="1005840"/>
          </a:xfrm>
          <a:prstGeom prst="line">
            <a:avLst/>
          </a:prstGeom>
          <a:noFill/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15640" y="141732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~22%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3215640" y="2331720"/>
            <a:ext cx="252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kern="0" spc="1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DOMAIN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36920" y="1554480"/>
            <a:ext cx="0" cy="1005840"/>
          </a:xfrm>
          <a:prstGeom prst="line">
            <a:avLst/>
          </a:prstGeom>
          <a:noFill/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28360" y="141732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5928360" y="2331720"/>
            <a:ext cx="252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kern="0" spc="1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YOU'LL RUN: COPY INTO + AUTO LOADER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3200400"/>
            <a:ext cx="8138160" cy="868680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02920" y="3200400"/>
            <a:ext cx="54864" cy="86868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4088" y="3255264"/>
            <a:ext cx="7772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THREAD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professional pipeline can be run twice without harm. COPY INTO is idempotent at the FILE level; MERGE at the ROW level; checkpoints make streams exactly-once. Every exam scenario rewards this instinct.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CALLBACK · UNDER THE HOOD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vs Parquet — and where Iceberg fits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3977640" cy="26517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4088" y="1453896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— A FILE FORMAT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1520" y="184708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50976" y="1746504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file = columns + values, compressed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414016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50976" y="231343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history, no transactions, no schema rules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98094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50976" y="288036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folder of Parquet files has no single "truth"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1325880"/>
            <a:ext cx="3977640" cy="26517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64608" y="1453896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— A TABLE FORMAT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92040" y="184708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11496" y="1746504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Parquet data files underneath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92040" y="2414016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11496" y="231343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_delta_log = ordered JSON commits = the truth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92040" y="298094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11496" y="288036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ACID, time travel, schema enforcement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4160520"/>
            <a:ext cx="8138160" cy="566928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02920" y="4160520"/>
            <a:ext cx="54864" cy="566928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04088" y="4215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 · FLAG IT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database icon is physically Parquet files + a _delta_log folder. Iceberg is another table format; Databricks reads/writes it via UniForm + managed Iceberg tables.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DOMAIN 2 · THE SKELETON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ingestion ladder: managed → custom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5852160" cy="420624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371600"/>
            <a:ext cx="58521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CONNECT — MANAGED CONNECTORS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922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&amp; databases (Salesforce, SQL Server) — least code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121408"/>
            <a:ext cx="5852160" cy="420624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2121408"/>
            <a:ext cx="58521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SPARK DECLARATIVE PIPELINES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25420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ETL — Auto Loader under the hood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2871216"/>
            <a:ext cx="5852160" cy="420624"/>
          </a:xfrm>
          <a:prstGeom prst="rect">
            <a:avLst/>
          </a:prstGeom>
          <a:solidFill>
            <a:srgbClr val="3D5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2871216"/>
            <a:ext cx="58521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LOADER  ·  COPY INTO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3291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file ingestion you configure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3621024"/>
            <a:ext cx="5852160" cy="420624"/>
          </a:xfrm>
          <a:prstGeom prst="rect">
            <a:avLst/>
          </a:prstGeom>
          <a:solidFill>
            <a:srgbClr val="566B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" y="3621024"/>
            <a:ext cx="58521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STREAMING  ·  JDBC / REST IN NOTEBOOKS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" y="40416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control, maximum maintenance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675120" y="141732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MANAGED
</a:t>
            </a: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code, least control
</a:t>
            </a: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CUSTOM
</a:t>
            </a: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code, most control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99296" y="1417320"/>
            <a:ext cx="5831" cy="2624328"/>
          </a:xfrm>
          <a:prstGeom prst="line">
            <a:avLst/>
          </a:prstGeom>
          <a:noFill/>
          <a:ln w="25400">
            <a:solidFill>
              <a:srgbClr val="E31E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DOMAIN 2 · VERBATIM OBJECTIVE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 — incremental loading in pure SQL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983480" cy="2880360"/>
          </a:xfrm>
          <a:prstGeom prst="rect">
            <a:avLst/>
          </a:prstGeom>
          <a:solidFill>
            <a:srgbClr val="26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4983480" cy="2743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0936" y="1417320"/>
            <a:ext cx="91440" cy="9144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13816" y="134416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copy_into.sql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" y="1691640"/>
            <a:ext cx="459943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INTO sales_bronze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(SELECT *, current_timestamp() AS _ingested_at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FROM '/Volumes/ws/lab/landing/incoming/')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FILEFORMAT = CSV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FORMAT_OPTIONS ('header' = 'true')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COPY_OPTIONS  ('mergeSchema' = 'true');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run it again right now: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num_inserted_rows = 0   ← idempotent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152704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0176" y="1426464"/>
            <a:ext cx="2660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files  </a:t>
            </a:r>
            <a:r>
              <a:rPr lang="en-US" sz="120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already-loaded files are skipped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2368296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0176" y="2267712"/>
            <a:ext cx="2660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Retriable + idempotent  </a:t>
            </a:r>
            <a:r>
              <a:rPr lang="en-US" sz="120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60720" y="320954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80176" y="3108960"/>
            <a:ext cx="2660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  </a:t>
            </a:r>
            <a:r>
              <a:rPr lang="en-US" sz="120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files, SQL-first, scheduled batch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370832"/>
            <a:ext cx="8138160" cy="502920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02920" y="4370832"/>
            <a:ext cx="54864" cy="50292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4088" y="4425696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DAY-BY-DAY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loads 2 files → Day 2 rerun: 0 rows → new file lands → rerun: loads ONLY the new file.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 · ENRICHMENT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COPY INTO remember what it loaded?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983480" cy="2880360"/>
          </a:xfrm>
          <a:prstGeom prst="rect">
            <a:avLst/>
          </a:prstGeom>
          <a:solidFill>
            <a:srgbClr val="26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4983480" cy="2743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0936" y="1417320"/>
            <a:ext cx="91440" cy="9144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13816" y="134416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inspect_copy_into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" y="1691640"/>
            <a:ext cx="459943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EAF0F4"/>
                </a:solidFill>
                <a:latin typeface="Consolas"/>
              </a:rPr>
              <a:t>DESCRIBE HISTORY sales_bronze;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operation = COPY INTO   numFiles = 2</a:t>
            </a:r>
          </a:p>
          <a:p>
            <a:r>
              <a:rPr sz="1050">
                <a:solidFill>
                  <a:srgbClr val="EAF0F4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now list the table's own _delta_log:</a:t>
            </a:r>
          </a:p>
          <a:p>
            <a:r>
              <a:rPr sz="1050">
                <a:solidFill>
                  <a:srgbClr val="EAF0F4"/>
                </a:solidFill>
                <a:latin typeface="Consolas"/>
              </a:rPr>
              <a:t>ls .../sales_bronze/_delta_log/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-- 00000000000000000000.json   commit 0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-- 00000000000000000001.json   commit 1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each commit's "add" entries name the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files already loaded -&gt; reruns skip them</a:t>
            </a:r>
          </a:p>
        </p:txBody>
      </p:sp>
      <p:sp>
        <p:nvSpPr>
          <p:cNvPr id="12" name="Shape 9"/>
          <p:cNvSpPr/>
          <p:nvPr/>
        </p:nvSpPr>
        <p:spPr>
          <a:xfrm>
            <a:off x="5760720" y="152704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0176" y="1426464"/>
            <a:ext cx="2660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_delta_log  </a:t>
            </a:r>
            <a:r>
              <a:rPr lang="en-US" sz="120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commit lists the files it ingested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2368296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0176" y="2267712"/>
            <a:ext cx="2660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Rerun = 0 rows  </a:t>
            </a:r>
            <a:r>
              <a:rPr lang="en-US" sz="120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paths are already named → skipped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60720" y="320954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80176" y="3108960"/>
            <a:ext cx="2660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  </a:t>
            </a:r>
            <a:r>
              <a:rPr lang="en-US" sz="120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renamed/moved file is "new" → reloads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370832"/>
            <a:ext cx="8138160" cy="502920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02920" y="4370832"/>
            <a:ext cx="54864" cy="50292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4088" y="4425696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vs ENRICHMENT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 tests the behavior (idempotent, file-tracked). WHERE it is tracked — the Delta log — is the "why" that makes it stick.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DOMAIN 2 · HEAVYWEIGHT TOPIC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Loader — cloudFiles, four essentials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983480" cy="3383280"/>
          </a:xfrm>
          <a:prstGeom prst="rect">
            <a:avLst/>
          </a:prstGeom>
          <a:solidFill>
            <a:srgbClr val="26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4983480" cy="2743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0936" y="1417320"/>
            <a:ext cx="91440" cy="9144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13816" y="134416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auto_loader.py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" y="1691640"/>
            <a:ext cx="459943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(spark.readStream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.format('cloudFiles')              # ① Auto Loader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.option('cloudFiles.format','csv')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.option('cloudFiles.schemaLocation',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chk)                       # ② schema memory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.load(src)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.writeStream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.option('checkpointLocation', chk) # ③ exactly-once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.trigger(availableNow=True)        # ④ batch cadence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.toTable('ws.lab.sales_bronze_al'))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152704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0176" y="1426464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files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listing or file notification discovery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60720" y="2331720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0176" y="2231136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evolution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addNewColumns: fail → restart picks it up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760720" y="3136392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80176" y="3035808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_rescued_data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mismatches kept, not dropped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760720" y="394106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80176" y="3840480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availableNow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tech, batch schedule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 · ENRICHMENT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Loader's checkpoint is a real folder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983480" cy="3383280"/>
          </a:xfrm>
          <a:prstGeom prst="rect">
            <a:avLst/>
          </a:prstGeom>
          <a:solidFill>
            <a:srgbClr val="26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4983480" cy="2743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0936" y="1417320"/>
            <a:ext cx="91440" cy="9144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13816" y="134416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inspect_checkpoint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" y="1691640"/>
            <a:ext cx="459943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EAF0F4"/>
                </a:solidFill>
                <a:latin typeface="Consolas"/>
              </a:rPr>
              <a:t>ls .../landing/_checkpoints/sales_al/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_schemas/    inferred schema, versioned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offsets/     what's been read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commits/     what's been processed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sources/.../rocksdb/   files-seen index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metadata     stream id</a:t>
            </a:r>
          </a:p>
          <a:p>
            <a:r>
              <a:rPr sz="1050">
                <a:solidFill>
                  <a:srgbClr val="EAF0F4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delete this folder = amnesia: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next run reprocesses every file</a:t>
            </a:r>
          </a:p>
        </p:txBody>
      </p:sp>
      <p:sp>
        <p:nvSpPr>
          <p:cNvPr id="12" name="Shape 9"/>
          <p:cNvSpPr/>
          <p:nvPr/>
        </p:nvSpPr>
        <p:spPr>
          <a:xfrm>
            <a:off x="5760720" y="152704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0176" y="1426464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_schemas/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it inferred and remembers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60720" y="2331720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0176" y="2231136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offsets + commits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progress = exactly-once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760720" y="3136392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80176" y="3035808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RocksDB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embedded index of files already seen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760720" y="394106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80176" y="3840480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it = amnesia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run reprocesses everything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EXAM'S FAVORITE FORK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 vs. Auto Loader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9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2880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COPY INTO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Loader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statement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PySpark Structured Streaming (cloudFiles)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Thousands of files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Millions of files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Lists source path per run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Directory listing or file notification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drift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mergeSchema option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 + evolution + _rescued_data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Scheduled batch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or availableNow batch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 keywords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“SQL command” · “rerun-safe”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“millions of files” · “evolving schema” · “low latency”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24528"/>
            <a:ext cx="8138160" cy="502920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02920" y="4224528"/>
            <a:ext cx="54864" cy="50292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04088" y="4279392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TIEBREAK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 volume + SQL-only team → COPY INTO. Anything with scale, drift, or streaming words → Auto Loader.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30B1A-C7C0-08D1-ED9A-67DD67EA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57E551-A1EA-78C7-BB4D-AC8C1A7B0B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24"/>
          <a:stretch>
            <a:fillRect/>
          </a:stretch>
        </p:blipFill>
        <p:spPr>
          <a:xfrm>
            <a:off x="20" y="962"/>
            <a:ext cx="9143980" cy="48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297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33FB7-8211-C68A-4C33-3BB63D3EB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32AC1-DEDD-3094-CAC7-3E74B55FF8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470"/>
          <a:stretch>
            <a:fillRect/>
          </a:stretch>
        </p:blipFill>
        <p:spPr>
          <a:xfrm>
            <a:off x="20" y="962"/>
            <a:ext cx="9143980" cy="475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34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61B29-3A7E-C940-99D4-FDC515A4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5C8A6-18B8-9121-EC3D-D5D88D34CD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86"/>
          <a:stretch>
            <a:fillRect/>
          </a:stretch>
        </p:blipFill>
        <p:spPr>
          <a:xfrm>
            <a:off x="20" y="961"/>
            <a:ext cx="9143980" cy="479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21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DOMAIN 2 · CONCEPT (PAID FEATURE)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Connect, partners, and DIY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13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39547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  <a:effectLst>
            <a:outerShdw blurRad="88900" dist="25400" dir="5400000" algn="bl" rotWithShape="0">
              <a:srgbClr val="9AA5AD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64008" cy="1298448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435608"/>
            <a:ext cx="3589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5800" y="1746504"/>
            <a:ext cx="3607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connectors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2093976"/>
            <a:ext cx="36073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Salesforce, SQL Server, enterprise SaaS — fully managed into UC tables. “Zero engineering” is the trigger phrase.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86300" y="1325880"/>
            <a:ext cx="39547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  <a:effectLst>
            <a:outerShdw blurRad="88900" dist="25400" dir="5400000" algn="bl" rotWithShape="0">
              <a:srgbClr val="9AA5AD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86300" y="1325880"/>
            <a:ext cx="64008" cy="1298448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69180" y="1435608"/>
            <a:ext cx="3589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869180" y="1746504"/>
            <a:ext cx="3607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connectors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869180" y="2093976"/>
            <a:ext cx="36073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connectors for files and queues that you configure and operate.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2852928"/>
            <a:ext cx="39547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  <a:effectLst>
            <a:outerShdw blurRad="88900" dist="25400" dir="5400000" algn="bl" rotWithShape="0">
              <a:srgbClr val="9AA5AD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02920" y="2852928"/>
            <a:ext cx="64008" cy="1298448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2962656"/>
            <a:ext cx="3589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85800" y="3273552"/>
            <a:ext cx="3607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connectors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5800" y="3621024"/>
            <a:ext cx="36073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Fivetran &amp; friends — when the org already standardized on a partner stack.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86300" y="2852928"/>
            <a:ext cx="39547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  <a:effectLst>
            <a:outerShdw blurRad="88900" dist="25400" dir="5400000" algn="bl" rotWithShape="0">
              <a:srgbClr val="9AA5AD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686300" y="2852928"/>
            <a:ext cx="64008" cy="1298448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69180" y="2962656"/>
            <a:ext cx="3589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869180" y="3273552"/>
            <a:ext cx="3607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/ REST in notebooks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869180" y="3621024"/>
            <a:ext cx="36073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APIs and auth — your code, landed in volumes/tables, scheduled with Lakeflow Jobs.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2920" y="4114800"/>
            <a:ext cx="8138160" cy="566928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02920" y="4114800"/>
            <a:ext cx="54864" cy="566928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04088" y="41696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CONCEPT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connectors require enterprise sources + paid infrastructure — concept-only in Free Edition, fully testable on the exam.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DOMAINS 2 &amp;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Semi-structured data: store nested, query nested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14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983480" cy="3017520"/>
          </a:xfrm>
          <a:prstGeom prst="rect">
            <a:avLst/>
          </a:prstGeom>
          <a:solidFill>
            <a:srgbClr val="26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4983480" cy="2743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0936" y="1417320"/>
            <a:ext cx="91440" cy="9144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13816" y="134416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nested_json.sql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" y="1691640"/>
            <a:ext cx="459943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contact.city AS city,      -- dot into STRUCT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explode(favorite_categories)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AS fav_category          -- ARRAY -&gt; rows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read_files(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'/Volumes/.../customers.json',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 =&gt; 'json');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 customer x 3 categories = 3 rows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152704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0176" y="1426464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  </a:t>
            </a:r>
            <a:r>
              <a:rPr lang="en-US" sz="120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contact.city — dot path on parsed data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239572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0176" y="2295144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 </a:t>
            </a:r>
            <a:r>
              <a:rPr lang="en-US" sz="120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explode() = one row per element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60720" y="326440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80176" y="3163824"/>
            <a:ext cx="2660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 </a:t>
            </a:r>
            <a:r>
              <a:rPr lang="en-US" sz="120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explode does NOT flatten structs — arrays only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BRONZE/SILVER CONTRACT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by default, evolve on purpose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15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3977640" cy="26517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4088" y="1453896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— THE OPEN DOOR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1520" y="184708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50976" y="1746504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evolution ON (mergeSchema / addNewColumns)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414016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50976" y="231343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_rescued_data as the safety net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98094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50976" y="288036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strings + audit columns — type later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1325880"/>
            <a:ext cx="3977640" cy="26517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64608" y="1453896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— THE BOUNCER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92040" y="184708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11496" y="1746504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Enforcement: mismatched writes are REJECTED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92040" y="2414016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11496" y="231343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NULL + CHECK constraints as contracts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92040" y="298094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11496" y="288036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Typed, deduplicated, validated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4160520"/>
            <a:ext cx="8138160" cy="566928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02920" y="4160520"/>
            <a:ext cx="54864" cy="566928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04088" y="4215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ANSWER SHAPE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do you absorb schema drift?” Bronze. “Where do you enforce?” Silver and gold. One sentence, many questions.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DOMAIN 3 · VERBATIM OBJECTIVE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→ silver: the same moves, two dialects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16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069080" cy="3200400"/>
          </a:xfrm>
          <a:prstGeom prst="rect">
            <a:avLst/>
          </a:prstGeom>
          <a:solidFill>
            <a:srgbClr val="26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4069080" cy="2743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0936" y="1417320"/>
            <a:ext cx="91440" cy="9144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13816" y="13441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silver.sql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" y="1691640"/>
            <a:ext cx="368503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SQL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TABLE sales_silver AS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CAST(order_date AS DATE) AS order_date,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CAST(quantity   AS INT)  AS quantity,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ROUND(quantity*unit_price,2) AS line_total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sales_bronze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order_id IS NOT NULL;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3886200" cy="3200400"/>
          </a:xfrm>
          <a:prstGeom prst="rect">
            <a:avLst/>
          </a:prstGeom>
          <a:solidFill>
            <a:srgbClr val="26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325880"/>
            <a:ext cx="3886200" cy="2743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82896" y="1417320"/>
            <a:ext cx="91440" cy="9144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65776" y="134416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silver.py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56048" y="1691640"/>
            <a:ext cx="350215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PySpark — same pipeline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(spark.table('sales_bronze')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.where(col('order_id').isNotNull())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.withColumn('order_date',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to_date('order_date'))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.withColumn('quantity',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col('quantity').cast('int'))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.dropDuplicates(['order_id']))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590288"/>
            <a:ext cx="8138160" cy="384048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02920" y="4590288"/>
            <a:ext cx="54864" cy="384048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04088" y="4645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FLUENCY RULE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code is SQL when possible, Python otherwise — read withColumn, na.drop, where as fast as you read SELECT.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DOMAIN 3 · VERBATIM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Joins, broadcast, and the UNION trap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43560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22376" y="1335024"/>
            <a:ext cx="4535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· left · cross · multi-key  </a:t>
            </a:r>
            <a:r>
              <a:rPr lang="en-US" sz="12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a.k1 = b.k1 AND a.k2 = b.k2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240280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22376" y="2139696"/>
            <a:ext cx="4535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join  </a:t>
            </a:r>
            <a:r>
              <a:rPr lang="en-US" sz="12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table copied to every executor — no big-side shuffle (auto under ~10MB threshold, or hint)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44952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22376" y="2944368"/>
            <a:ext cx="4535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Anti-join idiom  </a:t>
            </a:r>
            <a:r>
              <a:rPr lang="en-US" sz="12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JOIN ... WHERE right.key IS NULL → find non-matches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532120" y="1298448"/>
            <a:ext cx="3108960" cy="306324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33288" y="1426464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BEHAVIOR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691640"/>
          <a:ext cx="274320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Dedupes?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 (SQL)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 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df.union()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by position!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unionByName()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by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02920" y="4023360"/>
            <a:ext cx="4754880" cy="713232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02920" y="4023360"/>
            <a:ext cx="54864" cy="713232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04088" y="4078224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“UNION is just faster UNION ALL” — backwards. UNION pays a dedup cost; UNION ALL is the cheap one.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DOMAIN 3 · OFFICIAL SAMPLE Q1 TERRITORY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 and aggregation, exam-style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983480" cy="3108960"/>
          </a:xfrm>
          <a:prstGeom prst="rect">
            <a:avLst/>
          </a:prstGeom>
          <a:solidFill>
            <a:srgbClr val="26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4983480" cy="2743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0936" y="1417320"/>
            <a:ext cx="91440" cy="9144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13816" y="134416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dedup_agg.sql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" y="1691640"/>
            <a:ext cx="459943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keep the LATEST row per key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(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 ROW_NUMBER() OVER (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PARTITION BY customer_id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updated_at DESC) AS rn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updates) WHERE rn = 1;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fast approximate cardinality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approx_count_distinct(user_id)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billions_of_rows;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152704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0176" y="1426464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rows — either survives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60720" y="2276856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0176" y="2176272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ROW_NUMBER = 1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choose the survivor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760720" y="302666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80176" y="2926080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dropDuplicates(['k'])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row per key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760720" y="3776472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80176" y="3675888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approx_count_distinct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for a small bounded error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DOMAIN 3 · CORE DML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INTO — the idempotent upsert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19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983480" cy="3108960"/>
          </a:xfrm>
          <a:prstGeom prst="rect">
            <a:avLst/>
          </a:prstGeom>
          <a:solidFill>
            <a:srgbClr val="26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4983480" cy="2743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0936" y="1417320"/>
            <a:ext cx="91440" cy="9144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13816" y="134416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merge.sql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" y="1691640"/>
            <a:ext cx="459943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INTO sales_silver AS t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corrections AS s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t.order_id = s.order_id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MATCHED     THEN UPDATE SET *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NOT MATCHED THEN INSERT *;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EA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rerun it: converges to the same state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(matched rows rewrite identical values)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152704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0176" y="1426464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transaction, one version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60720" y="2276856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0176" y="2176272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corrections, CDC apply, upserts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760720" y="302666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80176" y="2926080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INSERT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append-only, duplicates on rerun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760720" y="3776472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80176" y="3675888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source keys → error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 · ENRICHMENT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MERGE actually does to your files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983480" cy="3108960"/>
          </a:xfrm>
          <a:prstGeom prst="rect">
            <a:avLst/>
          </a:prstGeom>
          <a:solidFill>
            <a:srgbClr val="26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4983480" cy="2743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0936" y="1417320"/>
            <a:ext cx="91440" cy="91440"/>
          </a:xfrm>
          <a:prstGeom prst="ellipse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13816" y="134416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after_merge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" y="1691640"/>
            <a:ext cx="459943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EAF0F4"/>
                </a:solidFill>
                <a:latin typeface="Consolas"/>
              </a:rPr>
              <a:t>DESCRIBE HISTORY sales_silver;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operation = MERGE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  numTargetRowsUpdated  = 2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  numTargetRowsInserted = 3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  numTargetFilesRemoved = 1   (old)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  numTargetFilesAdded   = 1   (rewrite)</a:t>
            </a:r>
          </a:p>
          <a:p>
            <a:r>
              <a:rPr sz="1050">
                <a:solidFill>
                  <a:srgbClr val="EAF0F4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copy-on-write: a changed row rewrites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its whole Parquet file -&gt; new commit</a:t>
            </a:r>
          </a:p>
          <a:p>
            <a:r>
              <a:rPr sz="1050">
                <a:solidFill>
                  <a:srgbClr val="8FA3B5"/>
                </a:solidFill>
                <a:latin typeface="Consolas"/>
              </a:rPr>
              <a:t>-- (deletion vectors defer the rewrite)</a:t>
            </a:r>
          </a:p>
        </p:txBody>
      </p:sp>
      <p:sp>
        <p:nvSpPr>
          <p:cNvPr id="12" name="Shape 9"/>
          <p:cNvSpPr/>
          <p:nvPr/>
        </p:nvSpPr>
        <p:spPr>
          <a:xfrm>
            <a:off x="5760720" y="152704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0176" y="1426464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Copy-on-write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changed row rewrites its whole Parquet file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60720" y="2276856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0176" y="2176272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commit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files removed, new added in _delta_log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760720" y="302666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80176" y="2926080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vectors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default: soft-delete, skip the rewrite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760720" y="3776472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80176" y="3675888"/>
            <a:ext cx="2660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new version  </a:t>
            </a:r>
            <a:r>
              <a:rPr lang="en-US" sz="1150" dirty="0">
                <a:solidFill>
                  <a:srgbClr val="55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travel + idempotency, made physical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DOMAIN 3 · DATA 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data-quality escalation ladder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21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66928" y="1874520"/>
            <a:ext cx="1691640" cy="868680"/>
          </a:xfrm>
          <a:prstGeom prst="rect">
            <a:avLst/>
          </a:prstGeom>
          <a:solidFill>
            <a:srgbClr val="6E80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874520"/>
            <a:ext cx="16916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1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2798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manual,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40280" y="2135124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670048" y="1874520"/>
            <a:ext cx="1691640" cy="868680"/>
          </a:xfrm>
          <a:prstGeom prst="rect">
            <a:avLst/>
          </a:prstGeom>
          <a:solidFill>
            <a:srgbClr val="3D5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70048" y="1874520"/>
            <a:ext cx="16916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32888" y="2798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NULL · CHECK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violating write FAILS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343400" y="2135124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773168" y="1874520"/>
            <a:ext cx="1691640" cy="8686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73168" y="1874520"/>
            <a:ext cx="16916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36008" y="2798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rows split out,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keeps flowing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46520" y="2135124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876288" y="1874520"/>
            <a:ext cx="1691640" cy="86868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76288" y="1874520"/>
            <a:ext cx="16916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LDP</a:t>
            </a:r>
            <a:endParaRPr lang="en-US" sz="11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39128" y="2798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declarative: warn /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/ fail + metrics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2920" y="3703320"/>
            <a:ext cx="8138160" cy="868680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2920" y="3703320"/>
            <a:ext cx="54864" cy="86868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04088" y="3758184"/>
            <a:ext cx="7772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DISTRACTOR PAIR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CHECK constraint drops the bad rows.” FALSE — it rejects the whole transaction. Expectations with a DROP policy (Lakeflow Spark Declarative Pipelines) are the thing that drops rows. Exam concept: LDP hands-on depth comes via pipelines, syntax shown in Week 3.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READINESS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→ tool: how today gets tested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22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295351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the stem says…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answer is usually…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“millions of files” · “evolving schema” · “near-real-time”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Loader (file notification at extreme scale)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“SQL command” · “nightly batch” · “rerun must be safe”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COPY INTO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“Salesforce / SQL Server” · “minimal engineering”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Lakeflow Connect managed connector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“custom REST API” · “special auth”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 client + Lakeflow Jobs schedule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“corrected records arrived” · “apply changes”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 INTO (it's DML, not ingestion!)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“keep most recent per key”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ROW_NUMBER() OVER (PARTITION BY … ORDER BY … DESC) =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24528"/>
            <a:ext cx="8138160" cy="502920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02920" y="4224528"/>
            <a:ext cx="54864" cy="50292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04088" y="4279392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CAMEO  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four tuning parameter names (shuffle.partitions, parallelism, executor/driver memory, autoBroadcastJoinThreshold) — full story Week 4.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2377440" cy="2377440"/>
          </a:xfrm>
          <a:prstGeom prst="ellipse">
            <a:avLst/>
          </a:prstGeom>
          <a:ln w="12700">
            <a:solidFill>
              <a:srgbClr val="466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3108960"/>
            <a:ext cx="1554480" cy="1554480"/>
          </a:xfrm>
          <a:prstGeom prst="ellipse">
            <a:avLst/>
          </a:prstGeom>
          <a:ln w="12700">
            <a:solidFill>
              <a:srgbClr val="466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COMPLETE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pipeline is now rerunnable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29384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" y="1828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 + Auto Loader: incremental, file-tracked, exactly-once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96312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0664" y="23957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absorbs drift; silver enforces contracts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0664" y="296265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applies corrections idempotently — run it twice, same state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630168"/>
            <a:ext cx="91440" cy="9144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" y="35295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constraints reject, quarantine preserves, expectations declare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06040" cy="228600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3774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Jobs +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—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it,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it,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34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JUNE 2026  · 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3767</Words>
  <Application>Microsoft Macintosh PowerPoint</Application>
  <PresentationFormat>On-screen Show (16:9)</PresentationFormat>
  <Paragraphs>388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Creo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— Ingestion &amp; Transformations</dc:title>
  <dc:subject>PptxGenJS Presentation</dc:subject>
  <dc:creator>Creo Academy</dc:creator>
  <cp:lastModifiedBy>Tarek Atwan</cp:lastModifiedBy>
  <cp:revision>5</cp:revision>
  <dcterms:created xsi:type="dcterms:W3CDTF">2026-06-12T14:46:30Z</dcterms:created>
  <dcterms:modified xsi:type="dcterms:W3CDTF">2026-06-26T11:04:54Z</dcterms:modified>
</cp:coreProperties>
</file>