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5-question Week 1 retrieval quiz (DROP semantics, CTAS rule, hierarchy, time travel, volume path). Then the hook: who found the duplicates and NULLs in the Week 1 file? That dirty data is today's raw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whole session: loading once isn't the job; loading repeatedly without ever double-loading is. The answer-word is IDEMPOTENT and it threads every segment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this domain refines one box on this ladder. Many exam questions resolve to: pick the MOST MANAGED thing that satisfies the constraints. ADF translation: managed connectors = copy activity with built-in linked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syntax matters — they write this in the lab. Stress file-tracking semantics: it remembers FILES, not rows. Rerun = 0 rows. Contrast with INSERT INTO SELECT read_files — that double-loads. The trap inverts: a renamed/moved file WILL reload.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Anatomy drill: readStream + cloudFiles format + schemaLocation (remembered schema) + checkpointLocation (exactly-once bookkeeping) + availableNow (process new files, stop). Scales to millions of files; file-notification mode for extreme volume. _rescued_data catches non-conforming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Two-question discriminator: (1) how many files / how often? (2) does schema drift or latency matter? Both are current and exam-listed. 'Best' = simplest tool that satisfies every stated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Edition can't demo managed connectors — label it: exam concept. What the exam wants: given source type + effort budget, pick the layer. JDBC/REST in a notebook is a LEGITIMATE exam answer when no connector exists — scheduled by Lakeflow Jobs.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Mental shift for warehouse people: don't pre-flatten JSON into staging tables. Dot syntax digs into parsed STRUCTs (colon digs into raw JSON strings). explode() expands ARRAYS into rows — verbatim outline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Attach the Week 1 concept to each tool. The design pattern answers a family of exam questions: bronze absorbs drift (evolution + rescue), silver is a contract (enforcement + constraints). Oral check: new column arrives, default Auto Loader settings — what happens?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new exam tests PySpark DataFrame reading fluency. Show the mapping once and it clicks. NULL arithmetic callback: quantity * unit_price is NULL if either side is NULL — they saw this in Week 1's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exam hooks. Broadcast: small-dim-to-big-fact eliminates the shuffle of the large side (returns in Week 4's Spark UI). UNION trap, three facts: SQL UNION dedupes; UNION ALL doesn't; PySpark df.union() does NOT dedupe and matches BY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retired official sample (hospital billing) is exactly groupBy + sum + count_distinct with correct aliases — its trap is counting the WRONG COLUMN. Dedup decision: DISTINCT for identical rows; ROW_NUMBER when you must control WHICH duplicate survives.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MERGE as 'the source sent us fixes' — exactly today's lab. One atomic statement, one new table version. Famous failure: multiple source rows matching one target row errors out — dedupe the source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objective: apply quality checks for reliable silver/gold. Key distinction the exam tests: a CHECK violation ABORTS THE ENTIRE WRITE — it does not skip bad rows. Skipping gracefully is the quarantine pattern or declarative expectations with a DROP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one elimination: '~200 CSV files nightly, SQL, rerun-safe' — Auto Loader works but isn't BEST (stem says SQL + modest volume); INSERT SELECT isn't rerun-safe; managed connector is for SaaS, not files → COPY INTO. Tuning parameters get one mention (Week 4 depth).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idempotency: ask the room where it came from at each step (file tracking, checkpoints, MERGE keys). Tease Week 3: 'you'll stop running these cells by hand.' Homework: ingestion docs + PySpark mirror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18104" y="9144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68496" y="365760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542" y="4114800"/>
            <a:ext cx="502920" cy="50292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43584"/>
            <a:ext cx="1280160" cy="54864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Associate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Data Ingestion &amp; Loading — full coverage (~20%)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Data Transformation &amp; Modeling — cleaning, joins,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dedup, MERGE, data quality (~22%)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Together: 40%+ of your exam, today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0"/>
            <a:ext cx="3246120" cy="51435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9632" y="9601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0" dirty="0"/>
          </a:p>
        </p:txBody>
      </p:sp>
      <p:sp>
        <p:nvSpPr>
          <p:cNvPr id="13" name="Text 11"/>
          <p:cNvSpPr/>
          <p:nvPr/>
        </p:nvSpPr>
        <p:spPr>
          <a:xfrm>
            <a:off x="626364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&amp; Transformation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63640" y="4251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· Auto Loader · Bronze→Silver · MERGE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IN ONE QUESTION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load files that keep arriving — safely?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DOMAIN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124200" y="155448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1564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~22%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321564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DOMAIN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36920" y="155448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2836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592836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YOU'LL RUN: COPY INTO + AUTO LOADER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320040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6" name="Shape 13"/>
          <p:cNvSpPr/>
          <p:nvPr/>
        </p:nvSpPr>
        <p:spPr>
          <a:xfrm>
            <a:off x="502920" y="320040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325526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THREAD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professional pipeline can be run twice without harm. COPY INTO is idempotent at the FILE level; MERGE at the ROW level; checkpoints make streams exactly-once. Every exam scenario rewards this instinct.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2 · THE SKELETON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ingestion ladder: managed → custom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5852160" cy="420624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371600"/>
            <a:ext cx="585216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CONNECT — MANAGED CONNECTORS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" y="17922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&amp; databases (Salesforce, SQL Server) — least code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2920" y="2121408"/>
            <a:ext cx="5852160" cy="420624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121408"/>
            <a:ext cx="585216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SPARK DECLARATIVE PIPELINES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25420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ETL — Auto Loader under the hood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2920" y="2871216"/>
            <a:ext cx="5852160" cy="420624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2871216"/>
            <a:ext cx="585216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LOADER  ·  COPY INTO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4360" y="3291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file ingestion you configure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3621024"/>
            <a:ext cx="5852160" cy="420624"/>
          </a:xfrm>
          <a:prstGeom prst="rect">
            <a:avLst/>
          </a:prstGeom>
          <a:solidFill>
            <a:srgbClr val="566B80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21024"/>
            <a:ext cx="585216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STREAMING  ·  JDBC / REST IN NOTEBOOKS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94360" y="40416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control, maximum maintenance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675120" y="1417320"/>
            <a:ext cx="1920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MANAGED
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code, least control
</a:t>
            </a:r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CUSTOM
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code, most control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12280" y="2057400"/>
            <a:ext cx="0" cy="1463040"/>
          </a:xfrm>
          <a:prstGeom prst="line">
            <a:avLst/>
          </a:prstGeom>
          <a:noFill/>
          <a:ln w="25400">
            <a:solidFill>
              <a:srgbClr val="E31E24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2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— incremental loading in pure SQL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288036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copy_into.sql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INTO sales_bronze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(SELECT *, current_timestamp() AS _ingested_at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FROM '/Volumes/ws/lab/landing/incoming/')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FILEFORMAT = CSV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FORMAT_OPTIONS ('header' = 'true')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COPY_OPTIONS  ('mergeSchema' = 'true');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run it again right now: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num_inserted_rows = 0   ← idempotent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files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already-loaded files are skipped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0" y="236829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267712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Retriable + idempotent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words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32095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3108960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spot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files, SQL-first, scheduled batch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" y="4370832"/>
            <a:ext cx="54864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4088" y="4425696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DAY-BY-DAY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1: loads 2 files → Day 2 rerun: 0 rows → new file lands → rerun: loads ONLY the new file.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2 · HEAVYWEIGHT TOPIC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Loader — cloudFiles, four essentials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38328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auto_loader.py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(spark.readStream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.format('cloudFiles')              # ① Auto Loader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.option('cloudFiles.format','csv')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.option('cloudFiles.schemaLocation',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chk)                       # ② schema memory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.load(src)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.writeStream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.option('checkpointLocation', chk) # ③ exactly-once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.trigger(availableNow=True)        # ④ batch cadence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.toTable('ws.lab.sales_bronze_al'))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Millions of files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 listing or file notification discovery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33172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231136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evolution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addNewColumns: fail → restart picks it up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13639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3035808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_rescued_data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mismatches kept, not dropped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94106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80176" y="3840480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availableNow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tech, batch schedule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EXAM'S FAVORITE FORK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vs. Auto Loader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063240"/>
                <a:gridCol w="3703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 INTO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Loader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Language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statement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PySpark Structured Streaming (cloudFiles)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Thousands of 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Millions of 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Discovery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Lists source path per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Directory listing or file notification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Schema drift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mergeSchema option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Inference + evolution + _rescued_data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Scheduled batch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or availableNow batch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 keywords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“SQL command” · “rerun-safe”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“millions of files” · “evolving schema” · “low latency”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224528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224528"/>
            <a:ext cx="54864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279392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TIEBREAK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Modest volume + SQL-only team → COPY INTO. Anything with scale, drift, or streaming words → Auto Loader.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2 · CONCEPT (PAID FEATURE)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Connect, partners, and DIY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connectors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Salesforce, SQL Server, enterprise SaaS — fully managed into UC tables. “Zero engineering” is the trigger phrase.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86300" y="1325880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86300" y="1325880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486918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6918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connectors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69180" y="2093976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connectors for files and queues that you configure and operate.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2852928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2920" y="2852928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296265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" y="327355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connectors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5800" y="3621024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Fivetran &amp; friends — when the org already standardized on a partner stack.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86300" y="2852928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86300" y="2852928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4869180" y="296265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869180" y="327355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 / REST in notebooks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9180" y="3621024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APIs and auth — your code, landed in volumes/tables, scheduled with Lakeflow Jobs.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411480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8" name="Shape 25"/>
          <p:cNvSpPr/>
          <p:nvPr/>
        </p:nvSpPr>
        <p:spPr>
          <a:xfrm>
            <a:off x="502920" y="411480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" y="41696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CONCEPT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connectors require enterprise sources + paid infrastructure — concept-only in Free Edition, fully testable on the exam.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 2 &amp;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Semi-structured data: store nested, query nested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0175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nested_json.sql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customer_id,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contact.city AS city,      -- dot into STRUCT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explode(favorite_categories)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AS fav_category          -- ARRAY -&gt; rows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read_files(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'/Volumes/.../customers.json',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format =&gt; 'json');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-- 1 customer x 3 categories = 3 rows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contact.city — dot path on parsed data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0" y="23957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295144"/>
            <a:ext cx="2660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explode() = one row per element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32644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3163824"/>
            <a:ext cx="2660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 does NOT flatten structs — arrays only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BRONZE/SILVER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by default, evolve on purpose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77640" cy="265176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1453896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— THE OPEN DOOR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31520" y="18470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950976" y="174650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evolution ON (mergeSchema / addNewColumns)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24140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950976" y="231343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_rescued_data as the safety net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950976" y="288036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strings + audit columns — type later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63440" y="1325880"/>
            <a:ext cx="3977640" cy="265176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4864608" y="1453896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— THE BOUNCER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892040" y="18470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8" name="Text 15"/>
          <p:cNvSpPr/>
          <p:nvPr/>
        </p:nvSpPr>
        <p:spPr>
          <a:xfrm>
            <a:off x="5111496" y="174650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Enforcement: mismatched writes are REJECTED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92040" y="24140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5111496" y="231343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NULL + CHECK constraints as contracts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9204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2" name="Text 19"/>
          <p:cNvSpPr/>
          <p:nvPr/>
        </p:nvSpPr>
        <p:spPr>
          <a:xfrm>
            <a:off x="5111496" y="288036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Typed, deduplicated, validated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6052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416052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5" name="Text 22"/>
          <p:cNvSpPr/>
          <p:nvPr/>
        </p:nvSpPr>
        <p:spPr>
          <a:xfrm>
            <a:off x="704088" y="4215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ANSWER SHAPE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“Where do you absorb schema drift?” Bronze. “Where do you enforce?” Silver and gold. One sentence, many questions.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→ silver: the same moves, two dialects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069080" cy="320040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0690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368503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SQL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OR REPLACE TABLE sales_silver AS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DISTINCT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CAST(order_date AS DATE) AS order_date,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CAST(quantity   AS INT)  AS quantity,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ROUND(quantity*unit_price,2) AS line_total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sales_bronze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order_id IS NOT NULL;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325880"/>
            <a:ext cx="3886200" cy="320040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13" name="Shape 10"/>
          <p:cNvSpPr/>
          <p:nvPr/>
        </p:nvSpPr>
        <p:spPr>
          <a:xfrm>
            <a:off x="4754880" y="1325880"/>
            <a:ext cx="388620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4" name="Shape 11"/>
          <p:cNvSpPr/>
          <p:nvPr/>
        </p:nvSpPr>
        <p:spPr>
          <a:xfrm>
            <a:off x="488289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065776" y="134416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silver.py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956048" y="1691640"/>
            <a:ext cx="350215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PySpark — same pipeline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(spark.table('sales_bronze')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.where(col('order_id').isNotNull())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.withColumn('order_date',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to_date('order_date'))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.withColumn('quantity',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col('quantity').cast('int'))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.dropDuplicates(['order_id']))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4590288"/>
            <a:ext cx="8138160" cy="38404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8" name="Shape 15"/>
          <p:cNvSpPr/>
          <p:nvPr/>
        </p:nvSpPr>
        <p:spPr>
          <a:xfrm>
            <a:off x="502920" y="4590288"/>
            <a:ext cx="54864" cy="3840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704088" y="46451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FLUENCY RULE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code is SQL when possible, Python otherwise — read withColumn, na.drop, where as fast as you read SELECT.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VERBATIM LIST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Joins, broadcast, and the UNION trap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11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356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35024"/>
            <a:ext cx="4535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 · left · cross · multi-key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a.k1 = b.k1 AND a.k2 = b.k2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24028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139696"/>
            <a:ext cx="4535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join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table copied to every executor — no big-side shuffle (auto under ~10MB threshold, or hint)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" y="304495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944368"/>
            <a:ext cx="4535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Anti-join idiom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JOIN ... WHERE right.key IS NULL → find non-matches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532120" y="1298448"/>
            <a:ext cx="3108960" cy="306324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4" name="Text 11"/>
          <p:cNvSpPr/>
          <p:nvPr/>
        </p:nvSpPr>
        <p:spPr>
          <a:xfrm>
            <a:off x="5733288" y="1426464"/>
            <a:ext cx="2706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UNION BEHAVIOR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691640"/>
          <a:ext cx="2743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Dedupes?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(SQL)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ALL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df.union()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by position!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unionByName()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by name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4023360"/>
            <a:ext cx="4754880" cy="713232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7" name="Shape 13"/>
          <p:cNvSpPr/>
          <p:nvPr/>
        </p:nvSpPr>
        <p:spPr>
          <a:xfrm>
            <a:off x="502920" y="4023360"/>
            <a:ext cx="54864" cy="713232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8" name="Text 14"/>
          <p:cNvSpPr/>
          <p:nvPr/>
        </p:nvSpPr>
        <p:spPr>
          <a:xfrm>
            <a:off x="704088" y="4078224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“UNION is just faster UNION ALL” — backwards. UNION pays a dedup cost; UNION ALL is the cheap one.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OFFICIAL SAMPLE Q1 TERRITORY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Deduplication and aggregation, exam-style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10896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dedup_agg.sql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keep the LATEST row per key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(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*, ROW_NUMBER() OVER (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PARTITION BY customer_id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BY updated_at DESC) AS rn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updates) WHERE rn = 1;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fast approximate cardinality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approx_count_distinct(user_id)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  billions_of_rows;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rows — either survives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27685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176272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ROW_NUMBER = 1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choose the survivor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2666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2926080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dropDuplicates(['k'])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arbitrary row per key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77647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80176" y="3675888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approx_count_distinct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for a small bounded error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CORE DML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INTO — the idempotent upsert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10896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INTO sales_silver AS 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corrections AS 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t.order_id = s.order_id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MATCHED     THEN UPDATE SET *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NOT MATCHED THEN INSERT *;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rerun it: converges to the same state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(matched rows rewrite identical values)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transaction, one version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27685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176272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corrections, CDC apply, upserts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2666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2926080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INSERT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append-only, duplicates on rerun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77647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80176" y="3675888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source keys → error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DATA QUALITY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data-quality escalation ladder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66928" y="1874520"/>
            <a:ext cx="1691640" cy="868680"/>
          </a:xfrm>
          <a:prstGeom prst="rect">
            <a:avLst/>
          </a:prstGeom>
          <a:solidFill>
            <a:srgbClr val="6E8092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74520"/>
            <a:ext cx="16916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</a:t>
            </a:r>
            <a:endParaRPr lang="en-US" sz="11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9768" y="27980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cheap, manual,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240280" y="213512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670048" y="1874520"/>
            <a:ext cx="1691640" cy="86868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12" name="Text 9"/>
          <p:cNvSpPr/>
          <p:nvPr/>
        </p:nvSpPr>
        <p:spPr>
          <a:xfrm>
            <a:off x="2670048" y="1874520"/>
            <a:ext cx="16916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32888" y="27980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NULL · CHECK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violating write FAILS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343400" y="213512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73168" y="1874520"/>
            <a:ext cx="1691640" cy="8686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4773168" y="1874520"/>
            <a:ext cx="16916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36008" y="27980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rows split out,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keeps flowing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446520" y="213512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876288" y="1874520"/>
            <a:ext cx="1691640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6876288" y="1874520"/>
            <a:ext cx="16916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LDP</a:t>
            </a:r>
            <a:endParaRPr lang="en-US" sz="11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39128" y="27980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declarative: warn /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/ fail + metrics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3" name="Shape 20"/>
          <p:cNvSpPr/>
          <p:nvPr/>
        </p:nvSpPr>
        <p:spPr>
          <a:xfrm>
            <a:off x="502920" y="370332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704088" y="375818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DISTRACTOR PAIR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CHECK constraint drops the bad rows.” FALSE — it rejects the whole transaction. Expectations with a DROP policy (Lakeflow Spark Declarative Pipelines) are the thing that drops rows. Exam concept: LDP hands-on depth comes via pipelines, syntax shown in Week 3.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READINESS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→ tool: how today gets tested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566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the stem says…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answer is usually…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“millions of files” · “evolving schema” · “near-real-time”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Loader (file notification at extreme scale)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“SQL command” · “nightly batch” · “rerun must be safe”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 INTO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“Salesforce / SQL Server” · “minimal engineering”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Lakeflow Connect managed connector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“custom REST API” · “special auth”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Notebook client + Lakeflow Jobs schedule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“corrected records arrived” · “apply changes”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 INTO (it's DML, not ingestion!)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“keep most recent per key”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ROW_NUMBER() OVER (PARTITION BY … ORDER BY … DESC) =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224528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224528"/>
            <a:ext cx="54864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279392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CAMEO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four tuning parameter names (shuffle.partitions, parallelism, executor/driver memory, autoBroadcastJoinThreshold) — full story Week 4.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10896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COMPLETE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pipeline is now rerunnable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93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+ Auto Loader: incremental, file-tracked, exactly-once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395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absorbs drift; silver enforces contracts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29626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applies corrections idempotently — run it twice, same state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5295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Quality: constraints reject, quarantine preserves, expectations declare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60604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774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 +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—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it,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it,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— Ingestion &amp; Transformations</dc:title>
  <dc:subject>PptxGenJS Presentation</dc:subject>
  <dc:creator>Creo Academy</dc:creator>
  <cp:lastModifiedBy>Creo Academy</cp:lastModifiedBy>
  <cp:revision>1</cp:revision>
  <dcterms:created xsi:type="dcterms:W3CDTF">2026-06-12T14:46:30Z</dcterms:created>
  <dcterms:modified xsi:type="dcterms:W3CDTF">2026-06-12T14:46:30Z</dcterms:modified>
</cp:coreProperties>
</file>