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3" r:id="rId6"/>
    <p:sldId id="260" r:id="rId7"/>
    <p:sldId id="272" r:id="rId8"/>
    <p:sldId id="261" r:id="rId9"/>
    <p:sldId id="262" r:id="rId10"/>
    <p:sldId id="263" r:id="rId11"/>
    <p:sldId id="264" r:id="rId12"/>
    <p:sldId id="265" r:id="rId13"/>
    <p:sldId id="266" r:id="rId14"/>
    <p:sldId id="267" r:id="rId15"/>
    <p:sldId id="268" r:id="rId16"/>
    <p:sldId id="269" r:id="rId17"/>
    <p:sldId id="274" r:id="rId18"/>
    <p:sldId id="270" r:id="rId19"/>
    <p:sldId id="271"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979"/>
    <p:restoredTop sz="76949"/>
  </p:normalViewPr>
  <p:slideViewPr>
    <p:cSldViewPr snapToGrid="0" snapToObjects="1">
      <p:cViewPr varScale="1">
        <p:scale>
          <a:sx n="149" d="100"/>
          <a:sy n="149" d="100"/>
        </p:scale>
        <p:origin x="176" y="312"/>
      </p:cViewPr>
      <p:guideLst/>
    </p:cSldViewPr>
  </p:slideViewPr>
  <p:notesTextViewPr>
    <p:cViewPr>
      <p:scale>
        <a:sx n="1" d="1"/>
        <a:sy n="1" d="1"/>
      </p:scale>
      <p:origin x="0" y="-104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6817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Set the contract: this is a certification bridge for working data engineers, not a beginner course. Audience includes Creo client guests — keep Azure translations friendly but Databricks-first. Exam: May 4, 2026 guide, 45 questions, 90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learners off stale prep material: the exam changed May 4, 2026 — 7 domains now, including a brand-new CI/CD domain. Code is SQL when possible, Python otherwise. Pace math: 2 minutes per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where each exam domain lives in the course. Today seeds three domains. Weights are estimates aligned to the official objective counts.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max — this buys trust, not exam points. Key warning: answering exam questions with Azure mental models is this audience's #1 source of wrong answers. Fabric users already know Delta — their instincts transfer well.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EE59C-EA5A-7B0F-ADD5-8333014CA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41E12-18DE-E726-2519-D244CCB152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45811-1DC7-9E14-555F-1CEA64221D91}"/>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One level up, this is how Databricks markets the Data Intelligence Platform: Databricks AI, Delta Live Tables, Workflows, and Databricks SQL sit on a Data Intelligence Engine, all governed by Unity Catalog and backed by Delta Lake on an open data lake.</a:t>
            </a:r>
            <a:endParaRPr lang="en-US" dirty="0"/>
          </a:p>
        </p:txBody>
      </p:sp>
      <p:sp>
        <p:nvSpPr>
          <p:cNvPr id="4" name="Slide Number Placeholder 3">
            <a:extLst>
              <a:ext uri="{FF2B5EF4-FFF2-40B4-BE49-F238E27FC236}">
                <a16:creationId xmlns:a16="http://schemas.microsoft.com/office/drawing/2014/main" id="{50FF5C22-F73D-E7F0-7EA1-F98DB8CEF25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24541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Let’s peel this picture apart into layers so we can name exactly what each part of the </a:t>
            </a:r>
            <a:r>
              <a:rPr lang="en-US" sz="1200" b="0" i="0" u="none" strike="noStrike" kern="1200" dirty="0" err="1">
                <a:solidFill>
                  <a:schemeClr val="tx1"/>
                </a:solidFill>
                <a:effectLst/>
                <a:latin typeface="+mn-lt"/>
                <a:ea typeface="+mn-ea"/>
                <a:cs typeface="+mn-cs"/>
              </a:rPr>
              <a:t>lakehouse</a:t>
            </a:r>
            <a:r>
              <a:rPr lang="en-US" sz="1200" b="0" i="0" u="none" strike="noStrike" kern="1200" dirty="0">
                <a:solidFill>
                  <a:schemeClr val="tx1"/>
                </a:solidFill>
                <a:effectLst/>
                <a:latin typeface="+mn-lt"/>
                <a:ea typeface="+mn-ea"/>
                <a:cs typeface="+mn-cs"/>
              </a:rPr>
              <a:t> does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In layer form, we’ve got one copy of data in open Parquet plus Delta in your cloud account, Unity Catalog for unified governance, every workload hitting the same tables, and open formats so other engines can read your data</a:t>
            </a:r>
          </a:p>
          <a:p>
            <a:endParaRPr lang="en-US" sz="1200" b="0" i="0" u="none" strike="noStrike" kern="1200" dirty="0">
              <a:solidFill>
                <a:schemeClr val="tx1"/>
              </a:solidFill>
              <a:effectLst/>
              <a:latin typeface="+mn-lt"/>
              <a:ea typeface="+mn-ea"/>
              <a:cs typeface="+mn-cs"/>
            </a:endParaRPr>
          </a:p>
          <a:p>
            <a:endParaRPr lang="en-US" dirty="0"/>
          </a:p>
          <a:p>
            <a:r>
              <a:rPr lang="en-US" dirty="0"/>
              <a:t>Domain 1 core. Why the lakehouse exists: warehouses gave ACID + performance but closed formats and copies; lakes gave cheap open storage but no reliability. Delta on object storage closes the gap. 'Data Intelligence Platform' = this stack plus the AI layer. Keep returning to this diagram all course.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DC757-0F5A-88F9-87A8-0402E727F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2EFFB3-4537-D38B-9873-9958C2968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9AB16-BD35-8D0E-323F-41D0FB70C3AE}"/>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Now I’ll show a more detailed stack view that adds the concrete compute pieces Databricks gives us on top of these layers.</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This stack diagram maps those layers to actual components: cloud object storage at the bottom; Delta Lake tables with a transaction log; Unity Catalog as governance; and above that, the compute layer—SQL warehouses, serverless notebooks/jobs, and clusters—running ETL, SQL/BI, ML, and streaming workloads against the same data.</a:t>
            </a:r>
            <a:endParaRPr lang="en-US" dirty="0"/>
          </a:p>
        </p:txBody>
      </p:sp>
      <p:sp>
        <p:nvSpPr>
          <p:cNvPr id="4" name="Slide Number Placeholder 3">
            <a:extLst>
              <a:ext uri="{FF2B5EF4-FFF2-40B4-BE49-F238E27FC236}">
                <a16:creationId xmlns:a16="http://schemas.microsoft.com/office/drawing/2014/main" id="{22DC7A42-A914-1D0D-2823-3EC5BF55579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4961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Given all these compute options, the natural question is: which one should you pick for a given job, especially on the exam?</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Finally, here’s how to choose compute: serverless SQL warehouses for BI and SQL dashboards; serverless notebook/job compute for Python and SQL without managing clusters; all‑purpose clusters for interactive, shared development; and job clusters as the cost‑efficient production default.</a:t>
            </a:r>
          </a:p>
          <a:p>
            <a:endParaRPr lang="en-US" sz="1200" b="0" i="0" u="none" strike="noStrike" kern="1200" dirty="0">
              <a:solidFill>
                <a:schemeClr val="tx1"/>
              </a:solidFill>
              <a:effectLst/>
              <a:latin typeface="+mn-lt"/>
              <a:ea typeface="+mn-ea"/>
              <a:cs typeface="+mn-cs"/>
            </a:endParaRPr>
          </a:p>
          <a:p>
            <a:endParaRPr lang="en-US" dirty="0"/>
          </a:p>
          <a:p>
            <a:r>
              <a:rPr lang="en-US" dirty="0"/>
              <a:t>The exam loves 'which compute should they use?' Decision logic: workload type, interactivity, cost. Free Edition is serverless-only (one 2X-Small SQL warehouse) — cluster configuration is exam-concept only here. Serverless's exam keyword: hands-off, auto-optimized.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Parquet data files + _delta_log transaction log. The ordered log records every add/remove — that's what gives ACID, consistent reads, and versions. Delta is the DEFAULT format: CREATE TABLE with no USING clause makes a Delta table. Open source, not proprietary.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log records every version: query the past, audit changes, roll back mistakes. Schema enforcement = warehouse-grade safety (bad writes fail). VACUUM bounds how far back you can travel — one sentence now, depth in Week 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reused mental model of the course: metastore → catalog → schema → securables, addressed catalog.schema.object. In Free Edition labs everything lives in workspace.&lt;your_schema&gt;; samples is read-only shared data. Privileges inherit DOWN the tree — Week 4 builds on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 gotcha for warehouse people. Drill DROP behavior both directions orally. Why managed is recommended: Databricks owns layout → automatic optimization. Free Edition has no external locations — external tables are exam-concept only here. Conversion exists (Week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Volumes killed the 'random files in DBFS' anti-pattern. Tables govern tabular data; volumes govern everything else, same catalog.schema.volume addressing. Say the path out loud: slash-Volumes-catalog-schema-volume. Labs stage every file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five official sample questions test exactly this. Drill the CTAS rule: schema comes FROM the query — no column-type list allowed; CAST in the SELECT. OR REPLACE is atomic and keeps history. IF NOT EXISTS does NOTHING if the table exists.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twist: choosing among all four for a gold-layer scenario. Heuristics — expensive dashboard aggregation hit often: MV. Always-current logic wrapper: view. Session scratch: temp view. Incremental append ingestion: streaming table. MVs can serve STALE data between refreshes.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refinement with replayability: if silver logic was wrong, rebuild from bronze without re-extracting. Bronze's value IS its rawness — pre-cleaning bronze destroys the replay story. This is the course spine; Week 2 builds it for real.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DDDA-06EC-4586-69DA-447EB9E37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C9229-D9E9-EC79-94FF-07AAB8387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07FD5-4C93-C998-17FC-2000C2484115}"/>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Daily sales and returns land in one governed Unity Catalog volume, but in separate directories. This isolates feeds with different schemas, arrival schedules, and ingestion state.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Each feed then receives its own bronze table. We keep sales and returns separate because they represent different business events and data contracts. Bronze preserves the source shape and adds ingestion audit metadata.</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In silver, sales records are typed, deduplicated, and constrained. Returns require an additional quality decision: does the referenced order exist?</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Valid returns enter </a:t>
            </a:r>
            <a:r>
              <a:rPr lang="en-US" sz="1200" b="0" i="0" u="none" strike="noStrike" kern="1200" dirty="0" err="1">
                <a:solidFill>
                  <a:schemeClr val="tx1"/>
                </a:solidFill>
                <a:effectLst/>
                <a:latin typeface="+mn-lt"/>
                <a:ea typeface="+mn-ea"/>
                <a:cs typeface="+mn-cs"/>
              </a:rPr>
              <a:t>returns_silver</a:t>
            </a:r>
            <a:r>
              <a:rPr lang="en-US" sz="1200" b="0" i="0" u="none" strike="noStrike" kern="1200" dirty="0">
                <a:solidFill>
                  <a:schemeClr val="tx1"/>
                </a:solidFill>
                <a:effectLst/>
                <a:latin typeface="+mn-lt"/>
                <a:ea typeface="+mn-ea"/>
                <a:cs typeface="+mn-cs"/>
              </a:rPr>
              <a:t>. Unmatched returns enter </a:t>
            </a:r>
            <a:r>
              <a:rPr lang="en-US" sz="1200" b="0" i="0" u="none" strike="noStrike" kern="1200" dirty="0" err="1">
                <a:solidFill>
                  <a:schemeClr val="tx1"/>
                </a:solidFill>
                <a:effectLst/>
                <a:latin typeface="+mn-lt"/>
                <a:ea typeface="+mn-ea"/>
                <a:cs typeface="+mn-cs"/>
              </a:rPr>
              <a:t>returns_quarantine</a:t>
            </a:r>
            <a:r>
              <a:rPr lang="en-US" sz="1200" b="0" i="0" u="none" strike="noStrike" kern="1200" dirty="0">
                <a:solidFill>
                  <a:schemeClr val="tx1"/>
                </a:solidFill>
                <a:effectLst/>
                <a:latin typeface="+mn-lt"/>
                <a:ea typeface="+mn-ea"/>
                <a:cs typeface="+mn-cs"/>
              </a:rPr>
              <a:t>. Quarantine does not mean deletion or pipeline failure. It keeps questionable records visible so they can be investigated and reprocessed later.</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Gold is shaped around business use cases. Trusted sales support </a:t>
            </a:r>
            <a:r>
              <a:rPr lang="en-US" sz="1200" b="0" i="0" u="none" strike="noStrike" kern="1200" dirty="0" err="1">
                <a:solidFill>
                  <a:schemeClr val="tx1"/>
                </a:solidFill>
                <a:effectLst/>
                <a:latin typeface="+mn-lt"/>
                <a:ea typeface="+mn-ea"/>
                <a:cs typeface="+mn-cs"/>
              </a:rPr>
              <a:t>sales_by_store</a:t>
            </a:r>
            <a:r>
              <a:rPr lang="en-US" sz="1200" b="0" i="0" u="none" strike="noStrike" kern="1200" dirty="0">
                <a:solidFill>
                  <a:schemeClr val="tx1"/>
                </a:solidFill>
                <a:effectLst/>
                <a:latin typeface="+mn-lt"/>
                <a:ea typeface="+mn-ea"/>
                <a:cs typeface="+mn-cs"/>
              </a:rPr>
              <a:t> and </a:t>
            </a:r>
            <a:r>
              <a:rPr lang="en-US" sz="1200" b="0" i="0" u="none" strike="noStrike" kern="1200" dirty="0" err="1">
                <a:solidFill>
                  <a:schemeClr val="tx1"/>
                </a:solidFill>
                <a:effectLst/>
                <a:latin typeface="+mn-lt"/>
                <a:ea typeface="+mn-ea"/>
                <a:cs typeface="+mn-cs"/>
              </a:rPr>
              <a:t>sales_gold_daily</a:t>
            </a:r>
            <a:r>
              <a:rPr lang="en-US" sz="1200" b="0" i="0" u="none" strike="noStrike" kern="1200" dirty="0">
                <a:solidFill>
                  <a:schemeClr val="tx1"/>
                </a:solidFill>
                <a:effectLst/>
                <a:latin typeface="+mn-lt"/>
                <a:ea typeface="+mn-ea"/>
                <a:cs typeface="+mn-cs"/>
              </a:rPr>
              <a:t>. Calculating </a:t>
            </a:r>
            <a:r>
              <a:rPr lang="en-US" sz="1200" b="0" i="0" u="none" strike="noStrike" kern="1200" dirty="0" err="1">
                <a:solidFill>
                  <a:schemeClr val="tx1"/>
                </a:solidFill>
                <a:effectLst/>
                <a:latin typeface="+mn-lt"/>
                <a:ea typeface="+mn-ea"/>
                <a:cs typeface="+mn-cs"/>
              </a:rPr>
              <a:t>net_revenue_daily</a:t>
            </a:r>
            <a:r>
              <a:rPr lang="en-US" sz="1200" b="0" i="0" u="none" strike="noStrike" kern="1200" dirty="0">
                <a:solidFill>
                  <a:schemeClr val="tx1"/>
                </a:solidFill>
                <a:effectLst/>
                <a:latin typeface="+mn-lt"/>
                <a:ea typeface="+mn-ea"/>
                <a:cs typeface="+mn-cs"/>
              </a:rPr>
              <a:t> requires both trusted sales and trusted returns because the return feed identifies what was returned, while the sales data supplies the original store, date, and price.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CLUSTER BY (store, </a:t>
            </a:r>
            <a:r>
              <a:rPr lang="en-US" sz="1200" b="0" i="0" u="none" strike="noStrike" kern="1200" dirty="0" err="1">
                <a:solidFill>
                  <a:schemeClr val="tx1"/>
                </a:solidFill>
                <a:effectLst/>
                <a:latin typeface="+mn-lt"/>
                <a:ea typeface="+mn-ea"/>
                <a:cs typeface="+mn-cs"/>
              </a:rPr>
              <a:t>order_date</a:t>
            </a:r>
            <a:r>
              <a:rPr lang="en-US" sz="1200" b="0" i="0" u="none" strike="noStrike" kern="1200" dirty="0">
                <a:solidFill>
                  <a:schemeClr val="tx1"/>
                </a:solidFill>
                <a:effectLst/>
                <a:latin typeface="+mn-lt"/>
                <a:ea typeface="+mn-ea"/>
                <a:cs typeface="+mn-cs"/>
              </a:rPr>
              <a:t>) describes how the net-revenue table is organized for common store-and-date queries. It is a physical optimization choice, not another medallion layer.</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These gold outputs serve BI and SQL analytics, while quarantined records follow a separate operational review path.</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Key takeaway: Bronze preserves evidence, silver establishes trust, gold answers business questions, and quarantine keeps rejected data accountable.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Transition: “Now that we have seen the complete scenario, we will begin building its central path incrementally across the course.”</a:t>
            </a:r>
          </a:p>
          <a:p>
            <a:endParaRPr lang="en-US" dirty="0"/>
          </a:p>
        </p:txBody>
      </p:sp>
      <p:sp>
        <p:nvSpPr>
          <p:cNvPr id="4" name="Slide Number Placeholder 3">
            <a:extLst>
              <a:ext uri="{FF2B5EF4-FFF2-40B4-BE49-F238E27FC236}">
                <a16:creationId xmlns:a16="http://schemas.microsoft.com/office/drawing/2014/main" id="{4FBDEA15-A7C4-8E0C-A7BC-AB598749B3C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1145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official sample Q4 (CREATE OR REPLACE) with elimination: invented syntax dies first (WITH COLUMNS), then constraint-violators (IF NOT EXISTS fails 'regardless of whether it exists'). Homework: docs reading + recreate the demo from memory. Keep all lab objects — Week 2 builds on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anchors. Assign homework explicitly. Next week starts from their lab schema — nothing gets deleted.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a:effectLst/>
      </p:bgPr>
    </p:bg>
    <p:spTree>
      <p:nvGrpSpPr>
        <p:cNvPr id="1" name=""/>
        <p:cNvGrpSpPr/>
        <p:nvPr/>
      </p:nvGrpSpPr>
      <p:grpSpPr>
        <a:xfrm>
          <a:off x="0" y="0"/>
          <a:ext cx="0" cy="0"/>
          <a:chOff x="0" y="0"/>
          <a:chExt cx="0" cy="0"/>
        </a:xfrm>
      </p:grpSpPr>
      <p:sp>
        <p:nvSpPr>
          <p:cNvPr id="2" name="Shape 0"/>
          <p:cNvSpPr/>
          <p:nvPr/>
        </p:nvSpPr>
        <p:spPr>
          <a:xfrm>
            <a:off x="3118104" y="91440"/>
            <a:ext cx="2377440" cy="2377440"/>
          </a:xfrm>
          <a:prstGeom prst="ellipse">
            <a:avLst/>
          </a:prstGeom>
          <a:ln w="12700">
            <a:solidFill>
              <a:srgbClr val="46637F"/>
            </a:solidFill>
            <a:prstDash val="solid"/>
          </a:ln>
        </p:spPr>
        <p:txBody>
          <a:bodyPr/>
          <a:lstStyle/>
          <a:p>
            <a:endParaRPr lang="en-US"/>
          </a:p>
        </p:txBody>
      </p:sp>
      <p:sp>
        <p:nvSpPr>
          <p:cNvPr id="3" name="Shape 1"/>
          <p:cNvSpPr/>
          <p:nvPr/>
        </p:nvSpPr>
        <p:spPr>
          <a:xfrm>
            <a:off x="3968496" y="3657600"/>
            <a:ext cx="1554480" cy="1554480"/>
          </a:xfrm>
          <a:prstGeom prst="ellipse">
            <a:avLst/>
          </a:prstGeom>
          <a:ln w="12700">
            <a:solidFill>
              <a:srgbClr val="46637F"/>
            </a:solidFill>
            <a:prstDash val="solid"/>
          </a:ln>
        </p:spPr>
        <p:txBody>
          <a:bodyPr/>
          <a:lstStyle/>
          <a:p>
            <a:endParaRPr lang="en-US"/>
          </a:p>
        </p:txBody>
      </p:sp>
      <p:sp>
        <p:nvSpPr>
          <p:cNvPr id="4" name="Shape 2"/>
          <p:cNvSpPr/>
          <p:nvPr/>
        </p:nvSpPr>
        <p:spPr>
          <a:xfrm>
            <a:off x="453542" y="4114800"/>
            <a:ext cx="502920" cy="502920"/>
          </a:xfrm>
          <a:prstGeom prst="ellipse">
            <a:avLst/>
          </a:prstGeom>
          <a:solidFill>
            <a:srgbClr val="E31E24"/>
          </a:solidFill>
          <a:ln/>
        </p:spPr>
        <p:txBody>
          <a:bodyPr/>
          <a:lstStyle/>
          <a:p>
            <a:endParaRPr lang="en-US"/>
          </a:p>
        </p:txBody>
      </p:sp>
      <p:sp>
        <p:nvSpPr>
          <p:cNvPr id="5" name="Shape 3"/>
          <p:cNvSpPr/>
          <p:nvPr/>
        </p:nvSpPr>
        <p:spPr>
          <a:xfrm>
            <a:off x="502920" y="1243584"/>
            <a:ext cx="1280160" cy="54864"/>
          </a:xfrm>
          <a:prstGeom prst="rect">
            <a:avLst/>
          </a:prstGeom>
          <a:solidFill>
            <a:srgbClr val="E31E24"/>
          </a:solidFill>
          <a:ln/>
        </p:spPr>
        <p:txBody>
          <a:bodyPr/>
          <a:lstStyle/>
          <a:p>
            <a:endParaRPr lang="en-US"/>
          </a:p>
        </p:txBody>
      </p:sp>
      <p:sp>
        <p:nvSpPr>
          <p:cNvPr id="6" name="Text 4"/>
          <p:cNvSpPr/>
          <p:nvPr/>
        </p:nvSpPr>
        <p:spPr>
          <a:xfrm>
            <a:off x="502920" y="384048"/>
            <a:ext cx="3200400" cy="274320"/>
          </a:xfrm>
          <a:prstGeom prst="rect">
            <a:avLst/>
          </a:prstGeom>
          <a:noFill/>
          <a:ln/>
        </p:spPr>
        <p:txBody>
          <a:bodyPr wrap="square" lIns="0" tIns="0" rIns="0" bIns="0" rtlCol="0" anchor="ctr"/>
          <a:lstStyle/>
          <a:p>
            <a:pPr marL="0" indent="0">
              <a:buNone/>
            </a:pPr>
            <a:r>
              <a:rPr lang="en-US" sz="1200" b="1" kern="0" spc="300" dirty="0">
                <a:solidFill>
                  <a:srgbClr val="E31E24"/>
                </a:solidFill>
                <a:latin typeface="Arial" pitchFamily="34" charset="0"/>
                <a:ea typeface="Arial" pitchFamily="34" charset="-122"/>
                <a:cs typeface="Arial" pitchFamily="34" charset="-120"/>
              </a:rPr>
              <a:t>CREO TECHNOLOGIES</a:t>
            </a:r>
            <a:endParaRPr lang="en-US" sz="1200" dirty="0"/>
          </a:p>
        </p:txBody>
      </p:sp>
      <p:sp>
        <p:nvSpPr>
          <p:cNvPr id="7" name="Text 5"/>
          <p:cNvSpPr/>
          <p:nvPr/>
        </p:nvSpPr>
        <p:spPr>
          <a:xfrm>
            <a:off x="502920" y="640080"/>
            <a:ext cx="5029200" cy="274320"/>
          </a:xfrm>
          <a:prstGeom prst="rect">
            <a:avLst/>
          </a:prstGeom>
          <a:noFill/>
          <a:ln/>
        </p:spPr>
        <p:txBody>
          <a:bodyPr wrap="square" lIns="0" tIns="0" rIns="0" bIns="0" rtlCol="0" anchor="ctr"/>
          <a:lstStyle/>
          <a:p>
            <a:pPr marL="0" indent="0">
              <a:buNone/>
            </a:pPr>
            <a:r>
              <a:rPr lang="en-US" sz="900" kern="0" spc="200" dirty="0">
                <a:solidFill>
                  <a:srgbClr val="AAB7C4"/>
                </a:solidFill>
                <a:latin typeface="Arial" pitchFamily="34" charset="0"/>
                <a:ea typeface="Arial" pitchFamily="34" charset="-122"/>
                <a:cs typeface="Arial" pitchFamily="34" charset="-120"/>
              </a:rPr>
              <a:t>INSTRUCTOR-LED CERTIFICATION SERIES</a:t>
            </a:r>
            <a:endParaRPr lang="en-US" sz="900" dirty="0"/>
          </a:p>
        </p:txBody>
      </p:sp>
      <p:sp>
        <p:nvSpPr>
          <p:cNvPr id="8" name="Text 6"/>
          <p:cNvSpPr/>
          <p:nvPr/>
        </p:nvSpPr>
        <p:spPr>
          <a:xfrm>
            <a:off x="502920" y="1417320"/>
            <a:ext cx="5120640" cy="1371600"/>
          </a:xfrm>
          <a:prstGeom prst="rect">
            <a:avLst/>
          </a:prstGeom>
          <a:noFill/>
          <a:ln/>
        </p:spPr>
        <p:txBody>
          <a:bodyPr wrap="square" lIns="0" tIns="0" rIns="0" bIns="0" rtlCol="0" anchor="ctr"/>
          <a:lstStyle/>
          <a:p>
            <a:pPr marL="0" indent="0">
              <a:lnSpc>
                <a:spcPts val="3600"/>
              </a:lnSpc>
              <a:buNone/>
            </a:pPr>
            <a:r>
              <a:rPr lang="en-US" sz="3000" b="1" dirty="0">
                <a:solidFill>
                  <a:srgbClr val="FFFFFF"/>
                </a:solidFill>
                <a:latin typeface="Arial" pitchFamily="34" charset="0"/>
                <a:ea typeface="Arial" pitchFamily="34" charset="-122"/>
                <a:cs typeface="Arial" pitchFamily="34" charset="-120"/>
              </a:rPr>
              <a:t>Databricks Certified</a:t>
            </a:r>
            <a:endParaRPr lang="en-US" sz="3000" dirty="0"/>
          </a:p>
          <a:p>
            <a:pPr marL="0" indent="0">
              <a:lnSpc>
                <a:spcPts val="3600"/>
              </a:lnSpc>
              <a:buNone/>
            </a:pPr>
            <a:r>
              <a:rPr lang="en-US" sz="3000" b="1" dirty="0">
                <a:solidFill>
                  <a:srgbClr val="FFFFFF"/>
                </a:solidFill>
                <a:latin typeface="Arial" pitchFamily="34" charset="0"/>
                <a:ea typeface="Arial" pitchFamily="34" charset="-122"/>
                <a:cs typeface="Arial" pitchFamily="34" charset="-120"/>
              </a:rPr>
              <a:t>Data Engineer Associate</a:t>
            </a:r>
            <a:endParaRPr lang="en-US" sz="3000" dirty="0"/>
          </a:p>
        </p:txBody>
      </p:sp>
      <p:sp>
        <p:nvSpPr>
          <p:cNvPr id="9" name="Text 7"/>
          <p:cNvSpPr/>
          <p:nvPr/>
        </p:nvSpPr>
        <p:spPr>
          <a:xfrm>
            <a:off x="502920" y="3017520"/>
            <a:ext cx="4937760" cy="1371600"/>
          </a:xfrm>
          <a:prstGeom prst="rect">
            <a:avLst/>
          </a:prstGeom>
          <a:noFill/>
          <a:ln/>
        </p:spPr>
        <p:txBody>
          <a:bodyPr wrap="square" lIns="0" tIns="0" rIns="0" bIns="0" rtlCol="0" anchor="ctr"/>
          <a:lstStyle/>
          <a:p>
            <a:pPr marL="0" indent="0">
              <a:lnSpc>
                <a:spcPts val="2100"/>
              </a:lnSpc>
              <a:buNone/>
            </a:pPr>
            <a:r>
              <a:rPr lang="en-US" sz="1250" dirty="0">
                <a:solidFill>
                  <a:srgbClr val="C9D4DE"/>
                </a:solidFill>
                <a:latin typeface="Arial" pitchFamily="34" charset="0"/>
                <a:ea typeface="Arial" pitchFamily="34" charset="-122"/>
                <a:cs typeface="Arial" pitchFamily="34" charset="-120"/>
              </a:rPr>
              <a:t>▸  Databricks Intelligence Platform</a:t>
            </a:r>
            <a:endParaRPr lang="en-US" sz="1250" dirty="0"/>
          </a:p>
          <a:p>
            <a:pPr marL="0" indent="0">
              <a:lnSpc>
                <a:spcPts val="2100"/>
              </a:lnSpc>
              <a:buNone/>
            </a:pPr>
            <a:r>
              <a:rPr lang="en-US" sz="1250" dirty="0">
                <a:solidFill>
                  <a:srgbClr val="C9D4DE"/>
                </a:solidFill>
                <a:latin typeface="Arial" pitchFamily="34" charset="0"/>
                <a:ea typeface="Arial" pitchFamily="34" charset="-122"/>
                <a:cs typeface="Arial" pitchFamily="34" charset="-120"/>
              </a:rPr>
              <a:t>▸  Data Transformation &amp; Modeling — DDL foundations</a:t>
            </a:r>
            <a:endParaRPr lang="en-US" sz="1250" dirty="0"/>
          </a:p>
          <a:p>
            <a:pPr marL="0" indent="0">
              <a:lnSpc>
                <a:spcPts val="2100"/>
              </a:lnSpc>
              <a:buNone/>
            </a:pPr>
            <a:r>
              <a:rPr lang="en-US" sz="1250" dirty="0">
                <a:solidFill>
                  <a:srgbClr val="C9D4DE"/>
                </a:solidFill>
                <a:latin typeface="Arial" pitchFamily="34" charset="0"/>
                <a:ea typeface="Arial" pitchFamily="34" charset="-122"/>
                <a:cs typeface="Arial" pitchFamily="34" charset="-120"/>
              </a:rPr>
              <a:t>▸  Governance &amp; Security — managed vs. external (seeded)</a:t>
            </a:r>
            <a:endParaRPr lang="en-US" sz="1250" dirty="0"/>
          </a:p>
        </p:txBody>
      </p:sp>
      <p:sp>
        <p:nvSpPr>
          <p:cNvPr id="10" name="Shape 8"/>
          <p:cNvSpPr/>
          <p:nvPr/>
        </p:nvSpPr>
        <p:spPr>
          <a:xfrm>
            <a:off x="5897880" y="0"/>
            <a:ext cx="3246120" cy="5143500"/>
          </a:xfrm>
          <a:prstGeom prst="rect">
            <a:avLst/>
          </a:prstGeom>
          <a:solidFill>
            <a:srgbClr val="E31E24"/>
          </a:solidFill>
          <a:ln/>
        </p:spPr>
        <p:txBody>
          <a:bodyPr/>
          <a:lstStyle/>
          <a:p>
            <a:endParaRPr lang="en-US"/>
          </a:p>
        </p:txBody>
      </p:sp>
      <p:sp>
        <p:nvSpPr>
          <p:cNvPr id="11" name="Text 9"/>
          <p:cNvSpPr/>
          <p:nvPr/>
        </p:nvSpPr>
        <p:spPr>
          <a:xfrm>
            <a:off x="6263640" y="777240"/>
            <a:ext cx="2560320" cy="365760"/>
          </a:xfrm>
          <a:prstGeom prst="rect">
            <a:avLst/>
          </a:prstGeom>
          <a:noFill/>
          <a:ln/>
        </p:spPr>
        <p:txBody>
          <a:bodyPr wrap="square" lIns="0" tIns="0" rIns="0" bIns="0" rtlCol="0" anchor="ctr"/>
          <a:lstStyle/>
          <a:p>
            <a:pPr marL="0" indent="0">
              <a:buNone/>
            </a:pPr>
            <a:r>
              <a:rPr lang="en-US" sz="1800" b="1" kern="0" spc="600" dirty="0">
                <a:solidFill>
                  <a:srgbClr val="FFFFFF"/>
                </a:solidFill>
                <a:latin typeface="Arial" pitchFamily="34" charset="0"/>
                <a:ea typeface="Arial" pitchFamily="34" charset="-122"/>
                <a:cs typeface="Arial" pitchFamily="34" charset="-120"/>
              </a:rPr>
              <a:t>WEEK</a:t>
            </a:r>
            <a:endParaRPr lang="en-US" sz="1800" dirty="0"/>
          </a:p>
        </p:txBody>
      </p:sp>
      <p:sp>
        <p:nvSpPr>
          <p:cNvPr id="12" name="Text 10"/>
          <p:cNvSpPr/>
          <p:nvPr/>
        </p:nvSpPr>
        <p:spPr>
          <a:xfrm>
            <a:off x="6199632" y="960120"/>
            <a:ext cx="2651760" cy="1828800"/>
          </a:xfrm>
          <a:prstGeom prst="rect">
            <a:avLst/>
          </a:prstGeom>
          <a:noFill/>
          <a:ln/>
        </p:spPr>
        <p:txBody>
          <a:bodyPr wrap="square" lIns="0" tIns="0" rIns="0" bIns="0" rtlCol="0" anchor="ctr"/>
          <a:lstStyle/>
          <a:p>
            <a:pPr marL="0" indent="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13" name="Text 11"/>
          <p:cNvSpPr/>
          <p:nvPr/>
        </p:nvSpPr>
        <p:spPr>
          <a:xfrm>
            <a:off x="6263640" y="3017520"/>
            <a:ext cx="2606040" cy="1188720"/>
          </a:xfrm>
          <a:prstGeom prst="rect">
            <a:avLst/>
          </a:prstGeom>
          <a:noFill/>
          <a:ln/>
        </p:spPr>
        <p:txBody>
          <a:bodyPr wrap="square" lIns="0" tIns="0" rIns="0" bIns="0" rtlCol="0" anchor="ctr"/>
          <a:lstStyle/>
          <a:p>
            <a:pPr marL="0" indent="0">
              <a:lnSpc>
                <a:spcPts val="2400"/>
              </a:lnSpc>
              <a:buNone/>
            </a:pPr>
            <a:r>
              <a:rPr lang="en-US" sz="1900" b="1" dirty="0">
                <a:solidFill>
                  <a:srgbClr val="FFFFFF"/>
                </a:solidFill>
                <a:latin typeface="Arial" pitchFamily="34" charset="0"/>
                <a:ea typeface="Arial" pitchFamily="34" charset="-122"/>
                <a:cs typeface="Arial" pitchFamily="34" charset="-120"/>
              </a:rPr>
              <a:t>Lakehouse Foundations</a:t>
            </a:r>
            <a:endParaRPr lang="en-US" sz="1900" dirty="0"/>
          </a:p>
        </p:txBody>
      </p:sp>
      <p:sp>
        <p:nvSpPr>
          <p:cNvPr id="14" name="Text 12"/>
          <p:cNvSpPr/>
          <p:nvPr/>
        </p:nvSpPr>
        <p:spPr>
          <a:xfrm>
            <a:off x="6263640" y="4251960"/>
            <a:ext cx="2606040" cy="548640"/>
          </a:xfrm>
          <a:prstGeom prst="rect">
            <a:avLst/>
          </a:prstGeom>
          <a:noFill/>
          <a:ln/>
        </p:spPr>
        <p:txBody>
          <a:bodyPr wrap="square" lIns="0" tIns="0" rIns="0" bIns="0" rtlCol="0" anchor="ctr"/>
          <a:lstStyle/>
          <a:p>
            <a:pPr marL="0" indent="0">
              <a:lnSpc>
                <a:spcPts val="1500"/>
              </a:lnSpc>
              <a:buNone/>
            </a:pPr>
            <a:r>
              <a:rPr lang="en-US" sz="1100" dirty="0">
                <a:solidFill>
                  <a:srgbClr val="FFD9DA"/>
                </a:solidFill>
                <a:latin typeface="Arial" pitchFamily="34" charset="0"/>
                <a:ea typeface="Arial" pitchFamily="34" charset="-122"/>
                <a:cs typeface="Arial" pitchFamily="34" charset="-120"/>
              </a:rPr>
              <a:t>Delta Lake · Unity Catalog · Table Fundamentals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THE CERTIFICATION</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What this exam actually is</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2</a:t>
            </a:r>
            <a:endParaRPr lang="en-US" sz="800" dirty="0"/>
          </a:p>
        </p:txBody>
      </p:sp>
      <p:sp>
        <p:nvSpPr>
          <p:cNvPr id="7" name="Text 4"/>
          <p:cNvSpPr/>
          <p:nvPr/>
        </p:nvSpPr>
        <p:spPr>
          <a:xfrm>
            <a:off x="502920" y="1463040"/>
            <a:ext cx="1444752" cy="868680"/>
          </a:xfrm>
          <a:prstGeom prst="rect">
            <a:avLst/>
          </a:prstGeom>
          <a:noFill/>
          <a:ln/>
        </p:spPr>
        <p:txBody>
          <a:bodyPr wrap="square" lIns="0" tIns="0" rIns="0" bIns="0" rtlCol="0" anchor="ctr"/>
          <a:lstStyle/>
          <a:p>
            <a:pPr marL="0" indent="0" algn="ctr">
              <a:buNone/>
            </a:pPr>
            <a:r>
              <a:rPr lang="en-US" sz="4800" b="1" dirty="0">
                <a:solidFill>
                  <a:srgbClr val="2C3E50"/>
                </a:solidFill>
                <a:latin typeface="Arial" pitchFamily="34" charset="0"/>
                <a:ea typeface="Arial" pitchFamily="34" charset="-122"/>
                <a:cs typeface="Arial" pitchFamily="34" charset="-120"/>
              </a:rPr>
              <a:t>45</a:t>
            </a:r>
            <a:endParaRPr lang="en-US" sz="4800" dirty="0"/>
          </a:p>
        </p:txBody>
      </p:sp>
      <p:sp>
        <p:nvSpPr>
          <p:cNvPr id="8" name="Text 5"/>
          <p:cNvSpPr/>
          <p:nvPr/>
        </p:nvSpPr>
        <p:spPr>
          <a:xfrm>
            <a:off x="502920" y="2377440"/>
            <a:ext cx="1444752" cy="502920"/>
          </a:xfrm>
          <a:prstGeom prst="rect">
            <a:avLst/>
          </a:prstGeom>
          <a:noFill/>
          <a:ln/>
        </p:spPr>
        <p:txBody>
          <a:bodyPr wrap="square" lIns="0" tIns="0" rIns="0" bIns="0" rtlCol="0" anchor="ctr"/>
          <a:lstStyle/>
          <a:p>
            <a:pPr marL="0" indent="0" algn="ctr">
              <a:lnSpc>
                <a:spcPts val="1300"/>
              </a:lnSpc>
              <a:buNone/>
            </a:pPr>
            <a:r>
              <a:rPr lang="en-US" sz="1000" b="1" kern="0" spc="150" dirty="0">
                <a:solidFill>
                  <a:srgbClr val="7F8C8D"/>
                </a:solidFill>
                <a:latin typeface="Arial" pitchFamily="34" charset="0"/>
                <a:ea typeface="Arial" pitchFamily="34" charset="-122"/>
                <a:cs typeface="Arial" pitchFamily="34" charset="-120"/>
              </a:rPr>
              <a:t>SCORED QUESTIONS</a:t>
            </a:r>
            <a:endParaRPr lang="en-US" sz="1000" dirty="0"/>
          </a:p>
        </p:txBody>
      </p:sp>
      <p:sp>
        <p:nvSpPr>
          <p:cNvPr id="9" name="Shape 6"/>
          <p:cNvSpPr/>
          <p:nvPr/>
        </p:nvSpPr>
        <p:spPr>
          <a:xfrm>
            <a:off x="2039112" y="1600200"/>
            <a:ext cx="0" cy="1005840"/>
          </a:xfrm>
          <a:prstGeom prst="line">
            <a:avLst/>
          </a:prstGeom>
          <a:noFill/>
          <a:ln w="12700">
            <a:solidFill>
              <a:srgbClr val="D8DEE2"/>
            </a:solidFill>
            <a:prstDash val="solid"/>
          </a:ln>
        </p:spPr>
        <p:txBody>
          <a:bodyPr/>
          <a:lstStyle/>
          <a:p>
            <a:endParaRPr lang="en-US"/>
          </a:p>
        </p:txBody>
      </p:sp>
      <p:sp>
        <p:nvSpPr>
          <p:cNvPr id="10" name="Text 7"/>
          <p:cNvSpPr/>
          <p:nvPr/>
        </p:nvSpPr>
        <p:spPr>
          <a:xfrm>
            <a:off x="2130552" y="1463040"/>
            <a:ext cx="1444752" cy="868680"/>
          </a:xfrm>
          <a:prstGeom prst="rect">
            <a:avLst/>
          </a:prstGeom>
          <a:noFill/>
          <a:ln/>
        </p:spPr>
        <p:txBody>
          <a:bodyPr wrap="square" lIns="0" tIns="0" rIns="0" bIns="0" rtlCol="0" anchor="ctr"/>
          <a:lstStyle/>
          <a:p>
            <a:pPr marL="0" indent="0" algn="ctr">
              <a:buNone/>
            </a:pPr>
            <a:r>
              <a:rPr lang="en-US" sz="4800" b="1" dirty="0">
                <a:solidFill>
                  <a:srgbClr val="2C3E50"/>
                </a:solidFill>
                <a:latin typeface="Arial" pitchFamily="34" charset="0"/>
                <a:ea typeface="Arial" pitchFamily="34" charset="-122"/>
                <a:cs typeface="Arial" pitchFamily="34" charset="-120"/>
              </a:rPr>
              <a:t>90</a:t>
            </a:r>
            <a:endParaRPr lang="en-US" sz="4800" dirty="0"/>
          </a:p>
        </p:txBody>
      </p:sp>
      <p:sp>
        <p:nvSpPr>
          <p:cNvPr id="11" name="Text 8"/>
          <p:cNvSpPr/>
          <p:nvPr/>
        </p:nvSpPr>
        <p:spPr>
          <a:xfrm>
            <a:off x="2130552" y="2377440"/>
            <a:ext cx="1444752" cy="502920"/>
          </a:xfrm>
          <a:prstGeom prst="rect">
            <a:avLst/>
          </a:prstGeom>
          <a:noFill/>
          <a:ln/>
        </p:spPr>
        <p:txBody>
          <a:bodyPr wrap="square" lIns="0" tIns="0" rIns="0" bIns="0" rtlCol="0" anchor="ctr"/>
          <a:lstStyle/>
          <a:p>
            <a:pPr marL="0" indent="0" algn="ctr">
              <a:lnSpc>
                <a:spcPts val="1300"/>
              </a:lnSpc>
              <a:buNone/>
            </a:pPr>
            <a:r>
              <a:rPr lang="en-US" sz="1000" b="1" kern="0" spc="150" dirty="0">
                <a:solidFill>
                  <a:srgbClr val="7F8C8D"/>
                </a:solidFill>
                <a:latin typeface="Arial" pitchFamily="34" charset="0"/>
                <a:ea typeface="Arial" pitchFamily="34" charset="-122"/>
                <a:cs typeface="Arial" pitchFamily="34" charset="-120"/>
              </a:rPr>
              <a:t>MINUTES</a:t>
            </a:r>
            <a:endParaRPr lang="en-US" sz="1000" dirty="0"/>
          </a:p>
        </p:txBody>
      </p:sp>
      <p:sp>
        <p:nvSpPr>
          <p:cNvPr id="12" name="Shape 9"/>
          <p:cNvSpPr/>
          <p:nvPr/>
        </p:nvSpPr>
        <p:spPr>
          <a:xfrm>
            <a:off x="3666744" y="1600200"/>
            <a:ext cx="0" cy="1005840"/>
          </a:xfrm>
          <a:prstGeom prst="line">
            <a:avLst/>
          </a:prstGeom>
          <a:noFill/>
          <a:ln w="12700">
            <a:solidFill>
              <a:srgbClr val="D8DEE2"/>
            </a:solidFill>
            <a:prstDash val="solid"/>
          </a:ln>
        </p:spPr>
        <p:txBody>
          <a:bodyPr/>
          <a:lstStyle/>
          <a:p>
            <a:endParaRPr lang="en-US"/>
          </a:p>
        </p:txBody>
      </p:sp>
      <p:sp>
        <p:nvSpPr>
          <p:cNvPr id="13" name="Text 10"/>
          <p:cNvSpPr/>
          <p:nvPr/>
        </p:nvSpPr>
        <p:spPr>
          <a:xfrm>
            <a:off x="3758184" y="1463040"/>
            <a:ext cx="1444752" cy="868680"/>
          </a:xfrm>
          <a:prstGeom prst="rect">
            <a:avLst/>
          </a:prstGeom>
          <a:noFill/>
          <a:ln/>
        </p:spPr>
        <p:txBody>
          <a:bodyPr wrap="square" lIns="0" tIns="0" rIns="0" bIns="0" rtlCol="0" anchor="ctr"/>
          <a:lstStyle/>
          <a:p>
            <a:pPr marL="0" indent="0" algn="ctr">
              <a:buNone/>
            </a:pPr>
            <a:r>
              <a:rPr lang="en-US" sz="4800" b="1" dirty="0">
                <a:solidFill>
                  <a:srgbClr val="E31E24"/>
                </a:solidFill>
                <a:latin typeface="Arial" pitchFamily="34" charset="0"/>
                <a:ea typeface="Arial" pitchFamily="34" charset="-122"/>
                <a:cs typeface="Arial" pitchFamily="34" charset="-120"/>
              </a:rPr>
              <a:t>7</a:t>
            </a:r>
            <a:endParaRPr lang="en-US" sz="4800" dirty="0"/>
          </a:p>
        </p:txBody>
      </p:sp>
      <p:sp>
        <p:nvSpPr>
          <p:cNvPr id="14" name="Text 11"/>
          <p:cNvSpPr/>
          <p:nvPr/>
        </p:nvSpPr>
        <p:spPr>
          <a:xfrm>
            <a:off x="3758184" y="2377440"/>
            <a:ext cx="1444752" cy="502920"/>
          </a:xfrm>
          <a:prstGeom prst="rect">
            <a:avLst/>
          </a:prstGeom>
          <a:noFill/>
          <a:ln/>
        </p:spPr>
        <p:txBody>
          <a:bodyPr wrap="square" lIns="0" tIns="0" rIns="0" bIns="0" rtlCol="0" anchor="ctr"/>
          <a:lstStyle/>
          <a:p>
            <a:pPr marL="0" indent="0" algn="ctr">
              <a:lnSpc>
                <a:spcPts val="1300"/>
              </a:lnSpc>
              <a:buNone/>
            </a:pPr>
            <a:r>
              <a:rPr lang="en-US" sz="1000" b="1" kern="0" spc="150" dirty="0">
                <a:solidFill>
                  <a:srgbClr val="7F8C8D"/>
                </a:solidFill>
                <a:latin typeface="Arial" pitchFamily="34" charset="0"/>
                <a:ea typeface="Arial" pitchFamily="34" charset="-122"/>
                <a:cs typeface="Arial" pitchFamily="34" charset="-120"/>
              </a:rPr>
              <a:t>EXAM DOMAINS</a:t>
            </a:r>
            <a:endParaRPr lang="en-US" sz="1000" dirty="0"/>
          </a:p>
        </p:txBody>
      </p:sp>
      <p:sp>
        <p:nvSpPr>
          <p:cNvPr id="15" name="Shape 12"/>
          <p:cNvSpPr/>
          <p:nvPr/>
        </p:nvSpPr>
        <p:spPr>
          <a:xfrm>
            <a:off x="5294376" y="1600200"/>
            <a:ext cx="0" cy="1005840"/>
          </a:xfrm>
          <a:prstGeom prst="line">
            <a:avLst/>
          </a:prstGeom>
          <a:noFill/>
          <a:ln w="12700">
            <a:solidFill>
              <a:srgbClr val="D8DEE2"/>
            </a:solidFill>
            <a:prstDash val="solid"/>
          </a:ln>
        </p:spPr>
        <p:txBody>
          <a:bodyPr/>
          <a:lstStyle/>
          <a:p>
            <a:endParaRPr lang="en-US"/>
          </a:p>
        </p:txBody>
      </p:sp>
      <p:sp>
        <p:nvSpPr>
          <p:cNvPr id="16" name="Text 13"/>
          <p:cNvSpPr/>
          <p:nvPr/>
        </p:nvSpPr>
        <p:spPr>
          <a:xfrm>
            <a:off x="5385816" y="1463040"/>
            <a:ext cx="1444752" cy="868680"/>
          </a:xfrm>
          <a:prstGeom prst="rect">
            <a:avLst/>
          </a:prstGeom>
          <a:noFill/>
          <a:ln/>
        </p:spPr>
        <p:txBody>
          <a:bodyPr wrap="square" lIns="0" tIns="0" rIns="0" bIns="0" rtlCol="0" anchor="ctr"/>
          <a:lstStyle/>
          <a:p>
            <a:pPr marL="0" indent="0" algn="ctr">
              <a:buNone/>
            </a:pPr>
            <a:r>
              <a:rPr lang="en-US" sz="4000" b="1" dirty="0">
                <a:solidFill>
                  <a:srgbClr val="2C3E50"/>
                </a:solidFill>
                <a:latin typeface="Arial" pitchFamily="34" charset="0"/>
                <a:ea typeface="Arial" pitchFamily="34" charset="-122"/>
                <a:cs typeface="Arial" pitchFamily="34" charset="-120"/>
              </a:rPr>
              <a:t>$200</a:t>
            </a:r>
            <a:endParaRPr lang="en-US" sz="4000" dirty="0"/>
          </a:p>
        </p:txBody>
      </p:sp>
      <p:sp>
        <p:nvSpPr>
          <p:cNvPr id="17" name="Text 14"/>
          <p:cNvSpPr/>
          <p:nvPr/>
        </p:nvSpPr>
        <p:spPr>
          <a:xfrm>
            <a:off x="5385816" y="2377440"/>
            <a:ext cx="1444752" cy="502920"/>
          </a:xfrm>
          <a:prstGeom prst="rect">
            <a:avLst/>
          </a:prstGeom>
          <a:noFill/>
          <a:ln/>
        </p:spPr>
        <p:txBody>
          <a:bodyPr wrap="square" lIns="0" tIns="0" rIns="0" bIns="0" rtlCol="0" anchor="ctr"/>
          <a:lstStyle/>
          <a:p>
            <a:pPr marL="0" indent="0" algn="ctr">
              <a:lnSpc>
                <a:spcPts val="1300"/>
              </a:lnSpc>
              <a:buNone/>
            </a:pPr>
            <a:r>
              <a:rPr lang="en-US" sz="1000" b="1" kern="0" spc="150" dirty="0">
                <a:solidFill>
                  <a:srgbClr val="7F8C8D"/>
                </a:solidFill>
                <a:latin typeface="Arial" pitchFamily="34" charset="0"/>
                <a:ea typeface="Arial" pitchFamily="34" charset="-122"/>
                <a:cs typeface="Arial" pitchFamily="34" charset="-120"/>
              </a:rPr>
              <a:t>REGISTRATION</a:t>
            </a:r>
            <a:endParaRPr lang="en-US" sz="1000" dirty="0"/>
          </a:p>
        </p:txBody>
      </p:sp>
      <p:sp>
        <p:nvSpPr>
          <p:cNvPr id="18" name="Shape 15"/>
          <p:cNvSpPr/>
          <p:nvPr/>
        </p:nvSpPr>
        <p:spPr>
          <a:xfrm>
            <a:off x="6922008" y="1600200"/>
            <a:ext cx="0" cy="1005840"/>
          </a:xfrm>
          <a:prstGeom prst="line">
            <a:avLst/>
          </a:prstGeom>
          <a:noFill/>
          <a:ln w="12700">
            <a:solidFill>
              <a:srgbClr val="D8DEE2"/>
            </a:solidFill>
            <a:prstDash val="solid"/>
          </a:ln>
        </p:spPr>
        <p:txBody>
          <a:bodyPr/>
          <a:lstStyle/>
          <a:p>
            <a:endParaRPr lang="en-US"/>
          </a:p>
        </p:txBody>
      </p:sp>
      <p:sp>
        <p:nvSpPr>
          <p:cNvPr id="19" name="Text 16"/>
          <p:cNvSpPr/>
          <p:nvPr/>
        </p:nvSpPr>
        <p:spPr>
          <a:xfrm>
            <a:off x="7013448" y="1463040"/>
            <a:ext cx="1444752" cy="868680"/>
          </a:xfrm>
          <a:prstGeom prst="rect">
            <a:avLst/>
          </a:prstGeom>
          <a:noFill/>
          <a:ln/>
        </p:spPr>
        <p:txBody>
          <a:bodyPr wrap="square" lIns="0" tIns="0" rIns="0" bIns="0" rtlCol="0" anchor="ctr"/>
          <a:lstStyle/>
          <a:p>
            <a:pPr marL="0" indent="0" algn="ctr">
              <a:buNone/>
            </a:pPr>
            <a:r>
              <a:rPr lang="en-US" sz="4000" b="1" dirty="0">
                <a:solidFill>
                  <a:srgbClr val="2C3E50"/>
                </a:solidFill>
                <a:latin typeface="Arial" pitchFamily="34" charset="0"/>
                <a:ea typeface="Arial" pitchFamily="34" charset="-122"/>
                <a:cs typeface="Arial" pitchFamily="34" charset="-120"/>
              </a:rPr>
              <a:t>2 yrs</a:t>
            </a:r>
            <a:endParaRPr lang="en-US" sz="4000" dirty="0"/>
          </a:p>
        </p:txBody>
      </p:sp>
      <p:sp>
        <p:nvSpPr>
          <p:cNvPr id="20" name="Text 17"/>
          <p:cNvSpPr/>
          <p:nvPr/>
        </p:nvSpPr>
        <p:spPr>
          <a:xfrm>
            <a:off x="7013448" y="2377440"/>
            <a:ext cx="1444752" cy="502920"/>
          </a:xfrm>
          <a:prstGeom prst="rect">
            <a:avLst/>
          </a:prstGeom>
          <a:noFill/>
          <a:ln/>
        </p:spPr>
        <p:txBody>
          <a:bodyPr wrap="square" lIns="0" tIns="0" rIns="0" bIns="0" rtlCol="0" anchor="ctr"/>
          <a:lstStyle/>
          <a:p>
            <a:pPr marL="0" indent="0" algn="ctr">
              <a:lnSpc>
                <a:spcPts val="1300"/>
              </a:lnSpc>
              <a:buNone/>
            </a:pPr>
            <a:r>
              <a:rPr lang="en-US" sz="1000" b="1" kern="0" spc="150" dirty="0">
                <a:solidFill>
                  <a:srgbClr val="7F8C8D"/>
                </a:solidFill>
                <a:latin typeface="Arial" pitchFamily="34" charset="0"/>
                <a:ea typeface="Arial" pitchFamily="34" charset="-122"/>
                <a:cs typeface="Arial" pitchFamily="34" charset="-120"/>
              </a:rPr>
              <a:t>VALIDITY</a:t>
            </a:r>
            <a:endParaRPr lang="en-US" sz="1000" dirty="0"/>
          </a:p>
        </p:txBody>
      </p:sp>
      <p:sp>
        <p:nvSpPr>
          <p:cNvPr id="21" name="Shape 18"/>
          <p:cNvSpPr/>
          <p:nvPr/>
        </p:nvSpPr>
        <p:spPr>
          <a:xfrm>
            <a:off x="502920" y="3291840"/>
            <a:ext cx="8138160" cy="777240"/>
          </a:xfrm>
          <a:prstGeom prst="rect">
            <a:avLst/>
          </a:prstGeom>
          <a:solidFill>
            <a:srgbClr val="FDF3F3"/>
          </a:solidFill>
          <a:ln/>
        </p:spPr>
        <p:txBody>
          <a:bodyPr/>
          <a:lstStyle/>
          <a:p>
            <a:endParaRPr lang="en-US"/>
          </a:p>
        </p:txBody>
      </p:sp>
      <p:sp>
        <p:nvSpPr>
          <p:cNvPr id="22" name="Shape 19"/>
          <p:cNvSpPr/>
          <p:nvPr/>
        </p:nvSpPr>
        <p:spPr>
          <a:xfrm>
            <a:off x="502920" y="3291840"/>
            <a:ext cx="54864" cy="777240"/>
          </a:xfrm>
          <a:prstGeom prst="rect">
            <a:avLst/>
          </a:prstGeom>
          <a:solidFill>
            <a:srgbClr val="E31E24"/>
          </a:solidFill>
          <a:ln/>
        </p:spPr>
        <p:txBody>
          <a:bodyPr/>
          <a:lstStyle/>
          <a:p>
            <a:endParaRPr lang="en-US"/>
          </a:p>
        </p:txBody>
      </p:sp>
      <p:sp>
        <p:nvSpPr>
          <p:cNvPr id="23" name="Text 20"/>
          <p:cNvSpPr/>
          <p:nvPr/>
        </p:nvSpPr>
        <p:spPr>
          <a:xfrm>
            <a:off x="704088" y="3346704"/>
            <a:ext cx="7772400" cy="667512"/>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DON'T GET TRICKED   </a:t>
            </a:r>
            <a:r>
              <a:rPr lang="en-US" sz="1100" dirty="0">
                <a:solidFill>
                  <a:srgbClr val="2C3E50"/>
                </a:solidFill>
                <a:latin typeface="Arial" pitchFamily="34" charset="0"/>
                <a:ea typeface="Arial" pitchFamily="34" charset="-122"/>
                <a:cs typeface="Arial" pitchFamily="34" charset="-120"/>
              </a:rPr>
              <a:t>The May 4, 2026 guide added CI/CD and reorganized everything. Most online question banks target the old 5-domain exam — they miss entire domains.</a:t>
            </a:r>
            <a:endParaRPr lang="en-US" sz="950" dirty="0"/>
          </a:p>
        </p:txBody>
      </p:sp>
      <p:sp>
        <p:nvSpPr>
          <p:cNvPr id="24" name="Text 21"/>
          <p:cNvSpPr/>
          <p:nvPr/>
        </p:nvSpPr>
        <p:spPr>
          <a:xfrm>
            <a:off x="502920" y="4297680"/>
            <a:ext cx="8138160" cy="365760"/>
          </a:xfrm>
          <a:prstGeom prst="rect">
            <a:avLst/>
          </a:prstGeom>
          <a:noFill/>
          <a:ln/>
        </p:spPr>
        <p:txBody>
          <a:bodyPr wrap="square" lIns="0" tIns="0" rIns="0" bIns="0" rtlCol="0" anchor="ctr"/>
          <a:lstStyle/>
          <a:p>
            <a:pPr marL="0" indent="0">
              <a:buNone/>
            </a:pPr>
            <a:r>
              <a:rPr lang="en-US" sz="1200" i="1" dirty="0">
                <a:solidFill>
                  <a:srgbClr val="7F8C8D"/>
                </a:solidFill>
                <a:latin typeface="Arial" pitchFamily="34" charset="0"/>
                <a:ea typeface="Arial" pitchFamily="34" charset="-122"/>
                <a:cs typeface="Arial" pitchFamily="34" charset="-120"/>
              </a:rPr>
              <a:t>Code in the exam: SQL when possible, Python otherwise — you need reading fluency in both.</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THE PROGRAM</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Five Fridays, seven domains</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3</a:t>
            </a:r>
            <a:endParaRPr lang="en-US" sz="800" dirty="0"/>
          </a:p>
        </p:txBody>
      </p:sp>
      <p:sp>
        <p:nvSpPr>
          <p:cNvPr id="7" name="Shape 4"/>
          <p:cNvSpPr/>
          <p:nvPr/>
        </p:nvSpPr>
        <p:spPr>
          <a:xfrm>
            <a:off x="502920" y="1325880"/>
            <a:ext cx="2560320" cy="1417320"/>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8" name="Shape 5"/>
          <p:cNvSpPr/>
          <p:nvPr/>
        </p:nvSpPr>
        <p:spPr>
          <a:xfrm>
            <a:off x="502920" y="1325880"/>
            <a:ext cx="64008" cy="1417320"/>
          </a:xfrm>
          <a:prstGeom prst="rect">
            <a:avLst/>
          </a:prstGeom>
          <a:solidFill>
            <a:srgbClr val="E31E24"/>
          </a:solidFill>
          <a:ln/>
        </p:spPr>
        <p:txBody>
          <a:bodyPr/>
          <a:lstStyle/>
          <a:p>
            <a:endParaRPr lang="en-US"/>
          </a:p>
        </p:txBody>
      </p:sp>
      <p:sp>
        <p:nvSpPr>
          <p:cNvPr id="9" name="Text 6"/>
          <p:cNvSpPr/>
          <p:nvPr/>
        </p:nvSpPr>
        <p:spPr>
          <a:xfrm>
            <a:off x="685800" y="1435608"/>
            <a:ext cx="219456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W1</a:t>
            </a:r>
            <a:endParaRPr lang="en-US" sz="1700" dirty="0"/>
          </a:p>
        </p:txBody>
      </p:sp>
      <p:sp>
        <p:nvSpPr>
          <p:cNvPr id="10" name="Text 7"/>
          <p:cNvSpPr/>
          <p:nvPr/>
        </p:nvSpPr>
        <p:spPr>
          <a:xfrm>
            <a:off x="685800" y="1746504"/>
            <a:ext cx="221284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Lakehouse Foundations</a:t>
            </a:r>
            <a:endParaRPr lang="en-US" sz="1250" dirty="0"/>
          </a:p>
        </p:txBody>
      </p:sp>
      <p:sp>
        <p:nvSpPr>
          <p:cNvPr id="11" name="Text 8"/>
          <p:cNvSpPr/>
          <p:nvPr/>
        </p:nvSpPr>
        <p:spPr>
          <a:xfrm>
            <a:off x="685800" y="2093976"/>
            <a:ext cx="2212848" cy="548640"/>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Platform · Delta · Unity Catalog · tables &amp; views</a:t>
            </a:r>
            <a:endParaRPr lang="en-US" sz="1050" dirty="0"/>
          </a:p>
        </p:txBody>
      </p:sp>
      <p:sp>
        <p:nvSpPr>
          <p:cNvPr id="12" name="Shape 9"/>
          <p:cNvSpPr/>
          <p:nvPr/>
        </p:nvSpPr>
        <p:spPr>
          <a:xfrm>
            <a:off x="3291840" y="1325880"/>
            <a:ext cx="2560320" cy="1417320"/>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13" name="Shape 10"/>
          <p:cNvSpPr/>
          <p:nvPr/>
        </p:nvSpPr>
        <p:spPr>
          <a:xfrm>
            <a:off x="3291840" y="1325880"/>
            <a:ext cx="64008" cy="1417320"/>
          </a:xfrm>
          <a:prstGeom prst="rect">
            <a:avLst/>
          </a:prstGeom>
          <a:solidFill>
            <a:srgbClr val="2C3E50"/>
          </a:solidFill>
          <a:ln/>
        </p:spPr>
        <p:txBody>
          <a:bodyPr/>
          <a:lstStyle/>
          <a:p>
            <a:endParaRPr lang="en-US"/>
          </a:p>
        </p:txBody>
      </p:sp>
      <p:sp>
        <p:nvSpPr>
          <p:cNvPr id="14" name="Text 11"/>
          <p:cNvSpPr/>
          <p:nvPr/>
        </p:nvSpPr>
        <p:spPr>
          <a:xfrm>
            <a:off x="3474720" y="1435608"/>
            <a:ext cx="219456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W2</a:t>
            </a:r>
            <a:endParaRPr lang="en-US" sz="1700" dirty="0"/>
          </a:p>
        </p:txBody>
      </p:sp>
      <p:sp>
        <p:nvSpPr>
          <p:cNvPr id="15" name="Text 12"/>
          <p:cNvSpPr/>
          <p:nvPr/>
        </p:nvSpPr>
        <p:spPr>
          <a:xfrm>
            <a:off x="3474720" y="1746504"/>
            <a:ext cx="221284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Ingestion + Transformation</a:t>
            </a:r>
            <a:endParaRPr lang="en-US" sz="1250" dirty="0"/>
          </a:p>
        </p:txBody>
      </p:sp>
      <p:sp>
        <p:nvSpPr>
          <p:cNvPr id="16" name="Text 13"/>
          <p:cNvSpPr/>
          <p:nvPr/>
        </p:nvSpPr>
        <p:spPr>
          <a:xfrm>
            <a:off x="3474720" y="2093976"/>
            <a:ext cx="2212848" cy="548640"/>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COPY INTO · Auto Loader · bronze→silver · MERGE (~40%+ of exam)</a:t>
            </a:r>
            <a:endParaRPr lang="en-US" sz="1050" dirty="0"/>
          </a:p>
        </p:txBody>
      </p:sp>
      <p:sp>
        <p:nvSpPr>
          <p:cNvPr id="17" name="Shape 14"/>
          <p:cNvSpPr/>
          <p:nvPr/>
        </p:nvSpPr>
        <p:spPr>
          <a:xfrm>
            <a:off x="6080760" y="1325880"/>
            <a:ext cx="2560320" cy="1417320"/>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18" name="Shape 15"/>
          <p:cNvSpPr/>
          <p:nvPr/>
        </p:nvSpPr>
        <p:spPr>
          <a:xfrm>
            <a:off x="6080760" y="1325880"/>
            <a:ext cx="64008" cy="1417320"/>
          </a:xfrm>
          <a:prstGeom prst="rect">
            <a:avLst/>
          </a:prstGeom>
          <a:solidFill>
            <a:srgbClr val="2C3E50"/>
          </a:solidFill>
          <a:ln/>
        </p:spPr>
        <p:txBody>
          <a:bodyPr/>
          <a:lstStyle/>
          <a:p>
            <a:endParaRPr lang="en-US"/>
          </a:p>
        </p:txBody>
      </p:sp>
      <p:sp>
        <p:nvSpPr>
          <p:cNvPr id="19" name="Text 16"/>
          <p:cNvSpPr/>
          <p:nvPr/>
        </p:nvSpPr>
        <p:spPr>
          <a:xfrm>
            <a:off x="6263640" y="1435608"/>
            <a:ext cx="219456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W3</a:t>
            </a:r>
            <a:endParaRPr lang="en-US" sz="1700" dirty="0"/>
          </a:p>
        </p:txBody>
      </p:sp>
      <p:sp>
        <p:nvSpPr>
          <p:cNvPr id="20" name="Text 17"/>
          <p:cNvSpPr/>
          <p:nvPr/>
        </p:nvSpPr>
        <p:spPr>
          <a:xfrm>
            <a:off x="6263640" y="1746504"/>
            <a:ext cx="221284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Jobs + CI/CD</a:t>
            </a:r>
            <a:endParaRPr lang="en-US" sz="1250" dirty="0"/>
          </a:p>
        </p:txBody>
      </p:sp>
      <p:sp>
        <p:nvSpPr>
          <p:cNvPr id="21" name="Text 18"/>
          <p:cNvSpPr/>
          <p:nvPr/>
        </p:nvSpPr>
        <p:spPr>
          <a:xfrm>
            <a:off x="6263640" y="2093976"/>
            <a:ext cx="2212848" cy="548640"/>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Lakeflow Jobs · triggers · Git folders · Automation Bundles</a:t>
            </a:r>
            <a:endParaRPr lang="en-US" sz="1050" dirty="0"/>
          </a:p>
        </p:txBody>
      </p:sp>
      <p:sp>
        <p:nvSpPr>
          <p:cNvPr id="22" name="Shape 19"/>
          <p:cNvSpPr/>
          <p:nvPr/>
        </p:nvSpPr>
        <p:spPr>
          <a:xfrm>
            <a:off x="502920" y="2971800"/>
            <a:ext cx="2560320" cy="1417320"/>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23" name="Shape 20"/>
          <p:cNvSpPr/>
          <p:nvPr/>
        </p:nvSpPr>
        <p:spPr>
          <a:xfrm>
            <a:off x="502920" y="2971800"/>
            <a:ext cx="64008" cy="1417320"/>
          </a:xfrm>
          <a:prstGeom prst="rect">
            <a:avLst/>
          </a:prstGeom>
          <a:solidFill>
            <a:srgbClr val="2C3E50"/>
          </a:solidFill>
          <a:ln/>
        </p:spPr>
        <p:txBody>
          <a:bodyPr/>
          <a:lstStyle/>
          <a:p>
            <a:endParaRPr lang="en-US"/>
          </a:p>
        </p:txBody>
      </p:sp>
      <p:sp>
        <p:nvSpPr>
          <p:cNvPr id="24" name="Text 21"/>
          <p:cNvSpPr/>
          <p:nvPr/>
        </p:nvSpPr>
        <p:spPr>
          <a:xfrm>
            <a:off x="685800" y="3081528"/>
            <a:ext cx="219456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W4</a:t>
            </a:r>
            <a:endParaRPr lang="en-US" sz="1700" dirty="0"/>
          </a:p>
        </p:txBody>
      </p:sp>
      <p:sp>
        <p:nvSpPr>
          <p:cNvPr id="25" name="Text 22"/>
          <p:cNvSpPr/>
          <p:nvPr/>
        </p:nvSpPr>
        <p:spPr>
          <a:xfrm>
            <a:off x="685800" y="3392424"/>
            <a:ext cx="221284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Governance + Optimization</a:t>
            </a:r>
            <a:endParaRPr lang="en-US" sz="1250" dirty="0"/>
          </a:p>
        </p:txBody>
      </p:sp>
      <p:sp>
        <p:nvSpPr>
          <p:cNvPr id="26" name="Text 23"/>
          <p:cNvSpPr/>
          <p:nvPr/>
        </p:nvSpPr>
        <p:spPr>
          <a:xfrm>
            <a:off x="685800" y="3739896"/>
            <a:ext cx="2212848" cy="548640"/>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GRANT/DENY · masks · Spark UI · Liquid Clustering</a:t>
            </a:r>
            <a:endParaRPr lang="en-US" sz="1050" dirty="0"/>
          </a:p>
        </p:txBody>
      </p:sp>
      <p:sp>
        <p:nvSpPr>
          <p:cNvPr id="27" name="Shape 24"/>
          <p:cNvSpPr/>
          <p:nvPr/>
        </p:nvSpPr>
        <p:spPr>
          <a:xfrm>
            <a:off x="3291840" y="2971800"/>
            <a:ext cx="2560320" cy="1417320"/>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28" name="Shape 25"/>
          <p:cNvSpPr/>
          <p:nvPr/>
        </p:nvSpPr>
        <p:spPr>
          <a:xfrm>
            <a:off x="3291840" y="2971800"/>
            <a:ext cx="64008" cy="1417320"/>
          </a:xfrm>
          <a:prstGeom prst="rect">
            <a:avLst/>
          </a:prstGeom>
          <a:solidFill>
            <a:srgbClr val="2C3E50"/>
          </a:solidFill>
          <a:ln/>
        </p:spPr>
        <p:txBody>
          <a:bodyPr/>
          <a:lstStyle/>
          <a:p>
            <a:endParaRPr lang="en-US"/>
          </a:p>
        </p:txBody>
      </p:sp>
      <p:sp>
        <p:nvSpPr>
          <p:cNvPr id="29" name="Text 26"/>
          <p:cNvSpPr/>
          <p:nvPr/>
        </p:nvSpPr>
        <p:spPr>
          <a:xfrm>
            <a:off x="3474720" y="3081528"/>
            <a:ext cx="219456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W5</a:t>
            </a:r>
            <a:endParaRPr lang="en-US" sz="1700" dirty="0"/>
          </a:p>
        </p:txBody>
      </p:sp>
      <p:sp>
        <p:nvSpPr>
          <p:cNvPr id="30" name="Text 27"/>
          <p:cNvSpPr/>
          <p:nvPr/>
        </p:nvSpPr>
        <p:spPr>
          <a:xfrm>
            <a:off x="3474720" y="3392424"/>
            <a:ext cx="221284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Capstone + Mock</a:t>
            </a:r>
            <a:endParaRPr lang="en-US" sz="1250" dirty="0"/>
          </a:p>
        </p:txBody>
      </p:sp>
      <p:sp>
        <p:nvSpPr>
          <p:cNvPr id="31" name="Text 28"/>
          <p:cNvSpPr/>
          <p:nvPr/>
        </p:nvSpPr>
        <p:spPr>
          <a:xfrm>
            <a:off x="3474720" y="3739896"/>
            <a:ext cx="2212848" cy="548640"/>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End-to-end build · 45-question mock · exam strategy</a:t>
            </a:r>
            <a:endParaRPr lang="en-US" sz="1050" dirty="0"/>
          </a:p>
        </p:txBody>
      </p:sp>
      <p:sp>
        <p:nvSpPr>
          <p:cNvPr id="32" name="Shape 29"/>
          <p:cNvSpPr/>
          <p:nvPr/>
        </p:nvSpPr>
        <p:spPr>
          <a:xfrm>
            <a:off x="6080760" y="2971800"/>
            <a:ext cx="2560320" cy="1417320"/>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33" name="Shape 30"/>
          <p:cNvSpPr/>
          <p:nvPr/>
        </p:nvSpPr>
        <p:spPr>
          <a:xfrm>
            <a:off x="6080760" y="2971800"/>
            <a:ext cx="64008" cy="1417320"/>
          </a:xfrm>
          <a:prstGeom prst="rect">
            <a:avLst/>
          </a:prstGeom>
          <a:solidFill>
            <a:srgbClr val="7F8C8D"/>
          </a:solidFill>
          <a:ln/>
        </p:spPr>
        <p:txBody>
          <a:bodyPr/>
          <a:lstStyle/>
          <a:p>
            <a:endParaRPr lang="en-US"/>
          </a:p>
        </p:txBody>
      </p:sp>
      <p:sp>
        <p:nvSpPr>
          <p:cNvPr id="34" name="Text 31"/>
          <p:cNvSpPr/>
          <p:nvPr/>
        </p:nvSpPr>
        <p:spPr>
          <a:xfrm>
            <a:off x="6263640" y="3081528"/>
            <a:ext cx="219456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a:t>
            </a:r>
            <a:endParaRPr lang="en-US" sz="1700" dirty="0"/>
          </a:p>
        </p:txBody>
      </p:sp>
      <p:sp>
        <p:nvSpPr>
          <p:cNvPr id="35" name="Text 32"/>
          <p:cNvSpPr/>
          <p:nvPr/>
        </p:nvSpPr>
        <p:spPr>
          <a:xfrm>
            <a:off x="6263640" y="3392424"/>
            <a:ext cx="221284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Every Friday, same rhythm</a:t>
            </a:r>
            <a:endParaRPr lang="en-US" sz="1250" dirty="0"/>
          </a:p>
        </p:txBody>
      </p:sp>
      <p:sp>
        <p:nvSpPr>
          <p:cNvPr id="36" name="Text 33"/>
          <p:cNvSpPr/>
          <p:nvPr/>
        </p:nvSpPr>
        <p:spPr>
          <a:xfrm>
            <a:off x="6263640" y="3739896"/>
            <a:ext cx="2212848" cy="548640"/>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Recap → concepts → live demo → hands-on lab → activity → quiz</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FOR ADF · SYNAPSE · FABRIC ENGINEERS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Translate your vocabulary</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4</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2743200"/>
        </p:xfrm>
        <a:graphic>
          <a:graphicData uri="http://schemas.openxmlformats.org/drawingml/2006/table">
            <a:tbl>
              <a:tblPr/>
              <a:tblGrid>
                <a:gridCol w="23317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Arial" pitchFamily="34" charset="0"/>
                          <a:ea typeface="Arial" pitchFamily="34" charset="-122"/>
                          <a:cs typeface="Arial" pitchFamily="34" charset="-120"/>
                        </a:rPr>
                        <a:t>What you say today</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What Databricks calls it</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Watch out for</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57200">
                <a:tc>
                  <a:txBody>
                    <a:bodyPr/>
                    <a:lstStyle/>
                    <a:p>
                      <a:pPr marL="0" indent="0">
                        <a:buNone/>
                      </a:pPr>
                      <a:r>
                        <a:rPr lang="en-US" sz="1050" dirty="0">
                          <a:solidFill>
                            <a:srgbClr val="2C3E50"/>
                          </a:solidFill>
                          <a:latin typeface="Arial" pitchFamily="34" charset="0"/>
                          <a:ea typeface="Arial" pitchFamily="34" charset="-122"/>
                          <a:cs typeface="Arial" pitchFamily="34" charset="-120"/>
                        </a:rPr>
                        <a:t>ADF pipeline</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Lakeflow Jobs (orchestration)</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Code-adjacent tasks, not drag-and-drop activities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50" dirty="0">
                          <a:solidFill>
                            <a:srgbClr val="2C3E50"/>
                          </a:solidFill>
                          <a:latin typeface="Arial" pitchFamily="34" charset="0"/>
                          <a:ea typeface="Arial" pitchFamily="34" charset="-122"/>
                          <a:cs typeface="Arial" pitchFamily="34" charset="-120"/>
                        </a:rPr>
                        <a:t>ADF copy activity / linked service</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Lakeflow Connect connectors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Managed connectors = least engineering</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extLst>
                  <a:ext uri="{0D108BD9-81ED-4DB2-BD59-A6C34878D82A}">
                    <a16:rowId xmlns:a16="http://schemas.microsoft.com/office/drawing/2014/main" val="10002"/>
                  </a:ext>
                </a:extLst>
              </a:tr>
              <a:tr h="457200">
                <a:tc>
                  <a:txBody>
                    <a:bodyPr/>
                    <a:lstStyle/>
                    <a:p>
                      <a:pPr marL="0" indent="0">
                        <a:buNone/>
                      </a:pPr>
                      <a:r>
                        <a:rPr lang="en-US" sz="1050" dirty="0">
                          <a:solidFill>
                            <a:srgbClr val="2C3E50"/>
                          </a:solidFill>
                          <a:latin typeface="Arial" pitchFamily="34" charset="0"/>
                          <a:ea typeface="Arial" pitchFamily="34" charset="-122"/>
                          <a:cs typeface="Arial" pitchFamily="34" charset="-120"/>
                        </a:rPr>
                        <a:t>Synapse dedicated SQL pool</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SQL warehouse on Delta tables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No separate warehouse engine or data copy</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50" dirty="0">
                          <a:solidFill>
                            <a:srgbClr val="2C3E50"/>
                          </a:solidFill>
                          <a:latin typeface="Arial" pitchFamily="34" charset="0"/>
                          <a:ea typeface="Arial" pitchFamily="34" charset="-122"/>
                          <a:cs typeface="Arial" pitchFamily="34" charset="-120"/>
                        </a:rPr>
                        <a:t>Fabric OneLake + shortcuts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Unity Catalog + external locations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One governance tree across all workspaces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extLst>
                  <a:ext uri="{0D108BD9-81ED-4DB2-BD59-A6C34878D82A}">
                    <a16:rowId xmlns:a16="http://schemas.microsoft.com/office/drawing/2014/main" val="10004"/>
                  </a:ext>
                </a:extLst>
              </a:tr>
              <a:tr h="457200">
                <a:tc>
                  <a:txBody>
                    <a:bodyPr/>
                    <a:lstStyle/>
                    <a:p>
                      <a:pPr marL="0" indent="0">
                        <a:buNone/>
                      </a:pPr>
                      <a:r>
                        <a:rPr lang="en-US" sz="1050" dirty="0">
                          <a:solidFill>
                            <a:srgbClr val="2C3E50"/>
                          </a:solidFill>
                          <a:latin typeface="Arial" pitchFamily="34" charset="0"/>
                          <a:ea typeface="Arial" pitchFamily="34" charset="-122"/>
                          <a:cs typeface="Arial" pitchFamily="34" charset="-120"/>
                        </a:rPr>
                        <a:t>Fabric Lakehouse / Warehouse split</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One lakehouse, one format (Delta)</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Same tables serve every workload</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A816C5-A86F-1D8E-093F-082F584C40E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0CC1E4-5336-CC4A-9C8F-E333A1E4C7AA}"/>
              </a:ext>
            </a:extLst>
          </p:cNvPr>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1</a:t>
            </a:r>
            <a:endParaRPr lang="en-US" sz="1050" dirty="0"/>
          </a:p>
        </p:txBody>
      </p:sp>
      <p:sp>
        <p:nvSpPr>
          <p:cNvPr id="3" name="Text 1">
            <a:extLst>
              <a:ext uri="{FF2B5EF4-FFF2-40B4-BE49-F238E27FC236}">
                <a16:creationId xmlns:a16="http://schemas.microsoft.com/office/drawing/2014/main" id="{92C80233-0167-5917-191B-F70BC894DEFE}"/>
              </a:ext>
            </a:extLst>
          </p:cNvPr>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The </a:t>
            </a:r>
            <a:r>
              <a:rPr lang="en-US" sz="2500" b="1" dirty="0" err="1">
                <a:solidFill>
                  <a:srgbClr val="2C3E50"/>
                </a:solidFill>
                <a:latin typeface="Arial" pitchFamily="34" charset="0"/>
                <a:ea typeface="Arial" pitchFamily="34" charset="-122"/>
                <a:cs typeface="Arial" pitchFamily="34" charset="-120"/>
              </a:rPr>
              <a:t>lakehouse</a:t>
            </a:r>
            <a:endParaRPr lang="en-US" sz="2500" dirty="0"/>
          </a:p>
        </p:txBody>
      </p:sp>
      <p:pic>
        <p:nvPicPr>
          <p:cNvPr id="6" name="Picture 5" descr="Data Intelligence Platforms">
            <a:extLst>
              <a:ext uri="{FF2B5EF4-FFF2-40B4-BE49-F238E27FC236}">
                <a16:creationId xmlns:a16="http://schemas.microsoft.com/office/drawing/2014/main" id="{D2029C08-F5A0-BB96-33C9-B168444E2B99}"/>
              </a:ext>
            </a:extLst>
          </p:cNvPr>
          <p:cNvPicPr>
            <a:picLocks noChangeAspect="1"/>
          </p:cNvPicPr>
          <p:nvPr/>
        </p:nvPicPr>
        <p:blipFill>
          <a:blip r:embed="rId3"/>
          <a:stretch>
            <a:fillRect/>
          </a:stretch>
        </p:blipFill>
        <p:spPr>
          <a:xfrm>
            <a:off x="2547562" y="0"/>
            <a:ext cx="5547025" cy="5181895"/>
          </a:xfrm>
          <a:prstGeom prst="rect">
            <a:avLst/>
          </a:prstGeom>
        </p:spPr>
      </p:pic>
    </p:spTree>
    <p:extLst>
      <p:ext uri="{BB962C8B-B14F-4D97-AF65-F5344CB8AC3E}">
        <p14:creationId xmlns:p14="http://schemas.microsoft.com/office/powerpoint/2010/main" val="34732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1</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The lakehouse, layer by layer</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5</a:t>
            </a:r>
            <a:endParaRPr lang="en-US" sz="800" dirty="0"/>
          </a:p>
        </p:txBody>
      </p:sp>
      <p:sp>
        <p:nvSpPr>
          <p:cNvPr id="7" name="Shape 4"/>
          <p:cNvSpPr/>
          <p:nvPr/>
        </p:nvSpPr>
        <p:spPr>
          <a:xfrm>
            <a:off x="502920" y="1481328"/>
            <a:ext cx="91440" cy="91440"/>
          </a:xfrm>
          <a:prstGeom prst="rect">
            <a:avLst/>
          </a:prstGeom>
          <a:solidFill>
            <a:srgbClr val="E31E24"/>
          </a:solidFill>
          <a:ln/>
        </p:spPr>
        <p:txBody>
          <a:bodyPr/>
          <a:lstStyle/>
          <a:p>
            <a:endParaRPr lang="en-US"/>
          </a:p>
        </p:txBody>
      </p:sp>
      <p:sp>
        <p:nvSpPr>
          <p:cNvPr id="8" name="Text 5"/>
          <p:cNvSpPr/>
          <p:nvPr/>
        </p:nvSpPr>
        <p:spPr>
          <a:xfrm>
            <a:off x="722376" y="1380744"/>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One copy of data  </a:t>
            </a:r>
            <a:r>
              <a:rPr lang="en-US" sz="1300" dirty="0">
                <a:solidFill>
                  <a:srgbClr val="55606B"/>
                </a:solidFill>
                <a:latin typeface="Arial" pitchFamily="34" charset="0"/>
                <a:ea typeface="Arial" pitchFamily="34" charset="-122"/>
                <a:cs typeface="Arial" pitchFamily="34" charset="-120"/>
              </a:rPr>
              <a:t>open Parquet + Delta in your cloud account — no warehouse/lake split</a:t>
            </a:r>
            <a:endParaRPr lang="en-US" sz="1300" dirty="0"/>
          </a:p>
        </p:txBody>
      </p:sp>
      <p:sp>
        <p:nvSpPr>
          <p:cNvPr id="9" name="Shape 6"/>
          <p:cNvSpPr/>
          <p:nvPr/>
        </p:nvSpPr>
        <p:spPr>
          <a:xfrm>
            <a:off x="502920" y="2231136"/>
            <a:ext cx="91440" cy="91440"/>
          </a:xfrm>
          <a:prstGeom prst="rect">
            <a:avLst/>
          </a:prstGeom>
          <a:solidFill>
            <a:srgbClr val="E31E24"/>
          </a:solidFill>
          <a:ln/>
        </p:spPr>
        <p:txBody>
          <a:bodyPr/>
          <a:lstStyle/>
          <a:p>
            <a:endParaRPr lang="en-US"/>
          </a:p>
        </p:txBody>
      </p:sp>
      <p:sp>
        <p:nvSpPr>
          <p:cNvPr id="10" name="Text 7"/>
          <p:cNvSpPr/>
          <p:nvPr/>
        </p:nvSpPr>
        <p:spPr>
          <a:xfrm>
            <a:off x="722376" y="2130552"/>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Unified governance  </a:t>
            </a:r>
            <a:r>
              <a:rPr lang="en-US" sz="1300" dirty="0">
                <a:solidFill>
                  <a:srgbClr val="55606B"/>
                </a:solidFill>
                <a:latin typeface="Arial" pitchFamily="34" charset="0"/>
                <a:ea typeface="Arial" pitchFamily="34" charset="-122"/>
                <a:cs typeface="Arial" pitchFamily="34" charset="-120"/>
              </a:rPr>
              <a:t>Unity Catalog secures every table, file, and model in one tree</a:t>
            </a:r>
            <a:endParaRPr lang="en-US" sz="1300" dirty="0"/>
          </a:p>
        </p:txBody>
      </p:sp>
      <p:sp>
        <p:nvSpPr>
          <p:cNvPr id="11" name="Shape 8"/>
          <p:cNvSpPr/>
          <p:nvPr/>
        </p:nvSpPr>
        <p:spPr>
          <a:xfrm>
            <a:off x="502920" y="2980944"/>
            <a:ext cx="91440" cy="91440"/>
          </a:xfrm>
          <a:prstGeom prst="rect">
            <a:avLst/>
          </a:prstGeom>
          <a:solidFill>
            <a:srgbClr val="E31E24"/>
          </a:solidFill>
          <a:ln/>
        </p:spPr>
        <p:txBody>
          <a:bodyPr/>
          <a:lstStyle/>
          <a:p>
            <a:endParaRPr lang="en-US"/>
          </a:p>
        </p:txBody>
      </p:sp>
      <p:sp>
        <p:nvSpPr>
          <p:cNvPr id="12" name="Text 9"/>
          <p:cNvSpPr/>
          <p:nvPr/>
        </p:nvSpPr>
        <p:spPr>
          <a:xfrm>
            <a:off x="722376" y="2880360"/>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Every workload, same tables  </a:t>
            </a:r>
            <a:r>
              <a:rPr lang="en-US" sz="1300" dirty="0">
                <a:solidFill>
                  <a:srgbClr val="55606B"/>
                </a:solidFill>
                <a:latin typeface="Arial" pitchFamily="34" charset="0"/>
                <a:ea typeface="Arial" pitchFamily="34" charset="-122"/>
                <a:cs typeface="Arial" pitchFamily="34" charset="-120"/>
              </a:rPr>
              <a:t>ETL, SQL/BI, streaming, and ML hit identical data</a:t>
            </a:r>
            <a:endParaRPr lang="en-US" sz="1300" dirty="0"/>
          </a:p>
        </p:txBody>
      </p:sp>
      <p:sp>
        <p:nvSpPr>
          <p:cNvPr id="13" name="Shape 10"/>
          <p:cNvSpPr/>
          <p:nvPr/>
        </p:nvSpPr>
        <p:spPr>
          <a:xfrm>
            <a:off x="502920" y="3730752"/>
            <a:ext cx="91440" cy="91440"/>
          </a:xfrm>
          <a:prstGeom prst="rect">
            <a:avLst/>
          </a:prstGeom>
          <a:solidFill>
            <a:srgbClr val="E31E24"/>
          </a:solidFill>
          <a:ln/>
        </p:spPr>
        <p:txBody>
          <a:bodyPr/>
          <a:lstStyle/>
          <a:p>
            <a:endParaRPr lang="en-US"/>
          </a:p>
        </p:txBody>
      </p:sp>
      <p:sp>
        <p:nvSpPr>
          <p:cNvPr id="14" name="Text 11"/>
          <p:cNvSpPr/>
          <p:nvPr/>
        </p:nvSpPr>
        <p:spPr>
          <a:xfrm>
            <a:off x="722376" y="3630168"/>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Open formats = no lock-in  </a:t>
            </a:r>
            <a:r>
              <a:rPr lang="en-US" sz="1300" dirty="0">
                <a:solidFill>
                  <a:srgbClr val="55606B"/>
                </a:solidFill>
                <a:latin typeface="Arial" pitchFamily="34" charset="0"/>
                <a:ea typeface="Arial" pitchFamily="34" charset="-122"/>
                <a:cs typeface="Arial" pitchFamily="34" charset="-120"/>
              </a:rPr>
              <a:t>external engines can read your tables</a:t>
            </a:r>
            <a:endParaRPr lang="en-US" sz="1300" dirty="0"/>
          </a:p>
        </p:txBody>
      </p:sp>
      <p:sp>
        <p:nvSpPr>
          <p:cNvPr id="15" name="Shape 12"/>
          <p:cNvSpPr/>
          <p:nvPr/>
        </p:nvSpPr>
        <p:spPr>
          <a:xfrm>
            <a:off x="4892040" y="1280160"/>
            <a:ext cx="3749040" cy="3383280"/>
          </a:xfrm>
          <a:prstGeom prst="rect">
            <a:avLst/>
          </a:prstGeom>
          <a:solidFill>
            <a:srgbClr val="ECF0F1"/>
          </a:solidFill>
          <a:ln/>
        </p:spPr>
        <p:txBody>
          <a:bodyPr/>
          <a:lstStyle/>
          <a:p>
            <a:endParaRPr lang="en-US"/>
          </a:p>
        </p:txBody>
      </p:sp>
      <p:sp>
        <p:nvSpPr>
          <p:cNvPr id="16" name="Text 13"/>
          <p:cNvSpPr/>
          <p:nvPr/>
        </p:nvSpPr>
        <p:spPr>
          <a:xfrm>
            <a:off x="5093208" y="1408176"/>
            <a:ext cx="3346704" cy="228600"/>
          </a:xfrm>
          <a:prstGeom prst="rect">
            <a:avLst/>
          </a:prstGeom>
          <a:noFill/>
          <a:ln/>
        </p:spPr>
        <p:txBody>
          <a:bodyPr wrap="square" lIns="0" tIns="0" rIns="0" bIns="0" rtlCol="0" anchor="ctr"/>
          <a:lstStyle/>
          <a:p>
            <a:pPr marL="0" indent="0">
              <a:buNone/>
            </a:pPr>
            <a:r>
              <a:rPr lang="en-US" sz="950" b="1" kern="0" spc="200" dirty="0">
                <a:solidFill>
                  <a:srgbClr val="7F8C8D"/>
                </a:solidFill>
                <a:latin typeface="Arial" pitchFamily="34" charset="0"/>
                <a:ea typeface="Arial" pitchFamily="34" charset="-122"/>
                <a:cs typeface="Arial" pitchFamily="34" charset="-120"/>
              </a:rPr>
              <a:t>THE STACK</a:t>
            </a:r>
            <a:endParaRPr lang="en-US" sz="950" dirty="0"/>
          </a:p>
        </p:txBody>
      </p:sp>
      <p:sp>
        <p:nvSpPr>
          <p:cNvPr id="17" name="Shape 14"/>
          <p:cNvSpPr/>
          <p:nvPr/>
        </p:nvSpPr>
        <p:spPr>
          <a:xfrm>
            <a:off x="5120640" y="1645920"/>
            <a:ext cx="3291840" cy="475488"/>
          </a:xfrm>
          <a:prstGeom prst="rect">
            <a:avLst/>
          </a:prstGeom>
          <a:solidFill>
            <a:srgbClr val="E31E24"/>
          </a:solidFill>
          <a:ln/>
        </p:spPr>
        <p:txBody>
          <a:bodyPr/>
          <a:lstStyle/>
          <a:p>
            <a:endParaRPr lang="en-US"/>
          </a:p>
        </p:txBody>
      </p:sp>
      <p:sp>
        <p:nvSpPr>
          <p:cNvPr id="18" name="Text 15"/>
          <p:cNvSpPr/>
          <p:nvPr/>
        </p:nvSpPr>
        <p:spPr>
          <a:xfrm>
            <a:off x="5120640" y="1645920"/>
            <a:ext cx="3291840" cy="475488"/>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WORKLOADS — ETL · SQL/BI · Streaming · ML/AI</a:t>
            </a:r>
            <a:endParaRPr lang="en-US" sz="1000" dirty="0"/>
          </a:p>
        </p:txBody>
      </p:sp>
      <p:sp>
        <p:nvSpPr>
          <p:cNvPr id="19" name="Shape 16"/>
          <p:cNvSpPr/>
          <p:nvPr/>
        </p:nvSpPr>
        <p:spPr>
          <a:xfrm>
            <a:off x="5120640" y="2212848"/>
            <a:ext cx="3291840" cy="475488"/>
          </a:xfrm>
          <a:prstGeom prst="rect">
            <a:avLst/>
          </a:prstGeom>
          <a:solidFill>
            <a:srgbClr val="2C3E50"/>
          </a:solidFill>
          <a:ln/>
        </p:spPr>
        <p:txBody>
          <a:bodyPr/>
          <a:lstStyle/>
          <a:p>
            <a:endParaRPr lang="en-US"/>
          </a:p>
        </p:txBody>
      </p:sp>
      <p:sp>
        <p:nvSpPr>
          <p:cNvPr id="20" name="Text 17"/>
          <p:cNvSpPr/>
          <p:nvPr/>
        </p:nvSpPr>
        <p:spPr>
          <a:xfrm>
            <a:off x="5120640" y="2212848"/>
            <a:ext cx="3291840" cy="475488"/>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COMPUTE — SQL warehouses · serverless · clusters</a:t>
            </a:r>
            <a:endParaRPr lang="en-US" sz="1000" dirty="0"/>
          </a:p>
        </p:txBody>
      </p:sp>
      <p:sp>
        <p:nvSpPr>
          <p:cNvPr id="21" name="Shape 18"/>
          <p:cNvSpPr/>
          <p:nvPr/>
        </p:nvSpPr>
        <p:spPr>
          <a:xfrm>
            <a:off x="5120640" y="2779776"/>
            <a:ext cx="3291840" cy="475488"/>
          </a:xfrm>
          <a:prstGeom prst="rect">
            <a:avLst/>
          </a:prstGeom>
          <a:solidFill>
            <a:srgbClr val="3D5166"/>
          </a:solidFill>
          <a:ln/>
        </p:spPr>
        <p:txBody>
          <a:bodyPr/>
          <a:lstStyle/>
          <a:p>
            <a:endParaRPr lang="en-US"/>
          </a:p>
        </p:txBody>
      </p:sp>
      <p:sp>
        <p:nvSpPr>
          <p:cNvPr id="22" name="Text 19"/>
          <p:cNvSpPr/>
          <p:nvPr/>
        </p:nvSpPr>
        <p:spPr>
          <a:xfrm>
            <a:off x="5120640" y="2779776"/>
            <a:ext cx="3291840" cy="475488"/>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UNITY CATALOG — governance &amp; lineage</a:t>
            </a:r>
            <a:endParaRPr lang="en-US" sz="1000" dirty="0"/>
          </a:p>
        </p:txBody>
      </p:sp>
      <p:sp>
        <p:nvSpPr>
          <p:cNvPr id="23" name="Shape 20"/>
          <p:cNvSpPr/>
          <p:nvPr/>
        </p:nvSpPr>
        <p:spPr>
          <a:xfrm>
            <a:off x="5120640" y="3346704"/>
            <a:ext cx="3291840" cy="475488"/>
          </a:xfrm>
          <a:prstGeom prst="rect">
            <a:avLst/>
          </a:prstGeom>
          <a:solidFill>
            <a:srgbClr val="566B80"/>
          </a:solidFill>
          <a:ln/>
        </p:spPr>
        <p:txBody>
          <a:bodyPr/>
          <a:lstStyle/>
          <a:p>
            <a:endParaRPr lang="en-US"/>
          </a:p>
        </p:txBody>
      </p:sp>
      <p:sp>
        <p:nvSpPr>
          <p:cNvPr id="24" name="Text 21"/>
          <p:cNvSpPr/>
          <p:nvPr/>
        </p:nvSpPr>
        <p:spPr>
          <a:xfrm>
            <a:off x="5120640" y="3346704"/>
            <a:ext cx="3291840" cy="475488"/>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DELTA LAKE — ACID on open Parquet</a:t>
            </a:r>
            <a:endParaRPr lang="en-US" sz="1000" dirty="0"/>
          </a:p>
        </p:txBody>
      </p:sp>
      <p:sp>
        <p:nvSpPr>
          <p:cNvPr id="25" name="Shape 22"/>
          <p:cNvSpPr/>
          <p:nvPr/>
        </p:nvSpPr>
        <p:spPr>
          <a:xfrm>
            <a:off x="5120640" y="3913632"/>
            <a:ext cx="3291840" cy="475488"/>
          </a:xfrm>
          <a:prstGeom prst="rect">
            <a:avLst/>
          </a:prstGeom>
          <a:solidFill>
            <a:srgbClr val="6E8092"/>
          </a:solidFill>
          <a:ln/>
        </p:spPr>
        <p:txBody>
          <a:bodyPr/>
          <a:lstStyle/>
          <a:p>
            <a:endParaRPr lang="en-US"/>
          </a:p>
        </p:txBody>
      </p:sp>
      <p:sp>
        <p:nvSpPr>
          <p:cNvPr id="26" name="Text 23"/>
          <p:cNvSpPr/>
          <p:nvPr/>
        </p:nvSpPr>
        <p:spPr>
          <a:xfrm>
            <a:off x="5120640" y="3913632"/>
            <a:ext cx="3291840" cy="475488"/>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CLOUD OBJECT STORAGE — S3 · ADLS · GCS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5D39EE-F6E1-B88A-F177-61C10DE18D2A}"/>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7">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6" name="Isosceles Triangle 45">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20AA2648-A550-F385-DE26-7E524D34E64B}"/>
              </a:ext>
            </a:extLst>
          </p:cNvPr>
          <p:cNvPicPr>
            <a:picLocks noChangeAspect="1"/>
          </p:cNvPicPr>
          <p:nvPr/>
        </p:nvPicPr>
        <p:blipFill>
          <a:blip r:embed="rId3"/>
          <a:stretch>
            <a:fillRect/>
          </a:stretch>
        </p:blipFill>
        <p:spPr>
          <a:xfrm>
            <a:off x="857956" y="482600"/>
            <a:ext cx="7428086" cy="4178299"/>
          </a:xfrm>
          <a:prstGeom prst="rect">
            <a:avLst/>
          </a:prstGeom>
          <a:ln>
            <a:noFill/>
          </a:ln>
        </p:spPr>
      </p:pic>
      <p:sp>
        <p:nvSpPr>
          <p:cNvPr id="37" name="Isosceles Triangle 47">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770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1</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Pick the right compute for the job</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6</a:t>
            </a:r>
            <a:endParaRPr lang="en-US" sz="800" dirty="0"/>
          </a:p>
        </p:txBody>
      </p:sp>
      <p:sp>
        <p:nvSpPr>
          <p:cNvPr id="7" name="Shape 4"/>
          <p:cNvSpPr/>
          <p:nvPr/>
        </p:nvSpPr>
        <p:spPr>
          <a:xfrm>
            <a:off x="502920" y="1325880"/>
            <a:ext cx="3954780" cy="1298448"/>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8" name="Shape 5"/>
          <p:cNvSpPr/>
          <p:nvPr/>
        </p:nvSpPr>
        <p:spPr>
          <a:xfrm>
            <a:off x="502920" y="1325880"/>
            <a:ext cx="64008" cy="1298448"/>
          </a:xfrm>
          <a:prstGeom prst="rect">
            <a:avLst/>
          </a:prstGeom>
          <a:solidFill>
            <a:srgbClr val="E31E24"/>
          </a:solidFill>
          <a:ln/>
        </p:spPr>
        <p:txBody>
          <a:bodyPr/>
          <a:lstStyle/>
          <a:p>
            <a:endParaRPr lang="en-US"/>
          </a:p>
        </p:txBody>
      </p:sp>
      <p:sp>
        <p:nvSpPr>
          <p:cNvPr id="9" name="Text 6"/>
          <p:cNvSpPr/>
          <p:nvPr/>
        </p:nvSpPr>
        <p:spPr>
          <a:xfrm>
            <a:off x="685800" y="1435608"/>
            <a:ext cx="358902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1</a:t>
            </a:r>
            <a:endParaRPr lang="en-US" sz="1700" dirty="0"/>
          </a:p>
        </p:txBody>
      </p:sp>
      <p:sp>
        <p:nvSpPr>
          <p:cNvPr id="10" name="Text 7"/>
          <p:cNvSpPr/>
          <p:nvPr/>
        </p:nvSpPr>
        <p:spPr>
          <a:xfrm>
            <a:off x="685800" y="1746504"/>
            <a:ext cx="360730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Serverless SQL warehouse</a:t>
            </a:r>
            <a:endParaRPr lang="en-US" sz="1250" dirty="0"/>
          </a:p>
        </p:txBody>
      </p:sp>
      <p:sp>
        <p:nvSpPr>
          <p:cNvPr id="11" name="Text 8"/>
          <p:cNvSpPr/>
          <p:nvPr/>
        </p:nvSpPr>
        <p:spPr>
          <a:xfrm>
            <a:off x="685800" y="2093976"/>
            <a:ext cx="3607308" cy="429768"/>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SQL analytics, BI, dashboards. Instant start, auto-scaling. SQL-only teams' default.</a:t>
            </a:r>
            <a:endParaRPr lang="en-US" sz="1050" dirty="0"/>
          </a:p>
        </p:txBody>
      </p:sp>
      <p:sp>
        <p:nvSpPr>
          <p:cNvPr id="12" name="Shape 9"/>
          <p:cNvSpPr/>
          <p:nvPr/>
        </p:nvSpPr>
        <p:spPr>
          <a:xfrm>
            <a:off x="4686300" y="1325880"/>
            <a:ext cx="3954780" cy="1298448"/>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13" name="Shape 10"/>
          <p:cNvSpPr/>
          <p:nvPr/>
        </p:nvSpPr>
        <p:spPr>
          <a:xfrm>
            <a:off x="4686300" y="1325880"/>
            <a:ext cx="64008" cy="1298448"/>
          </a:xfrm>
          <a:prstGeom prst="rect">
            <a:avLst/>
          </a:prstGeom>
          <a:solidFill>
            <a:srgbClr val="E31E24"/>
          </a:solidFill>
          <a:ln/>
        </p:spPr>
        <p:txBody>
          <a:bodyPr/>
          <a:lstStyle/>
          <a:p>
            <a:endParaRPr lang="en-US"/>
          </a:p>
        </p:txBody>
      </p:sp>
      <p:sp>
        <p:nvSpPr>
          <p:cNvPr id="14" name="Text 11"/>
          <p:cNvSpPr/>
          <p:nvPr/>
        </p:nvSpPr>
        <p:spPr>
          <a:xfrm>
            <a:off x="4869180" y="1435608"/>
            <a:ext cx="358902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2</a:t>
            </a:r>
            <a:endParaRPr lang="en-US" sz="1700" dirty="0"/>
          </a:p>
        </p:txBody>
      </p:sp>
      <p:sp>
        <p:nvSpPr>
          <p:cNvPr id="15" name="Text 12"/>
          <p:cNvSpPr/>
          <p:nvPr/>
        </p:nvSpPr>
        <p:spPr>
          <a:xfrm>
            <a:off x="4869180" y="1746504"/>
            <a:ext cx="360730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Serverless notebook / job compute</a:t>
            </a:r>
            <a:endParaRPr lang="en-US" sz="1250" dirty="0"/>
          </a:p>
        </p:txBody>
      </p:sp>
      <p:sp>
        <p:nvSpPr>
          <p:cNvPr id="16" name="Text 13"/>
          <p:cNvSpPr/>
          <p:nvPr/>
        </p:nvSpPr>
        <p:spPr>
          <a:xfrm>
            <a:off x="4869180" y="2093976"/>
            <a:ext cx="3607308" cy="429768"/>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Python + SQL without cluster management. Hands-off, auto-optimized — exam keyword.</a:t>
            </a:r>
            <a:endParaRPr lang="en-US" sz="1050" dirty="0"/>
          </a:p>
        </p:txBody>
      </p:sp>
      <p:sp>
        <p:nvSpPr>
          <p:cNvPr id="17" name="Shape 14"/>
          <p:cNvSpPr/>
          <p:nvPr/>
        </p:nvSpPr>
        <p:spPr>
          <a:xfrm>
            <a:off x="502920" y="2852928"/>
            <a:ext cx="3954780" cy="1298448"/>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18" name="Shape 15"/>
          <p:cNvSpPr/>
          <p:nvPr/>
        </p:nvSpPr>
        <p:spPr>
          <a:xfrm>
            <a:off x="502920" y="2852928"/>
            <a:ext cx="64008" cy="1298448"/>
          </a:xfrm>
          <a:prstGeom prst="rect">
            <a:avLst/>
          </a:prstGeom>
          <a:solidFill>
            <a:srgbClr val="E31E24"/>
          </a:solidFill>
          <a:ln/>
        </p:spPr>
        <p:txBody>
          <a:bodyPr/>
          <a:lstStyle/>
          <a:p>
            <a:endParaRPr lang="en-US"/>
          </a:p>
        </p:txBody>
      </p:sp>
      <p:sp>
        <p:nvSpPr>
          <p:cNvPr id="19" name="Text 16"/>
          <p:cNvSpPr/>
          <p:nvPr/>
        </p:nvSpPr>
        <p:spPr>
          <a:xfrm>
            <a:off x="685800" y="2962656"/>
            <a:ext cx="358902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3</a:t>
            </a:r>
            <a:endParaRPr lang="en-US" sz="1700" dirty="0"/>
          </a:p>
        </p:txBody>
      </p:sp>
      <p:sp>
        <p:nvSpPr>
          <p:cNvPr id="20" name="Text 17"/>
          <p:cNvSpPr/>
          <p:nvPr/>
        </p:nvSpPr>
        <p:spPr>
          <a:xfrm>
            <a:off x="685800" y="3273552"/>
            <a:ext cx="360730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All-purpose cluster</a:t>
            </a:r>
            <a:endParaRPr lang="en-US" sz="1250" dirty="0"/>
          </a:p>
        </p:txBody>
      </p:sp>
      <p:sp>
        <p:nvSpPr>
          <p:cNvPr id="21" name="Text 18"/>
          <p:cNvSpPr/>
          <p:nvPr/>
        </p:nvSpPr>
        <p:spPr>
          <a:xfrm>
            <a:off x="685800" y="3621024"/>
            <a:ext cx="3607308" cy="429768"/>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Interactive development, shared by humans. Lingers — more expensive per job. (Concept on Free Edition.)</a:t>
            </a:r>
            <a:endParaRPr lang="en-US" sz="1050" dirty="0"/>
          </a:p>
        </p:txBody>
      </p:sp>
      <p:sp>
        <p:nvSpPr>
          <p:cNvPr id="22" name="Shape 19"/>
          <p:cNvSpPr/>
          <p:nvPr/>
        </p:nvSpPr>
        <p:spPr>
          <a:xfrm>
            <a:off x="4686300" y="2852928"/>
            <a:ext cx="3954780" cy="1298448"/>
          </a:xfrm>
          <a:prstGeom prst="rect">
            <a:avLst/>
          </a:prstGeom>
          <a:solidFill>
            <a:srgbClr val="FFFFFF"/>
          </a:solidFill>
          <a:ln w="12700">
            <a:solidFill>
              <a:srgbClr val="D8DEE2"/>
            </a:solidFill>
            <a:prstDash val="solid"/>
          </a:ln>
          <a:effectLst>
            <a:outerShdw blurRad="88900" dist="25400" dir="5400000" algn="bl" rotWithShape="0">
              <a:srgbClr val="9AA5AD">
                <a:alpha val="30000"/>
              </a:srgbClr>
            </a:outerShdw>
          </a:effectLst>
        </p:spPr>
        <p:txBody>
          <a:bodyPr/>
          <a:lstStyle/>
          <a:p>
            <a:endParaRPr lang="en-US"/>
          </a:p>
        </p:txBody>
      </p:sp>
      <p:sp>
        <p:nvSpPr>
          <p:cNvPr id="23" name="Shape 20"/>
          <p:cNvSpPr/>
          <p:nvPr/>
        </p:nvSpPr>
        <p:spPr>
          <a:xfrm>
            <a:off x="4686300" y="2852928"/>
            <a:ext cx="64008" cy="1298448"/>
          </a:xfrm>
          <a:prstGeom prst="rect">
            <a:avLst/>
          </a:prstGeom>
          <a:solidFill>
            <a:srgbClr val="E31E24"/>
          </a:solidFill>
          <a:ln/>
        </p:spPr>
        <p:txBody>
          <a:bodyPr/>
          <a:lstStyle/>
          <a:p>
            <a:endParaRPr lang="en-US"/>
          </a:p>
        </p:txBody>
      </p:sp>
      <p:sp>
        <p:nvSpPr>
          <p:cNvPr id="24" name="Text 21"/>
          <p:cNvSpPr/>
          <p:nvPr/>
        </p:nvSpPr>
        <p:spPr>
          <a:xfrm>
            <a:off x="4869180" y="2962656"/>
            <a:ext cx="3589020" cy="320040"/>
          </a:xfrm>
          <a:prstGeom prst="rect">
            <a:avLst/>
          </a:prstGeom>
          <a:noFill/>
          <a:ln/>
        </p:spPr>
        <p:txBody>
          <a:bodyPr wrap="square" lIns="0" tIns="0" rIns="0" bIns="0" rtlCol="0" anchor="ctr"/>
          <a:lstStyle/>
          <a:p>
            <a:pPr marL="0" indent="0">
              <a:buNone/>
            </a:pPr>
            <a:r>
              <a:rPr lang="en-US" sz="1700" b="1" dirty="0">
                <a:solidFill>
                  <a:srgbClr val="E31E24"/>
                </a:solidFill>
                <a:latin typeface="Arial" pitchFamily="34" charset="0"/>
                <a:ea typeface="Arial" pitchFamily="34" charset="-122"/>
                <a:cs typeface="Arial" pitchFamily="34" charset="-120"/>
              </a:rPr>
              <a:t>4</a:t>
            </a:r>
            <a:endParaRPr lang="en-US" sz="1700" dirty="0"/>
          </a:p>
        </p:txBody>
      </p:sp>
      <p:sp>
        <p:nvSpPr>
          <p:cNvPr id="25" name="Text 22"/>
          <p:cNvSpPr/>
          <p:nvPr/>
        </p:nvSpPr>
        <p:spPr>
          <a:xfrm>
            <a:off x="4869180" y="3273552"/>
            <a:ext cx="3607308" cy="384048"/>
          </a:xfrm>
          <a:prstGeom prst="rect">
            <a:avLst/>
          </a:prstGeom>
          <a:noFill/>
          <a:ln/>
        </p:spPr>
        <p:txBody>
          <a:bodyPr wrap="square" lIns="0" tIns="0" rIns="0" bIns="0" rtlCol="0" anchor="ctr"/>
          <a:lstStyle/>
          <a:p>
            <a:pPr marL="0" indent="0">
              <a:lnSpc>
                <a:spcPts val="1400"/>
              </a:lnSpc>
              <a:buNone/>
            </a:pPr>
            <a:r>
              <a:rPr lang="en-US" sz="1250" b="1" dirty="0">
                <a:solidFill>
                  <a:srgbClr val="2C3E50"/>
                </a:solidFill>
                <a:latin typeface="Arial" pitchFamily="34" charset="0"/>
                <a:ea typeface="Arial" pitchFamily="34" charset="-122"/>
                <a:cs typeface="Arial" pitchFamily="34" charset="-120"/>
              </a:rPr>
              <a:t>Job cluster / job compute</a:t>
            </a:r>
            <a:endParaRPr lang="en-US" sz="1250" dirty="0"/>
          </a:p>
        </p:txBody>
      </p:sp>
      <p:sp>
        <p:nvSpPr>
          <p:cNvPr id="26" name="Text 23"/>
          <p:cNvSpPr/>
          <p:nvPr/>
        </p:nvSpPr>
        <p:spPr>
          <a:xfrm>
            <a:off x="4869180" y="3621024"/>
            <a:ext cx="3607308" cy="429768"/>
          </a:xfrm>
          <a:prstGeom prst="rect">
            <a:avLst/>
          </a:prstGeom>
          <a:noFill/>
          <a:ln/>
        </p:spPr>
        <p:txBody>
          <a:bodyPr wrap="square" lIns="0" tIns="0" rIns="0" bIns="0" rtlCol="0" anchor="t"/>
          <a:lstStyle/>
          <a:p>
            <a:pPr marL="0" indent="0">
              <a:lnSpc>
                <a:spcPts val="1400"/>
              </a:lnSpc>
              <a:buNone/>
            </a:pPr>
            <a:r>
              <a:rPr lang="en-US" sz="1050" dirty="0">
                <a:solidFill>
                  <a:srgbClr val="55606B"/>
                </a:solidFill>
                <a:latin typeface="Arial" pitchFamily="34" charset="0"/>
                <a:ea typeface="Arial" pitchFamily="34" charset="-122"/>
                <a:cs typeface="Arial" pitchFamily="34" charset="-120"/>
              </a:rPr>
              <a:t>Created per run, terminated after. THE production answer on cost grounds. (Concept on Free Edition.)</a:t>
            </a:r>
            <a:endParaRPr lang="en-US" sz="1050" dirty="0"/>
          </a:p>
        </p:txBody>
      </p:sp>
      <p:sp>
        <p:nvSpPr>
          <p:cNvPr id="27" name="Shape 24"/>
          <p:cNvSpPr/>
          <p:nvPr/>
        </p:nvSpPr>
        <p:spPr>
          <a:xfrm>
            <a:off x="502920" y="4174622"/>
            <a:ext cx="8138160" cy="566928"/>
          </a:xfrm>
          <a:prstGeom prst="rect">
            <a:avLst/>
          </a:prstGeom>
          <a:solidFill>
            <a:srgbClr val="FDF3F3"/>
          </a:solidFill>
          <a:ln/>
        </p:spPr>
        <p:txBody>
          <a:bodyPr/>
          <a:lstStyle/>
          <a:p>
            <a:endParaRPr lang="en-US"/>
          </a:p>
        </p:txBody>
      </p:sp>
      <p:sp>
        <p:nvSpPr>
          <p:cNvPr id="28" name="Shape 25"/>
          <p:cNvSpPr/>
          <p:nvPr/>
        </p:nvSpPr>
        <p:spPr>
          <a:xfrm>
            <a:off x="502920" y="4174622"/>
            <a:ext cx="54864" cy="566928"/>
          </a:xfrm>
          <a:prstGeom prst="rect">
            <a:avLst/>
          </a:prstGeom>
          <a:solidFill>
            <a:srgbClr val="E31E24"/>
          </a:solidFill>
          <a:ln/>
        </p:spPr>
        <p:txBody>
          <a:bodyPr/>
          <a:lstStyle/>
          <a:p>
            <a:endParaRPr lang="en-US"/>
          </a:p>
        </p:txBody>
      </p:sp>
      <p:sp>
        <p:nvSpPr>
          <p:cNvPr id="29" name="Text 26"/>
          <p:cNvSpPr/>
          <p:nvPr/>
        </p:nvSpPr>
        <p:spPr>
          <a:xfrm>
            <a:off x="704088" y="4229486"/>
            <a:ext cx="7772400" cy="457200"/>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COMMON TRAP   </a:t>
            </a:r>
            <a:r>
              <a:rPr lang="en-US" sz="1100" dirty="0">
                <a:solidFill>
                  <a:srgbClr val="2C3E50"/>
                </a:solidFill>
                <a:latin typeface="Arial" pitchFamily="34" charset="0"/>
                <a:ea typeface="Arial" pitchFamily="34" charset="-122"/>
                <a:cs typeface="Arial" pitchFamily="34" charset="-120"/>
              </a:rPr>
              <a:t>“All-purpose clusters for production because they're always on” — backwards. Job compute terminates; that's why it wins.</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1 · DELTA LAKE</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A Delta table is just files — plus a log</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7</a:t>
            </a:r>
            <a:endParaRPr lang="en-US" sz="800" dirty="0"/>
          </a:p>
        </p:txBody>
      </p:sp>
      <p:sp>
        <p:nvSpPr>
          <p:cNvPr id="7" name="Shape 4"/>
          <p:cNvSpPr/>
          <p:nvPr/>
        </p:nvSpPr>
        <p:spPr>
          <a:xfrm>
            <a:off x="502920" y="1481328"/>
            <a:ext cx="91440" cy="91440"/>
          </a:xfrm>
          <a:prstGeom prst="rect">
            <a:avLst/>
          </a:prstGeom>
          <a:solidFill>
            <a:srgbClr val="E31E24"/>
          </a:solidFill>
          <a:ln/>
        </p:spPr>
        <p:txBody>
          <a:bodyPr/>
          <a:lstStyle/>
          <a:p>
            <a:endParaRPr lang="en-US"/>
          </a:p>
        </p:txBody>
      </p:sp>
      <p:sp>
        <p:nvSpPr>
          <p:cNvPr id="8" name="Text 5"/>
          <p:cNvSpPr/>
          <p:nvPr/>
        </p:nvSpPr>
        <p:spPr>
          <a:xfrm>
            <a:off x="722376" y="1380744"/>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Parquet + _delta_log  </a:t>
            </a:r>
            <a:r>
              <a:rPr lang="en-US" sz="1300" dirty="0">
                <a:solidFill>
                  <a:srgbClr val="55606B"/>
                </a:solidFill>
                <a:latin typeface="Arial" pitchFamily="34" charset="0"/>
                <a:ea typeface="Arial" pitchFamily="34" charset="-122"/>
                <a:cs typeface="Arial" pitchFamily="34" charset="-120"/>
              </a:rPr>
              <a:t>ordered JSON commits + checkpoints are the source of truth</a:t>
            </a:r>
            <a:endParaRPr lang="en-US" sz="1300" dirty="0"/>
          </a:p>
        </p:txBody>
      </p:sp>
      <p:sp>
        <p:nvSpPr>
          <p:cNvPr id="9" name="Shape 6"/>
          <p:cNvSpPr/>
          <p:nvPr/>
        </p:nvSpPr>
        <p:spPr>
          <a:xfrm>
            <a:off x="502920" y="2231136"/>
            <a:ext cx="91440" cy="91440"/>
          </a:xfrm>
          <a:prstGeom prst="rect">
            <a:avLst/>
          </a:prstGeom>
          <a:solidFill>
            <a:srgbClr val="E31E24"/>
          </a:solidFill>
          <a:ln/>
        </p:spPr>
        <p:txBody>
          <a:bodyPr/>
          <a:lstStyle/>
          <a:p>
            <a:endParaRPr lang="en-US"/>
          </a:p>
        </p:txBody>
      </p:sp>
      <p:sp>
        <p:nvSpPr>
          <p:cNvPr id="10" name="Text 7"/>
          <p:cNvSpPr/>
          <p:nvPr/>
        </p:nvSpPr>
        <p:spPr>
          <a:xfrm>
            <a:off x="722376" y="2130552"/>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ACID on object storage  </a:t>
            </a:r>
            <a:r>
              <a:rPr lang="en-US" sz="1300" dirty="0">
                <a:solidFill>
                  <a:srgbClr val="55606B"/>
                </a:solidFill>
                <a:latin typeface="Arial" pitchFamily="34" charset="0"/>
                <a:ea typeface="Arial" pitchFamily="34" charset="-122"/>
                <a:cs typeface="Arial" pitchFamily="34" charset="-120"/>
              </a:rPr>
              <a:t>readers always see the latest committed snapshot</a:t>
            </a:r>
            <a:endParaRPr lang="en-US" sz="1300" dirty="0"/>
          </a:p>
        </p:txBody>
      </p:sp>
      <p:sp>
        <p:nvSpPr>
          <p:cNvPr id="11" name="Shape 8"/>
          <p:cNvSpPr/>
          <p:nvPr/>
        </p:nvSpPr>
        <p:spPr>
          <a:xfrm>
            <a:off x="502920" y="2980944"/>
            <a:ext cx="91440" cy="91440"/>
          </a:xfrm>
          <a:prstGeom prst="rect">
            <a:avLst/>
          </a:prstGeom>
          <a:solidFill>
            <a:srgbClr val="E31E24"/>
          </a:solidFill>
          <a:ln/>
        </p:spPr>
        <p:txBody>
          <a:bodyPr/>
          <a:lstStyle/>
          <a:p>
            <a:endParaRPr lang="en-US"/>
          </a:p>
        </p:txBody>
      </p:sp>
      <p:sp>
        <p:nvSpPr>
          <p:cNvPr id="12" name="Text 9"/>
          <p:cNvSpPr/>
          <p:nvPr/>
        </p:nvSpPr>
        <p:spPr>
          <a:xfrm>
            <a:off x="722376" y="2880360"/>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Default format  </a:t>
            </a:r>
            <a:r>
              <a:rPr lang="en-US" sz="1300" dirty="0">
                <a:solidFill>
                  <a:srgbClr val="55606B"/>
                </a:solidFill>
                <a:latin typeface="Arial" pitchFamily="34" charset="0"/>
                <a:ea typeface="Arial" pitchFamily="34" charset="-122"/>
                <a:cs typeface="Arial" pitchFamily="34" charset="-120"/>
              </a:rPr>
              <a:t>USING DELTA is implicit — an exam-tested fact</a:t>
            </a:r>
            <a:endParaRPr lang="en-US" sz="1300" dirty="0"/>
          </a:p>
        </p:txBody>
      </p:sp>
      <p:sp>
        <p:nvSpPr>
          <p:cNvPr id="13" name="Shape 10"/>
          <p:cNvSpPr/>
          <p:nvPr/>
        </p:nvSpPr>
        <p:spPr>
          <a:xfrm>
            <a:off x="502920" y="3730752"/>
            <a:ext cx="91440" cy="91440"/>
          </a:xfrm>
          <a:prstGeom prst="rect">
            <a:avLst/>
          </a:prstGeom>
          <a:solidFill>
            <a:srgbClr val="E31E24"/>
          </a:solidFill>
          <a:ln/>
        </p:spPr>
        <p:txBody>
          <a:bodyPr/>
          <a:lstStyle/>
          <a:p>
            <a:endParaRPr lang="en-US"/>
          </a:p>
        </p:txBody>
      </p:sp>
      <p:sp>
        <p:nvSpPr>
          <p:cNvPr id="14" name="Text 11"/>
          <p:cNvSpPr/>
          <p:nvPr/>
        </p:nvSpPr>
        <p:spPr>
          <a:xfrm>
            <a:off x="722376" y="3630168"/>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Open standard  </a:t>
            </a:r>
            <a:r>
              <a:rPr lang="en-US" sz="1300" dirty="0">
                <a:solidFill>
                  <a:srgbClr val="55606B"/>
                </a:solidFill>
                <a:latin typeface="Arial" pitchFamily="34" charset="0"/>
                <a:ea typeface="Arial" pitchFamily="34" charset="-122"/>
                <a:cs typeface="Arial" pitchFamily="34" charset="-120"/>
              </a:rPr>
              <a:t>readable by non-Databricks engines</a:t>
            </a:r>
            <a:endParaRPr lang="en-US" sz="1300" dirty="0"/>
          </a:p>
        </p:txBody>
      </p:sp>
      <p:sp>
        <p:nvSpPr>
          <p:cNvPr id="15" name="Shape 12"/>
          <p:cNvSpPr/>
          <p:nvPr/>
        </p:nvSpPr>
        <p:spPr>
          <a:xfrm>
            <a:off x="4892040" y="1280160"/>
            <a:ext cx="3749040" cy="3383280"/>
          </a:xfrm>
          <a:prstGeom prst="rect">
            <a:avLst/>
          </a:prstGeom>
          <a:solidFill>
            <a:srgbClr val="ECF0F1"/>
          </a:solidFill>
          <a:ln/>
        </p:spPr>
        <p:txBody>
          <a:bodyPr/>
          <a:lstStyle/>
          <a:p>
            <a:endParaRPr lang="en-US"/>
          </a:p>
        </p:txBody>
      </p:sp>
      <p:sp>
        <p:nvSpPr>
          <p:cNvPr id="16" name="Text 13"/>
          <p:cNvSpPr/>
          <p:nvPr/>
        </p:nvSpPr>
        <p:spPr>
          <a:xfrm>
            <a:off x="5093208" y="1408176"/>
            <a:ext cx="3346704" cy="228600"/>
          </a:xfrm>
          <a:prstGeom prst="rect">
            <a:avLst/>
          </a:prstGeom>
          <a:noFill/>
          <a:ln/>
        </p:spPr>
        <p:txBody>
          <a:bodyPr wrap="square" lIns="0" tIns="0" rIns="0" bIns="0" rtlCol="0" anchor="ctr"/>
          <a:lstStyle/>
          <a:p>
            <a:pPr marL="0" indent="0">
              <a:buNone/>
            </a:pPr>
            <a:r>
              <a:rPr lang="en-US" sz="950" b="1" kern="0" spc="200" dirty="0">
                <a:solidFill>
                  <a:srgbClr val="7F8C8D"/>
                </a:solidFill>
                <a:latin typeface="Arial" pitchFamily="34" charset="0"/>
                <a:ea typeface="Arial" pitchFamily="34" charset="-122"/>
                <a:cs typeface="Arial" pitchFamily="34" charset="-120"/>
              </a:rPr>
              <a:t>INSIDE THE TABLE DIRECTORY</a:t>
            </a:r>
            <a:endParaRPr lang="en-US" sz="950" dirty="0"/>
          </a:p>
        </p:txBody>
      </p:sp>
      <p:sp>
        <p:nvSpPr>
          <p:cNvPr id="17" name="Shape 14"/>
          <p:cNvSpPr/>
          <p:nvPr/>
        </p:nvSpPr>
        <p:spPr>
          <a:xfrm>
            <a:off x="5120640" y="1645920"/>
            <a:ext cx="3291840" cy="384048"/>
          </a:xfrm>
          <a:prstGeom prst="rect">
            <a:avLst/>
          </a:prstGeom>
          <a:solidFill>
            <a:srgbClr val="2C3E50"/>
          </a:solidFill>
          <a:ln/>
        </p:spPr>
        <p:txBody>
          <a:bodyPr/>
          <a:lstStyle/>
          <a:p>
            <a:endParaRPr lang="en-US"/>
          </a:p>
        </p:txBody>
      </p:sp>
      <p:sp>
        <p:nvSpPr>
          <p:cNvPr id="18" name="Text 15"/>
          <p:cNvSpPr/>
          <p:nvPr/>
        </p:nvSpPr>
        <p:spPr>
          <a:xfrm>
            <a:off x="5120640" y="1645920"/>
            <a:ext cx="3291840" cy="384048"/>
          </a:xfrm>
          <a:prstGeom prst="rect">
            <a:avLst/>
          </a:prstGeom>
          <a:noFill/>
          <a:ln/>
        </p:spPr>
        <p:txBody>
          <a:bodyPr wrap="square" lIns="381" tIns="381" rIns="381" bIns="381" rtlCol="0" anchor="ctr"/>
          <a:lstStyle/>
          <a:p>
            <a:pPr marL="0" indent="0" algn="ctr">
              <a:lnSpc>
                <a:spcPts val="1250"/>
              </a:lnSpc>
              <a:buNone/>
            </a:pPr>
            <a:r>
              <a:rPr lang="en-US" sz="1100" b="1" dirty="0">
                <a:solidFill>
                  <a:srgbClr val="FFFFFF"/>
                </a:solidFill>
                <a:latin typeface="Arial" pitchFamily="34" charset="0"/>
                <a:ea typeface="Arial" pitchFamily="34" charset="-122"/>
                <a:cs typeface="Arial" pitchFamily="34" charset="-120"/>
              </a:rPr>
              <a:t>my_table/</a:t>
            </a:r>
            <a:endParaRPr lang="en-US" sz="1100" dirty="0"/>
          </a:p>
        </p:txBody>
      </p:sp>
      <p:sp>
        <p:nvSpPr>
          <p:cNvPr id="19" name="Shape 16"/>
          <p:cNvSpPr/>
          <p:nvPr/>
        </p:nvSpPr>
        <p:spPr>
          <a:xfrm>
            <a:off x="5349240" y="2121408"/>
            <a:ext cx="3063240" cy="347472"/>
          </a:xfrm>
          <a:prstGeom prst="rect">
            <a:avLst/>
          </a:prstGeom>
          <a:solidFill>
            <a:srgbClr val="FFFFFF"/>
          </a:solidFill>
          <a:ln w="12700">
            <a:solidFill>
              <a:srgbClr val="D8DEE2"/>
            </a:solidFill>
            <a:prstDash val="solid"/>
          </a:ln>
        </p:spPr>
        <p:txBody>
          <a:bodyPr/>
          <a:lstStyle/>
          <a:p>
            <a:endParaRPr lang="en-US"/>
          </a:p>
        </p:txBody>
      </p:sp>
      <p:sp>
        <p:nvSpPr>
          <p:cNvPr id="20" name="Text 17"/>
          <p:cNvSpPr/>
          <p:nvPr/>
        </p:nvSpPr>
        <p:spPr>
          <a:xfrm>
            <a:off x="5349240" y="2121408"/>
            <a:ext cx="3063240" cy="347472"/>
          </a:xfrm>
          <a:prstGeom prst="rect">
            <a:avLst/>
          </a:prstGeom>
          <a:noFill/>
          <a:ln/>
        </p:spPr>
        <p:txBody>
          <a:bodyPr wrap="square" lIns="381" tIns="381" rIns="381" bIns="381" rtlCol="0" anchor="ctr"/>
          <a:lstStyle/>
          <a:p>
            <a:pPr marL="0" indent="0" algn="ctr">
              <a:lnSpc>
                <a:spcPts val="1150"/>
              </a:lnSpc>
              <a:buNone/>
            </a:pPr>
            <a:r>
              <a:rPr lang="en-US" sz="1000" dirty="0">
                <a:solidFill>
                  <a:srgbClr val="2C3E50"/>
                </a:solidFill>
                <a:latin typeface="Arial" pitchFamily="34" charset="0"/>
                <a:ea typeface="Arial" pitchFamily="34" charset="-122"/>
                <a:cs typeface="Arial" pitchFamily="34" charset="-120"/>
              </a:rPr>
              <a:t>part-0001.parquet</a:t>
            </a:r>
            <a:endParaRPr lang="en-US" sz="1000" dirty="0"/>
          </a:p>
        </p:txBody>
      </p:sp>
      <p:sp>
        <p:nvSpPr>
          <p:cNvPr id="21" name="Shape 18"/>
          <p:cNvSpPr/>
          <p:nvPr/>
        </p:nvSpPr>
        <p:spPr>
          <a:xfrm>
            <a:off x="5349240" y="2542032"/>
            <a:ext cx="3063240" cy="347472"/>
          </a:xfrm>
          <a:prstGeom prst="rect">
            <a:avLst/>
          </a:prstGeom>
          <a:solidFill>
            <a:srgbClr val="FFFFFF"/>
          </a:solidFill>
          <a:ln w="12700">
            <a:solidFill>
              <a:srgbClr val="D8DEE2"/>
            </a:solidFill>
            <a:prstDash val="solid"/>
          </a:ln>
        </p:spPr>
        <p:txBody>
          <a:bodyPr/>
          <a:lstStyle/>
          <a:p>
            <a:endParaRPr lang="en-US"/>
          </a:p>
        </p:txBody>
      </p:sp>
      <p:sp>
        <p:nvSpPr>
          <p:cNvPr id="22" name="Text 19"/>
          <p:cNvSpPr/>
          <p:nvPr/>
        </p:nvSpPr>
        <p:spPr>
          <a:xfrm>
            <a:off x="5349240" y="2542032"/>
            <a:ext cx="3063240" cy="347472"/>
          </a:xfrm>
          <a:prstGeom prst="rect">
            <a:avLst/>
          </a:prstGeom>
          <a:noFill/>
          <a:ln/>
        </p:spPr>
        <p:txBody>
          <a:bodyPr wrap="square" lIns="381" tIns="381" rIns="381" bIns="381" rtlCol="0" anchor="ctr"/>
          <a:lstStyle/>
          <a:p>
            <a:pPr marL="0" indent="0" algn="ctr">
              <a:lnSpc>
                <a:spcPts val="1150"/>
              </a:lnSpc>
              <a:buNone/>
            </a:pPr>
            <a:r>
              <a:rPr lang="en-US" sz="1000" dirty="0">
                <a:solidFill>
                  <a:srgbClr val="2C3E50"/>
                </a:solidFill>
                <a:latin typeface="Arial" pitchFamily="34" charset="0"/>
                <a:ea typeface="Arial" pitchFamily="34" charset="-122"/>
                <a:cs typeface="Arial" pitchFamily="34" charset="-120"/>
              </a:rPr>
              <a:t>part-0002.parquet</a:t>
            </a:r>
            <a:endParaRPr lang="en-US" sz="1000" dirty="0"/>
          </a:p>
        </p:txBody>
      </p:sp>
      <p:sp>
        <p:nvSpPr>
          <p:cNvPr id="23" name="Shape 20"/>
          <p:cNvSpPr/>
          <p:nvPr/>
        </p:nvSpPr>
        <p:spPr>
          <a:xfrm>
            <a:off x="5349240" y="2962656"/>
            <a:ext cx="3063240" cy="384048"/>
          </a:xfrm>
          <a:prstGeom prst="rect">
            <a:avLst/>
          </a:prstGeom>
          <a:solidFill>
            <a:srgbClr val="E31E24"/>
          </a:solidFill>
          <a:ln/>
        </p:spPr>
        <p:txBody>
          <a:bodyPr/>
          <a:lstStyle/>
          <a:p>
            <a:endParaRPr lang="en-US"/>
          </a:p>
        </p:txBody>
      </p:sp>
      <p:sp>
        <p:nvSpPr>
          <p:cNvPr id="24" name="Text 21"/>
          <p:cNvSpPr/>
          <p:nvPr/>
        </p:nvSpPr>
        <p:spPr>
          <a:xfrm>
            <a:off x="5349240" y="2962656"/>
            <a:ext cx="3063240" cy="384048"/>
          </a:xfrm>
          <a:prstGeom prst="rect">
            <a:avLst/>
          </a:prstGeom>
          <a:noFill/>
          <a:ln/>
        </p:spPr>
        <p:txBody>
          <a:bodyPr wrap="square" lIns="381" tIns="381" rIns="381" bIns="381" rtlCol="0" anchor="ctr"/>
          <a:lstStyle/>
          <a:p>
            <a:pPr marL="0" indent="0" algn="ctr">
              <a:lnSpc>
                <a:spcPts val="1200"/>
              </a:lnSpc>
              <a:buNone/>
            </a:pPr>
            <a:r>
              <a:rPr lang="en-US" sz="1050" b="1" dirty="0">
                <a:solidFill>
                  <a:srgbClr val="FFFFFF"/>
                </a:solidFill>
                <a:latin typeface="Arial" pitchFamily="34" charset="0"/>
                <a:ea typeface="Arial" pitchFamily="34" charset="-122"/>
                <a:cs typeface="Arial" pitchFamily="34" charset="-120"/>
              </a:rPr>
              <a:t>_delta_log/</a:t>
            </a:r>
            <a:endParaRPr lang="en-US" sz="1050" dirty="0"/>
          </a:p>
        </p:txBody>
      </p:sp>
      <p:sp>
        <p:nvSpPr>
          <p:cNvPr id="25" name="Shape 22"/>
          <p:cNvSpPr/>
          <p:nvPr/>
        </p:nvSpPr>
        <p:spPr>
          <a:xfrm>
            <a:off x="5577840" y="3438144"/>
            <a:ext cx="2834640" cy="329184"/>
          </a:xfrm>
          <a:prstGeom prst="rect">
            <a:avLst/>
          </a:prstGeom>
          <a:solidFill>
            <a:srgbClr val="FFFFFF"/>
          </a:solidFill>
          <a:ln w="12700">
            <a:solidFill>
              <a:srgbClr val="D8DEE2"/>
            </a:solidFill>
            <a:prstDash val="solid"/>
          </a:ln>
        </p:spPr>
        <p:txBody>
          <a:bodyPr/>
          <a:lstStyle/>
          <a:p>
            <a:endParaRPr lang="en-US"/>
          </a:p>
        </p:txBody>
      </p:sp>
      <p:sp>
        <p:nvSpPr>
          <p:cNvPr id="26" name="Text 23"/>
          <p:cNvSpPr/>
          <p:nvPr/>
        </p:nvSpPr>
        <p:spPr>
          <a:xfrm>
            <a:off x="5577840" y="3438144"/>
            <a:ext cx="2834640" cy="329184"/>
          </a:xfrm>
          <a:prstGeom prst="rect">
            <a:avLst/>
          </a:prstGeom>
          <a:noFill/>
          <a:ln/>
        </p:spPr>
        <p:txBody>
          <a:bodyPr wrap="square" lIns="381" tIns="381" rIns="381" bIns="381" rtlCol="0" anchor="ctr"/>
          <a:lstStyle/>
          <a:p>
            <a:pPr marL="0" indent="0" algn="ctr">
              <a:lnSpc>
                <a:spcPts val="1100"/>
              </a:lnSpc>
              <a:buNone/>
            </a:pPr>
            <a:r>
              <a:rPr lang="en-US" sz="950" dirty="0">
                <a:solidFill>
                  <a:srgbClr val="2C3E50"/>
                </a:solidFill>
                <a:latin typeface="Arial" pitchFamily="34" charset="0"/>
                <a:ea typeface="Arial" pitchFamily="34" charset="-122"/>
                <a:cs typeface="Arial" pitchFamily="34" charset="-120"/>
              </a:rPr>
              <a:t>00000.json   ← v0 commit</a:t>
            </a:r>
            <a:endParaRPr lang="en-US" sz="950" dirty="0"/>
          </a:p>
        </p:txBody>
      </p:sp>
      <p:sp>
        <p:nvSpPr>
          <p:cNvPr id="27" name="Shape 24"/>
          <p:cNvSpPr/>
          <p:nvPr/>
        </p:nvSpPr>
        <p:spPr>
          <a:xfrm>
            <a:off x="5577840" y="3840480"/>
            <a:ext cx="2834640" cy="329184"/>
          </a:xfrm>
          <a:prstGeom prst="rect">
            <a:avLst/>
          </a:prstGeom>
          <a:solidFill>
            <a:srgbClr val="FFFFFF"/>
          </a:solidFill>
          <a:ln w="12700">
            <a:solidFill>
              <a:srgbClr val="D8DEE2"/>
            </a:solidFill>
            <a:prstDash val="solid"/>
          </a:ln>
        </p:spPr>
        <p:txBody>
          <a:bodyPr/>
          <a:lstStyle/>
          <a:p>
            <a:endParaRPr lang="en-US"/>
          </a:p>
        </p:txBody>
      </p:sp>
      <p:sp>
        <p:nvSpPr>
          <p:cNvPr id="28" name="Text 25"/>
          <p:cNvSpPr/>
          <p:nvPr/>
        </p:nvSpPr>
        <p:spPr>
          <a:xfrm>
            <a:off x="5577840" y="3840480"/>
            <a:ext cx="2834640" cy="329184"/>
          </a:xfrm>
          <a:prstGeom prst="rect">
            <a:avLst/>
          </a:prstGeom>
          <a:noFill/>
          <a:ln/>
        </p:spPr>
        <p:txBody>
          <a:bodyPr wrap="square" lIns="381" tIns="381" rIns="381" bIns="381" rtlCol="0" anchor="ctr"/>
          <a:lstStyle/>
          <a:p>
            <a:pPr marL="0" indent="0" algn="ctr">
              <a:lnSpc>
                <a:spcPts val="1100"/>
              </a:lnSpc>
              <a:buNone/>
            </a:pPr>
            <a:r>
              <a:rPr lang="en-US" sz="950" dirty="0">
                <a:solidFill>
                  <a:srgbClr val="2C3E50"/>
                </a:solidFill>
                <a:latin typeface="Arial" pitchFamily="34" charset="0"/>
                <a:ea typeface="Arial" pitchFamily="34" charset="-122"/>
                <a:cs typeface="Arial" pitchFamily="34" charset="-120"/>
              </a:rPr>
              <a:t>00001.json   ← v1 commit</a:t>
            </a:r>
            <a:endParaRPr lang="en-US" sz="950" dirty="0"/>
          </a:p>
        </p:txBody>
      </p:sp>
      <p:sp>
        <p:nvSpPr>
          <p:cNvPr id="29" name="Text 26"/>
          <p:cNvSpPr/>
          <p:nvPr/>
        </p:nvSpPr>
        <p:spPr>
          <a:xfrm>
            <a:off x="5486400" y="4261104"/>
            <a:ext cx="3108960" cy="274320"/>
          </a:xfrm>
          <a:prstGeom prst="rect">
            <a:avLst/>
          </a:prstGeom>
          <a:noFill/>
          <a:ln/>
        </p:spPr>
        <p:txBody>
          <a:bodyPr wrap="square" lIns="0" tIns="0" rIns="0" bIns="0" rtlCol="0" anchor="ctr"/>
          <a:lstStyle/>
          <a:p>
            <a:pPr marL="0" indent="0">
              <a:buNone/>
            </a:pPr>
            <a:r>
              <a:rPr lang="en-US" sz="950" i="1" dirty="0">
                <a:solidFill>
                  <a:srgbClr val="7F8C8D"/>
                </a:solidFill>
                <a:latin typeface="Arial" pitchFamily="34" charset="0"/>
                <a:ea typeface="Arial" pitchFamily="34" charset="-122"/>
                <a:cs typeface="Arial" pitchFamily="34" charset="-120"/>
              </a:rPr>
              <a:t>the log IS the table's truth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3 · DELTA DML</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History, time travel, and the undo button</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8</a:t>
            </a:r>
            <a:endParaRPr lang="en-US" sz="800" dirty="0"/>
          </a:p>
        </p:txBody>
      </p:sp>
      <p:sp>
        <p:nvSpPr>
          <p:cNvPr id="7" name="Shape 4"/>
          <p:cNvSpPr/>
          <p:nvPr/>
        </p:nvSpPr>
        <p:spPr>
          <a:xfrm>
            <a:off x="502920" y="1325880"/>
            <a:ext cx="4663440" cy="3291840"/>
          </a:xfrm>
          <a:prstGeom prst="rect">
            <a:avLst/>
          </a:prstGeom>
          <a:solidFill>
            <a:srgbClr val="263545"/>
          </a:solidFill>
          <a:ln/>
        </p:spPr>
        <p:txBody>
          <a:bodyPr/>
          <a:lstStyle/>
          <a:p>
            <a:endParaRPr lang="en-US"/>
          </a:p>
        </p:txBody>
      </p:sp>
      <p:sp>
        <p:nvSpPr>
          <p:cNvPr id="8" name="Shape 5"/>
          <p:cNvSpPr/>
          <p:nvPr/>
        </p:nvSpPr>
        <p:spPr>
          <a:xfrm>
            <a:off x="502920" y="1325880"/>
            <a:ext cx="4663440" cy="274320"/>
          </a:xfrm>
          <a:prstGeom prst="rect">
            <a:avLst/>
          </a:prstGeom>
          <a:solidFill>
            <a:srgbClr val="2C3E50"/>
          </a:solidFill>
          <a:ln/>
        </p:spPr>
        <p:txBody>
          <a:bodyPr/>
          <a:lstStyle/>
          <a:p>
            <a:endParaRPr lang="en-US"/>
          </a:p>
        </p:txBody>
      </p:sp>
      <p:sp>
        <p:nvSpPr>
          <p:cNvPr id="9" name="Shape 6"/>
          <p:cNvSpPr/>
          <p:nvPr/>
        </p:nvSpPr>
        <p:spPr>
          <a:xfrm>
            <a:off x="630936" y="1417320"/>
            <a:ext cx="91440" cy="91440"/>
          </a:xfrm>
          <a:prstGeom prst="ellipse">
            <a:avLst/>
          </a:prstGeom>
          <a:solidFill>
            <a:srgbClr val="E31E24"/>
          </a:solidFill>
          <a:ln/>
        </p:spPr>
        <p:txBody>
          <a:bodyPr/>
          <a:lstStyle/>
          <a:p>
            <a:endParaRPr lang="en-US"/>
          </a:p>
        </p:txBody>
      </p:sp>
      <p:sp>
        <p:nvSpPr>
          <p:cNvPr id="10" name="Text 7"/>
          <p:cNvSpPr/>
          <p:nvPr/>
        </p:nvSpPr>
        <p:spPr>
          <a:xfrm>
            <a:off x="813816" y="1344168"/>
            <a:ext cx="4206240" cy="237744"/>
          </a:xfrm>
          <a:prstGeom prst="rect">
            <a:avLst/>
          </a:prstGeom>
          <a:noFill/>
          <a:ln/>
        </p:spPr>
        <p:txBody>
          <a:bodyPr wrap="square" lIns="0" tIns="0" rIns="0" bIns="0" rtlCol="0" anchor="ctr"/>
          <a:lstStyle/>
          <a:p>
            <a:pPr marL="0" indent="0">
              <a:buNone/>
            </a:pPr>
            <a:r>
              <a:rPr lang="en-US" sz="950" dirty="0">
                <a:solidFill>
                  <a:srgbClr val="AAB7C4"/>
                </a:solidFill>
                <a:latin typeface="Consolas" pitchFamily="34" charset="0"/>
                <a:ea typeface="Consolas" pitchFamily="34" charset="-122"/>
                <a:cs typeface="Consolas" pitchFamily="34" charset="-120"/>
              </a:rPr>
              <a:t>time_travel.sql</a:t>
            </a:r>
            <a:endParaRPr lang="en-US" sz="950" dirty="0"/>
          </a:p>
        </p:txBody>
      </p:sp>
      <p:sp>
        <p:nvSpPr>
          <p:cNvPr id="11" name="Text 8"/>
          <p:cNvSpPr/>
          <p:nvPr/>
        </p:nvSpPr>
        <p:spPr>
          <a:xfrm>
            <a:off x="704088" y="1691640"/>
            <a:ext cx="4279392" cy="2816352"/>
          </a:xfrm>
          <a:prstGeom prst="rect">
            <a:avLst/>
          </a:prstGeom>
          <a:noFill/>
          <a:ln/>
        </p:spPr>
        <p:txBody>
          <a:bodyPr wrap="square" lIns="0" tIns="0" rIns="0" bIns="0" rtlCol="0" anchor="t"/>
          <a:lstStyle/>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every write = a new version</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DESCRIBE HISTORY sales_raw;</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a:t>
            </a:r>
            <a:endParaRPr lang="en-US" sz="1050" dirty="0"/>
          </a:p>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read the past</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SELECT * FROM sales_raw VERSION AS OF 0;</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SELECT * FROM sales_raw</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TIMESTAMP AS OF '2026-06-01';</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a:t>
            </a:r>
            <a:endParaRPr lang="en-US" sz="1050" dirty="0"/>
          </a:p>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the undo button</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RESTORE TABLE sales_raw TO VERSION AS OF 0;</a:t>
            </a:r>
            <a:endParaRPr lang="en-US" sz="1050" dirty="0"/>
          </a:p>
        </p:txBody>
      </p:sp>
      <p:sp>
        <p:nvSpPr>
          <p:cNvPr id="12" name="Shape 9"/>
          <p:cNvSpPr/>
          <p:nvPr/>
        </p:nvSpPr>
        <p:spPr>
          <a:xfrm>
            <a:off x="5440680" y="1572768"/>
            <a:ext cx="91440" cy="91440"/>
          </a:xfrm>
          <a:prstGeom prst="rect">
            <a:avLst/>
          </a:prstGeom>
          <a:solidFill>
            <a:srgbClr val="E31E24"/>
          </a:solidFill>
          <a:ln/>
        </p:spPr>
        <p:txBody>
          <a:bodyPr/>
          <a:lstStyle/>
          <a:p>
            <a:endParaRPr lang="en-US"/>
          </a:p>
        </p:txBody>
      </p:sp>
      <p:sp>
        <p:nvSpPr>
          <p:cNvPr id="13" name="Text 10"/>
          <p:cNvSpPr/>
          <p:nvPr/>
        </p:nvSpPr>
        <p:spPr>
          <a:xfrm>
            <a:off x="5660136" y="1472184"/>
            <a:ext cx="2980944" cy="786384"/>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Versioned writes  </a:t>
            </a:r>
            <a:r>
              <a:rPr lang="en-US" sz="1200" dirty="0">
                <a:solidFill>
                  <a:srgbClr val="55606B"/>
                </a:solidFill>
                <a:latin typeface="Arial" pitchFamily="34" charset="0"/>
                <a:ea typeface="Arial" pitchFamily="34" charset="-122"/>
                <a:cs typeface="Arial" pitchFamily="34" charset="-120"/>
              </a:rPr>
              <a:t>free audit trail per table</a:t>
            </a:r>
            <a:endParaRPr lang="en-US" sz="1200" dirty="0"/>
          </a:p>
        </p:txBody>
      </p:sp>
      <p:sp>
        <p:nvSpPr>
          <p:cNvPr id="14" name="Shape 11"/>
          <p:cNvSpPr/>
          <p:nvPr/>
        </p:nvSpPr>
        <p:spPr>
          <a:xfrm>
            <a:off x="5440680" y="2359152"/>
            <a:ext cx="91440" cy="91440"/>
          </a:xfrm>
          <a:prstGeom prst="rect">
            <a:avLst/>
          </a:prstGeom>
          <a:solidFill>
            <a:srgbClr val="E31E24"/>
          </a:solidFill>
          <a:ln/>
        </p:spPr>
        <p:txBody>
          <a:bodyPr/>
          <a:lstStyle/>
          <a:p>
            <a:endParaRPr lang="en-US"/>
          </a:p>
        </p:txBody>
      </p:sp>
      <p:sp>
        <p:nvSpPr>
          <p:cNvPr id="15" name="Text 12"/>
          <p:cNvSpPr/>
          <p:nvPr/>
        </p:nvSpPr>
        <p:spPr>
          <a:xfrm>
            <a:off x="5660136" y="2258568"/>
            <a:ext cx="2980944" cy="786384"/>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Schema enforcement  </a:t>
            </a:r>
            <a:r>
              <a:rPr lang="en-US" sz="1200" dirty="0">
                <a:solidFill>
                  <a:srgbClr val="55606B"/>
                </a:solidFill>
                <a:latin typeface="Arial" pitchFamily="34" charset="0"/>
                <a:ea typeface="Arial" pitchFamily="34" charset="-122"/>
                <a:cs typeface="Arial" pitchFamily="34" charset="-120"/>
              </a:rPr>
              <a:t>mismatched writes are rejected by default</a:t>
            </a:r>
            <a:endParaRPr lang="en-US" sz="1200" dirty="0"/>
          </a:p>
        </p:txBody>
      </p:sp>
      <p:sp>
        <p:nvSpPr>
          <p:cNvPr id="16" name="Shape 13"/>
          <p:cNvSpPr/>
          <p:nvPr/>
        </p:nvSpPr>
        <p:spPr>
          <a:xfrm>
            <a:off x="5440680" y="3145536"/>
            <a:ext cx="91440" cy="91440"/>
          </a:xfrm>
          <a:prstGeom prst="rect">
            <a:avLst/>
          </a:prstGeom>
          <a:solidFill>
            <a:srgbClr val="E31E24"/>
          </a:solidFill>
          <a:ln/>
        </p:spPr>
        <p:txBody>
          <a:bodyPr/>
          <a:lstStyle/>
          <a:p>
            <a:endParaRPr lang="en-US"/>
          </a:p>
        </p:txBody>
      </p:sp>
      <p:sp>
        <p:nvSpPr>
          <p:cNvPr id="17" name="Text 14"/>
          <p:cNvSpPr/>
          <p:nvPr/>
        </p:nvSpPr>
        <p:spPr>
          <a:xfrm>
            <a:off x="5660136" y="3044952"/>
            <a:ext cx="2980944" cy="786384"/>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Evolution is opt-in  </a:t>
            </a:r>
            <a:r>
              <a:rPr lang="en-US" sz="1200" dirty="0">
                <a:solidFill>
                  <a:srgbClr val="55606B"/>
                </a:solidFill>
                <a:latin typeface="Arial" pitchFamily="34" charset="0"/>
                <a:ea typeface="Arial" pitchFamily="34" charset="-122"/>
                <a:cs typeface="Arial" pitchFamily="34" charset="-120"/>
              </a:rPr>
              <a:t>mergeSchema and friends — Week 2</a:t>
            </a:r>
            <a:endParaRPr lang="en-US" sz="1200" dirty="0"/>
          </a:p>
        </p:txBody>
      </p:sp>
      <p:sp>
        <p:nvSpPr>
          <p:cNvPr id="18" name="Shape 15"/>
          <p:cNvSpPr/>
          <p:nvPr/>
        </p:nvSpPr>
        <p:spPr>
          <a:xfrm>
            <a:off x="5440680" y="3931920"/>
            <a:ext cx="91440" cy="91440"/>
          </a:xfrm>
          <a:prstGeom prst="rect">
            <a:avLst/>
          </a:prstGeom>
          <a:solidFill>
            <a:srgbClr val="E31E24"/>
          </a:solidFill>
          <a:ln/>
        </p:spPr>
        <p:txBody>
          <a:bodyPr/>
          <a:lstStyle/>
          <a:p>
            <a:endParaRPr lang="en-US"/>
          </a:p>
        </p:txBody>
      </p:sp>
      <p:sp>
        <p:nvSpPr>
          <p:cNvPr id="19" name="Text 16"/>
          <p:cNvSpPr/>
          <p:nvPr/>
        </p:nvSpPr>
        <p:spPr>
          <a:xfrm>
            <a:off x="5660136" y="3831336"/>
            <a:ext cx="2980944" cy="786384"/>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VACUUM limits travel  </a:t>
            </a:r>
            <a:r>
              <a:rPr lang="en-US" sz="1200" dirty="0">
                <a:solidFill>
                  <a:srgbClr val="55606B"/>
                </a:solidFill>
                <a:latin typeface="Arial" pitchFamily="34" charset="0"/>
                <a:ea typeface="Arial" pitchFamily="34" charset="-122"/>
                <a:cs typeface="Arial" pitchFamily="34" charset="-120"/>
              </a:rPr>
              <a:t>removed files = unreachable versions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DOMAINS 1 &amp; 7</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Unity Catalog: one tree, three-level names</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9</a:t>
            </a:r>
            <a:endParaRPr lang="en-US" sz="800" dirty="0"/>
          </a:p>
        </p:txBody>
      </p:sp>
      <p:sp>
        <p:nvSpPr>
          <p:cNvPr id="7" name="Shape 4"/>
          <p:cNvSpPr/>
          <p:nvPr/>
        </p:nvSpPr>
        <p:spPr>
          <a:xfrm>
            <a:off x="502920" y="1481328"/>
            <a:ext cx="91440" cy="91440"/>
          </a:xfrm>
          <a:prstGeom prst="rect">
            <a:avLst/>
          </a:prstGeom>
          <a:solidFill>
            <a:srgbClr val="E31E24"/>
          </a:solidFill>
          <a:ln/>
        </p:spPr>
        <p:txBody>
          <a:bodyPr/>
          <a:lstStyle/>
          <a:p>
            <a:endParaRPr lang="en-US"/>
          </a:p>
        </p:txBody>
      </p:sp>
      <p:sp>
        <p:nvSpPr>
          <p:cNvPr id="8" name="Text 5"/>
          <p:cNvSpPr/>
          <p:nvPr/>
        </p:nvSpPr>
        <p:spPr>
          <a:xfrm>
            <a:off x="722376" y="1380744"/>
            <a:ext cx="371246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catalog.schema.object  </a:t>
            </a:r>
            <a:r>
              <a:rPr lang="en-US" sz="1300" dirty="0">
                <a:solidFill>
                  <a:srgbClr val="55606B"/>
                </a:solidFill>
                <a:latin typeface="Arial" pitchFamily="34" charset="0"/>
                <a:ea typeface="Arial" pitchFamily="34" charset="-122"/>
                <a:cs typeface="Arial" pitchFamily="34" charset="-120"/>
              </a:rPr>
              <a:t>the three-level namespace — say it on every query</a:t>
            </a:r>
            <a:endParaRPr lang="en-US" sz="1300" dirty="0"/>
          </a:p>
        </p:txBody>
      </p:sp>
      <p:sp>
        <p:nvSpPr>
          <p:cNvPr id="9" name="Shape 6"/>
          <p:cNvSpPr/>
          <p:nvPr/>
        </p:nvSpPr>
        <p:spPr>
          <a:xfrm>
            <a:off x="502920" y="2231136"/>
            <a:ext cx="91440" cy="91440"/>
          </a:xfrm>
          <a:prstGeom prst="rect">
            <a:avLst/>
          </a:prstGeom>
          <a:solidFill>
            <a:srgbClr val="E31E24"/>
          </a:solidFill>
          <a:ln/>
        </p:spPr>
        <p:txBody>
          <a:bodyPr/>
          <a:lstStyle/>
          <a:p>
            <a:endParaRPr lang="en-US"/>
          </a:p>
        </p:txBody>
      </p:sp>
      <p:sp>
        <p:nvSpPr>
          <p:cNvPr id="10" name="Text 7"/>
          <p:cNvSpPr/>
          <p:nvPr/>
        </p:nvSpPr>
        <p:spPr>
          <a:xfrm>
            <a:off x="722376" y="2130552"/>
            <a:ext cx="371246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One metastore  </a:t>
            </a:r>
            <a:r>
              <a:rPr lang="en-US" sz="1300" dirty="0">
                <a:solidFill>
                  <a:srgbClr val="55606B"/>
                </a:solidFill>
                <a:latin typeface="Arial" pitchFamily="34" charset="0"/>
                <a:ea typeface="Arial" pitchFamily="34" charset="-122"/>
                <a:cs typeface="Arial" pitchFamily="34" charset="-120"/>
              </a:rPr>
              <a:t>account-level governance; workspaces share it</a:t>
            </a:r>
            <a:endParaRPr lang="en-US" sz="1300" dirty="0"/>
          </a:p>
        </p:txBody>
      </p:sp>
      <p:sp>
        <p:nvSpPr>
          <p:cNvPr id="11" name="Shape 8"/>
          <p:cNvSpPr/>
          <p:nvPr/>
        </p:nvSpPr>
        <p:spPr>
          <a:xfrm>
            <a:off x="502920" y="2980944"/>
            <a:ext cx="91440" cy="91440"/>
          </a:xfrm>
          <a:prstGeom prst="rect">
            <a:avLst/>
          </a:prstGeom>
          <a:solidFill>
            <a:srgbClr val="E31E24"/>
          </a:solidFill>
          <a:ln/>
        </p:spPr>
        <p:txBody>
          <a:bodyPr/>
          <a:lstStyle/>
          <a:p>
            <a:endParaRPr lang="en-US"/>
          </a:p>
        </p:txBody>
      </p:sp>
      <p:sp>
        <p:nvSpPr>
          <p:cNvPr id="12" name="Text 9"/>
          <p:cNvSpPr/>
          <p:nvPr/>
        </p:nvSpPr>
        <p:spPr>
          <a:xfrm>
            <a:off x="722376" y="2880360"/>
            <a:ext cx="371246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Securables  </a:t>
            </a:r>
            <a:r>
              <a:rPr lang="en-US" sz="1300" dirty="0">
                <a:solidFill>
                  <a:srgbClr val="55606B"/>
                </a:solidFill>
                <a:latin typeface="Arial" pitchFamily="34" charset="0"/>
                <a:ea typeface="Arial" pitchFamily="34" charset="-122"/>
                <a:cs typeface="Arial" pitchFamily="34" charset="-120"/>
              </a:rPr>
              <a:t>tables, views, volumes, functions, models</a:t>
            </a:r>
            <a:endParaRPr lang="en-US" sz="1300" dirty="0"/>
          </a:p>
        </p:txBody>
      </p:sp>
      <p:sp>
        <p:nvSpPr>
          <p:cNvPr id="13" name="Shape 10"/>
          <p:cNvSpPr/>
          <p:nvPr/>
        </p:nvSpPr>
        <p:spPr>
          <a:xfrm>
            <a:off x="502920" y="3730752"/>
            <a:ext cx="91440" cy="91440"/>
          </a:xfrm>
          <a:prstGeom prst="rect">
            <a:avLst/>
          </a:prstGeom>
          <a:solidFill>
            <a:srgbClr val="E31E24"/>
          </a:solidFill>
          <a:ln/>
        </p:spPr>
        <p:txBody>
          <a:bodyPr/>
          <a:lstStyle/>
          <a:p>
            <a:endParaRPr lang="en-US"/>
          </a:p>
        </p:txBody>
      </p:sp>
      <p:sp>
        <p:nvSpPr>
          <p:cNvPr id="14" name="Text 11"/>
          <p:cNvSpPr/>
          <p:nvPr/>
        </p:nvSpPr>
        <p:spPr>
          <a:xfrm>
            <a:off x="722376" y="3630168"/>
            <a:ext cx="371246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What UC adds  </a:t>
            </a:r>
            <a:r>
              <a:rPr lang="en-US" sz="1300" dirty="0">
                <a:solidFill>
                  <a:srgbClr val="55606B"/>
                </a:solidFill>
                <a:latin typeface="Arial" pitchFamily="34" charset="0"/>
                <a:ea typeface="Arial" pitchFamily="34" charset="-122"/>
                <a:cs typeface="Arial" pitchFamily="34" charset="-120"/>
              </a:rPr>
              <a:t>GRANTs, auditing, lineage, discovery</a:t>
            </a:r>
            <a:endParaRPr lang="en-US" sz="1300" dirty="0"/>
          </a:p>
        </p:txBody>
      </p:sp>
      <p:sp>
        <p:nvSpPr>
          <p:cNvPr id="15" name="Shape 12"/>
          <p:cNvSpPr/>
          <p:nvPr/>
        </p:nvSpPr>
        <p:spPr>
          <a:xfrm>
            <a:off x="4754880" y="1280160"/>
            <a:ext cx="3886200" cy="3383280"/>
          </a:xfrm>
          <a:prstGeom prst="rect">
            <a:avLst/>
          </a:prstGeom>
          <a:solidFill>
            <a:srgbClr val="ECF0F1"/>
          </a:solidFill>
          <a:ln/>
        </p:spPr>
        <p:txBody>
          <a:bodyPr/>
          <a:lstStyle/>
          <a:p>
            <a:endParaRPr lang="en-US"/>
          </a:p>
        </p:txBody>
      </p:sp>
      <p:sp>
        <p:nvSpPr>
          <p:cNvPr id="16" name="Text 13"/>
          <p:cNvSpPr/>
          <p:nvPr/>
        </p:nvSpPr>
        <p:spPr>
          <a:xfrm>
            <a:off x="4956048" y="1408176"/>
            <a:ext cx="3483864" cy="228600"/>
          </a:xfrm>
          <a:prstGeom prst="rect">
            <a:avLst/>
          </a:prstGeom>
          <a:noFill/>
          <a:ln/>
        </p:spPr>
        <p:txBody>
          <a:bodyPr wrap="square" lIns="0" tIns="0" rIns="0" bIns="0" rtlCol="0" anchor="ctr"/>
          <a:lstStyle/>
          <a:p>
            <a:pPr marL="0" indent="0">
              <a:buNone/>
            </a:pPr>
            <a:r>
              <a:rPr lang="en-US" sz="950" b="1" kern="0" spc="200" dirty="0">
                <a:solidFill>
                  <a:srgbClr val="7F8C8D"/>
                </a:solidFill>
                <a:latin typeface="Arial" pitchFamily="34" charset="0"/>
                <a:ea typeface="Arial" pitchFamily="34" charset="-122"/>
                <a:cs typeface="Arial" pitchFamily="34" charset="-120"/>
              </a:rPr>
              <a:t>THE HIERARCHY</a:t>
            </a:r>
            <a:endParaRPr lang="en-US" sz="950" dirty="0"/>
          </a:p>
        </p:txBody>
      </p:sp>
      <p:sp>
        <p:nvSpPr>
          <p:cNvPr id="17" name="Shape 14"/>
          <p:cNvSpPr/>
          <p:nvPr/>
        </p:nvSpPr>
        <p:spPr>
          <a:xfrm>
            <a:off x="5897880" y="1645920"/>
            <a:ext cx="1645920" cy="384048"/>
          </a:xfrm>
          <a:prstGeom prst="rect">
            <a:avLst/>
          </a:prstGeom>
          <a:solidFill>
            <a:srgbClr val="E31E24"/>
          </a:solidFill>
          <a:ln/>
        </p:spPr>
        <p:txBody>
          <a:bodyPr/>
          <a:lstStyle/>
          <a:p>
            <a:endParaRPr lang="en-US"/>
          </a:p>
        </p:txBody>
      </p:sp>
      <p:sp>
        <p:nvSpPr>
          <p:cNvPr id="18" name="Text 15"/>
          <p:cNvSpPr/>
          <p:nvPr/>
        </p:nvSpPr>
        <p:spPr>
          <a:xfrm>
            <a:off x="5897880" y="1645920"/>
            <a:ext cx="1645920" cy="384048"/>
          </a:xfrm>
          <a:prstGeom prst="rect">
            <a:avLst/>
          </a:prstGeom>
          <a:noFill/>
          <a:ln/>
        </p:spPr>
        <p:txBody>
          <a:bodyPr wrap="square" lIns="381" tIns="381" rIns="381" bIns="381" rtlCol="0" anchor="ctr"/>
          <a:lstStyle/>
          <a:p>
            <a:pPr marL="0" indent="0" algn="ctr">
              <a:lnSpc>
                <a:spcPts val="1200"/>
              </a:lnSpc>
              <a:buNone/>
            </a:pPr>
            <a:r>
              <a:rPr lang="en-US" sz="1050" b="1" dirty="0">
                <a:solidFill>
                  <a:srgbClr val="FFFFFF"/>
                </a:solidFill>
                <a:latin typeface="Arial" pitchFamily="34" charset="0"/>
                <a:ea typeface="Arial" pitchFamily="34" charset="-122"/>
                <a:cs typeface="Arial" pitchFamily="34" charset="-120"/>
              </a:rPr>
              <a:t>METASTORE</a:t>
            </a:r>
            <a:endParaRPr lang="en-US" sz="1050" dirty="0"/>
          </a:p>
        </p:txBody>
      </p:sp>
      <p:sp>
        <p:nvSpPr>
          <p:cNvPr id="19" name="Shape 16"/>
          <p:cNvSpPr/>
          <p:nvPr/>
        </p:nvSpPr>
        <p:spPr>
          <a:xfrm>
            <a:off x="6720840" y="2029968"/>
            <a:ext cx="0" cy="219456"/>
          </a:xfrm>
          <a:prstGeom prst="line">
            <a:avLst/>
          </a:prstGeom>
          <a:noFill/>
          <a:ln w="15875">
            <a:solidFill>
              <a:srgbClr val="7F8C8D"/>
            </a:solidFill>
            <a:prstDash val="solid"/>
          </a:ln>
        </p:spPr>
        <p:txBody>
          <a:bodyPr/>
          <a:lstStyle/>
          <a:p>
            <a:endParaRPr lang="en-US"/>
          </a:p>
        </p:txBody>
      </p:sp>
      <p:sp>
        <p:nvSpPr>
          <p:cNvPr id="20" name="Shape 17"/>
          <p:cNvSpPr/>
          <p:nvPr/>
        </p:nvSpPr>
        <p:spPr>
          <a:xfrm>
            <a:off x="5074920" y="2249424"/>
            <a:ext cx="1463040" cy="365760"/>
          </a:xfrm>
          <a:prstGeom prst="rect">
            <a:avLst/>
          </a:prstGeom>
          <a:solidFill>
            <a:srgbClr val="2C3E50"/>
          </a:solidFill>
          <a:ln/>
        </p:spPr>
        <p:txBody>
          <a:bodyPr/>
          <a:lstStyle/>
          <a:p>
            <a:endParaRPr lang="en-US"/>
          </a:p>
        </p:txBody>
      </p:sp>
      <p:sp>
        <p:nvSpPr>
          <p:cNvPr id="21" name="Text 18"/>
          <p:cNvSpPr/>
          <p:nvPr/>
        </p:nvSpPr>
        <p:spPr>
          <a:xfrm>
            <a:off x="5074920" y="2249424"/>
            <a:ext cx="1463040" cy="365760"/>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workspace</a:t>
            </a:r>
            <a:endParaRPr lang="en-US" sz="1000" dirty="0"/>
          </a:p>
        </p:txBody>
      </p:sp>
      <p:sp>
        <p:nvSpPr>
          <p:cNvPr id="22" name="Shape 19"/>
          <p:cNvSpPr/>
          <p:nvPr/>
        </p:nvSpPr>
        <p:spPr>
          <a:xfrm>
            <a:off x="6903720" y="2249424"/>
            <a:ext cx="1463040" cy="365760"/>
          </a:xfrm>
          <a:prstGeom prst="rect">
            <a:avLst/>
          </a:prstGeom>
          <a:solidFill>
            <a:srgbClr val="2C3E50"/>
          </a:solidFill>
          <a:ln/>
        </p:spPr>
        <p:txBody>
          <a:bodyPr/>
          <a:lstStyle/>
          <a:p>
            <a:endParaRPr lang="en-US"/>
          </a:p>
        </p:txBody>
      </p:sp>
      <p:sp>
        <p:nvSpPr>
          <p:cNvPr id="23" name="Text 20"/>
          <p:cNvSpPr/>
          <p:nvPr/>
        </p:nvSpPr>
        <p:spPr>
          <a:xfrm>
            <a:off x="6903720" y="2249424"/>
            <a:ext cx="1463040" cy="365760"/>
          </a:xfrm>
          <a:prstGeom prst="rect">
            <a:avLst/>
          </a:prstGeom>
          <a:noFill/>
          <a:ln/>
        </p:spPr>
        <p:txBody>
          <a:bodyPr wrap="square" lIns="381" tIns="381" rIns="381" bIns="381" rtlCol="0" anchor="ctr"/>
          <a:lstStyle/>
          <a:p>
            <a:pPr marL="0" indent="0" algn="ctr">
              <a:lnSpc>
                <a:spcPts val="1150"/>
              </a:lnSpc>
              <a:buNone/>
            </a:pPr>
            <a:r>
              <a:rPr lang="en-US" sz="1000" b="1" dirty="0">
                <a:solidFill>
                  <a:srgbClr val="FFFFFF"/>
                </a:solidFill>
                <a:latin typeface="Arial" pitchFamily="34" charset="0"/>
                <a:ea typeface="Arial" pitchFamily="34" charset="-122"/>
                <a:cs typeface="Arial" pitchFamily="34" charset="-120"/>
              </a:rPr>
              <a:t>samples</a:t>
            </a:r>
            <a:endParaRPr lang="en-US" sz="1000" dirty="0"/>
          </a:p>
        </p:txBody>
      </p:sp>
      <p:sp>
        <p:nvSpPr>
          <p:cNvPr id="24" name="Shape 21"/>
          <p:cNvSpPr/>
          <p:nvPr/>
        </p:nvSpPr>
        <p:spPr>
          <a:xfrm>
            <a:off x="5806440" y="2139696"/>
            <a:ext cx="1828800" cy="0"/>
          </a:xfrm>
          <a:prstGeom prst="line">
            <a:avLst/>
          </a:prstGeom>
          <a:noFill/>
          <a:ln w="15875">
            <a:solidFill>
              <a:srgbClr val="7F8C8D"/>
            </a:solidFill>
            <a:prstDash val="solid"/>
          </a:ln>
        </p:spPr>
        <p:txBody>
          <a:bodyPr/>
          <a:lstStyle/>
          <a:p>
            <a:endParaRPr lang="en-US"/>
          </a:p>
        </p:txBody>
      </p:sp>
      <p:sp>
        <p:nvSpPr>
          <p:cNvPr id="25" name="Shape 22"/>
          <p:cNvSpPr/>
          <p:nvPr/>
        </p:nvSpPr>
        <p:spPr>
          <a:xfrm>
            <a:off x="5806440" y="2139696"/>
            <a:ext cx="0" cy="109728"/>
          </a:xfrm>
          <a:prstGeom prst="line">
            <a:avLst/>
          </a:prstGeom>
          <a:noFill/>
          <a:ln w="15875">
            <a:solidFill>
              <a:srgbClr val="7F8C8D"/>
            </a:solidFill>
            <a:prstDash val="solid"/>
          </a:ln>
        </p:spPr>
        <p:txBody>
          <a:bodyPr/>
          <a:lstStyle/>
          <a:p>
            <a:endParaRPr lang="en-US"/>
          </a:p>
        </p:txBody>
      </p:sp>
      <p:sp>
        <p:nvSpPr>
          <p:cNvPr id="26" name="Shape 23"/>
          <p:cNvSpPr/>
          <p:nvPr/>
        </p:nvSpPr>
        <p:spPr>
          <a:xfrm>
            <a:off x="7635240" y="2139696"/>
            <a:ext cx="0" cy="109728"/>
          </a:xfrm>
          <a:prstGeom prst="line">
            <a:avLst/>
          </a:prstGeom>
          <a:noFill/>
          <a:ln w="15875">
            <a:solidFill>
              <a:srgbClr val="7F8C8D"/>
            </a:solidFill>
            <a:prstDash val="solid"/>
          </a:ln>
        </p:spPr>
        <p:txBody>
          <a:bodyPr/>
          <a:lstStyle/>
          <a:p>
            <a:endParaRPr lang="en-US"/>
          </a:p>
        </p:txBody>
      </p:sp>
      <p:sp>
        <p:nvSpPr>
          <p:cNvPr id="27" name="Shape 24"/>
          <p:cNvSpPr/>
          <p:nvPr/>
        </p:nvSpPr>
        <p:spPr>
          <a:xfrm>
            <a:off x="5806440" y="2615184"/>
            <a:ext cx="0" cy="219456"/>
          </a:xfrm>
          <a:prstGeom prst="line">
            <a:avLst/>
          </a:prstGeom>
          <a:noFill/>
          <a:ln w="15875">
            <a:solidFill>
              <a:srgbClr val="7F8C8D"/>
            </a:solidFill>
            <a:prstDash val="solid"/>
          </a:ln>
        </p:spPr>
        <p:txBody>
          <a:bodyPr/>
          <a:lstStyle/>
          <a:p>
            <a:endParaRPr lang="en-US"/>
          </a:p>
        </p:txBody>
      </p:sp>
      <p:sp>
        <p:nvSpPr>
          <p:cNvPr id="28" name="Shape 25"/>
          <p:cNvSpPr/>
          <p:nvPr/>
        </p:nvSpPr>
        <p:spPr>
          <a:xfrm>
            <a:off x="5074920" y="2834640"/>
            <a:ext cx="1463040" cy="365760"/>
          </a:xfrm>
          <a:prstGeom prst="rect">
            <a:avLst/>
          </a:prstGeom>
          <a:solidFill>
            <a:srgbClr val="3D5166"/>
          </a:solidFill>
          <a:ln/>
        </p:spPr>
        <p:txBody>
          <a:bodyPr/>
          <a:lstStyle/>
          <a:p>
            <a:endParaRPr lang="en-US"/>
          </a:p>
        </p:txBody>
      </p:sp>
      <p:sp>
        <p:nvSpPr>
          <p:cNvPr id="29" name="Text 26"/>
          <p:cNvSpPr/>
          <p:nvPr/>
        </p:nvSpPr>
        <p:spPr>
          <a:xfrm>
            <a:off x="5074920" y="2834640"/>
            <a:ext cx="1463040" cy="365760"/>
          </a:xfrm>
          <a:prstGeom prst="rect">
            <a:avLst/>
          </a:prstGeom>
          <a:noFill/>
          <a:ln/>
        </p:spPr>
        <p:txBody>
          <a:bodyPr wrap="square" lIns="381" tIns="381" rIns="381" bIns="381" rtlCol="0" anchor="ctr"/>
          <a:lstStyle/>
          <a:p>
            <a:pPr marL="0" indent="0" algn="ctr">
              <a:lnSpc>
                <a:spcPts val="1050"/>
              </a:lnSpc>
              <a:buNone/>
            </a:pPr>
            <a:r>
              <a:rPr lang="en-US" sz="900" b="1" dirty="0">
                <a:solidFill>
                  <a:srgbClr val="FFFFFF"/>
                </a:solidFill>
                <a:latin typeface="Arial" pitchFamily="34" charset="0"/>
                <a:ea typeface="Arial" pitchFamily="34" charset="-122"/>
                <a:cs typeface="Arial" pitchFamily="34" charset="-120"/>
              </a:rPr>
              <a:t>lab1_you  (schema)</a:t>
            </a:r>
            <a:endParaRPr lang="en-US" sz="900" dirty="0"/>
          </a:p>
        </p:txBody>
      </p:sp>
      <p:sp>
        <p:nvSpPr>
          <p:cNvPr id="30" name="Shape 27"/>
          <p:cNvSpPr/>
          <p:nvPr/>
        </p:nvSpPr>
        <p:spPr>
          <a:xfrm>
            <a:off x="5806440" y="3200400"/>
            <a:ext cx="0" cy="219456"/>
          </a:xfrm>
          <a:prstGeom prst="line">
            <a:avLst/>
          </a:prstGeom>
          <a:noFill/>
          <a:ln w="15875">
            <a:solidFill>
              <a:srgbClr val="7F8C8D"/>
            </a:solidFill>
            <a:prstDash val="solid"/>
          </a:ln>
        </p:spPr>
        <p:txBody>
          <a:bodyPr/>
          <a:lstStyle/>
          <a:p>
            <a:endParaRPr lang="en-US"/>
          </a:p>
        </p:txBody>
      </p:sp>
      <p:sp>
        <p:nvSpPr>
          <p:cNvPr id="31" name="Shape 28"/>
          <p:cNvSpPr/>
          <p:nvPr/>
        </p:nvSpPr>
        <p:spPr>
          <a:xfrm>
            <a:off x="4846320" y="3419856"/>
            <a:ext cx="1225296" cy="640080"/>
          </a:xfrm>
          <a:prstGeom prst="rect">
            <a:avLst/>
          </a:prstGeom>
          <a:solidFill>
            <a:srgbClr val="566B80"/>
          </a:solidFill>
          <a:ln/>
        </p:spPr>
        <p:txBody>
          <a:bodyPr/>
          <a:lstStyle/>
          <a:p>
            <a:endParaRPr lang="en-US"/>
          </a:p>
        </p:txBody>
      </p:sp>
      <p:sp>
        <p:nvSpPr>
          <p:cNvPr id="32" name="Text 29"/>
          <p:cNvSpPr/>
          <p:nvPr/>
        </p:nvSpPr>
        <p:spPr>
          <a:xfrm>
            <a:off x="4846320" y="3419856"/>
            <a:ext cx="1225296" cy="640080"/>
          </a:xfrm>
          <a:prstGeom prst="rect">
            <a:avLst/>
          </a:prstGeom>
          <a:noFill/>
          <a:ln/>
        </p:spPr>
        <p:txBody>
          <a:bodyPr wrap="square" lIns="381" tIns="381" rIns="381" bIns="381" rtlCol="0" anchor="ctr"/>
          <a:lstStyle/>
          <a:p>
            <a:pPr marL="0" indent="0" algn="ctr">
              <a:lnSpc>
                <a:spcPts val="1050"/>
              </a:lnSpc>
              <a:buNone/>
            </a:pPr>
            <a:r>
              <a:rPr lang="en-US" sz="900" b="1" dirty="0">
                <a:solidFill>
                  <a:srgbClr val="FFFFFF"/>
                </a:solidFill>
                <a:latin typeface="Arial" pitchFamily="34" charset="0"/>
                <a:ea typeface="Arial" pitchFamily="34" charset="-122"/>
                <a:cs typeface="Arial" pitchFamily="34" charset="-120"/>
              </a:rPr>
              <a:t>TABLES</a:t>
            </a:r>
            <a:endParaRPr lang="en-US" sz="900" dirty="0"/>
          </a:p>
          <a:p>
            <a:pPr marL="0" indent="0" algn="ctr">
              <a:lnSpc>
                <a:spcPts val="1050"/>
              </a:lnSpc>
              <a:buNone/>
            </a:pPr>
            <a:r>
              <a:rPr lang="en-US" sz="900" b="1" dirty="0">
                <a:solidFill>
                  <a:srgbClr val="FFFFFF"/>
                </a:solidFill>
                <a:latin typeface="Arial" pitchFamily="34" charset="0"/>
                <a:ea typeface="Arial" pitchFamily="34" charset="-122"/>
                <a:cs typeface="Arial" pitchFamily="34" charset="-120"/>
              </a:rPr>
              <a:t>&amp; VIEWS</a:t>
            </a:r>
            <a:endParaRPr lang="en-US" sz="900" dirty="0"/>
          </a:p>
        </p:txBody>
      </p:sp>
      <p:sp>
        <p:nvSpPr>
          <p:cNvPr id="33" name="Shape 30"/>
          <p:cNvSpPr/>
          <p:nvPr/>
        </p:nvSpPr>
        <p:spPr>
          <a:xfrm>
            <a:off x="6163056" y="3419856"/>
            <a:ext cx="1225296" cy="640080"/>
          </a:xfrm>
          <a:prstGeom prst="rect">
            <a:avLst/>
          </a:prstGeom>
          <a:solidFill>
            <a:srgbClr val="566B80"/>
          </a:solidFill>
          <a:ln/>
        </p:spPr>
        <p:txBody>
          <a:bodyPr/>
          <a:lstStyle/>
          <a:p>
            <a:endParaRPr lang="en-US"/>
          </a:p>
        </p:txBody>
      </p:sp>
      <p:sp>
        <p:nvSpPr>
          <p:cNvPr id="34" name="Text 31"/>
          <p:cNvSpPr/>
          <p:nvPr/>
        </p:nvSpPr>
        <p:spPr>
          <a:xfrm>
            <a:off x="6163056" y="3419856"/>
            <a:ext cx="1225296" cy="640080"/>
          </a:xfrm>
          <a:prstGeom prst="rect">
            <a:avLst/>
          </a:prstGeom>
          <a:noFill/>
          <a:ln/>
        </p:spPr>
        <p:txBody>
          <a:bodyPr wrap="square" lIns="381" tIns="381" rIns="381" bIns="381" rtlCol="0" anchor="ctr"/>
          <a:lstStyle/>
          <a:p>
            <a:pPr marL="0" indent="0" algn="ctr">
              <a:lnSpc>
                <a:spcPts val="1050"/>
              </a:lnSpc>
              <a:buNone/>
            </a:pPr>
            <a:r>
              <a:rPr lang="en-US" sz="900" b="1" dirty="0">
                <a:solidFill>
                  <a:srgbClr val="FFFFFF"/>
                </a:solidFill>
                <a:latin typeface="Arial" pitchFamily="34" charset="0"/>
                <a:ea typeface="Arial" pitchFamily="34" charset="-122"/>
                <a:cs typeface="Arial" pitchFamily="34" charset="-120"/>
              </a:rPr>
              <a:t>VOLUMES</a:t>
            </a:r>
            <a:endParaRPr lang="en-US" sz="900" dirty="0"/>
          </a:p>
          <a:p>
            <a:pPr marL="0" indent="0" algn="ctr">
              <a:lnSpc>
                <a:spcPts val="1050"/>
              </a:lnSpc>
              <a:buNone/>
            </a:pPr>
            <a:r>
              <a:rPr lang="en-US" sz="900" b="1" dirty="0">
                <a:solidFill>
                  <a:srgbClr val="FFFFFF"/>
                </a:solidFill>
                <a:latin typeface="Arial" pitchFamily="34" charset="0"/>
                <a:ea typeface="Arial" pitchFamily="34" charset="-122"/>
                <a:cs typeface="Arial" pitchFamily="34" charset="-120"/>
              </a:rPr>
              <a:t>(files)</a:t>
            </a:r>
            <a:endParaRPr lang="en-US" sz="900" dirty="0"/>
          </a:p>
        </p:txBody>
      </p:sp>
      <p:sp>
        <p:nvSpPr>
          <p:cNvPr id="35" name="Shape 32"/>
          <p:cNvSpPr/>
          <p:nvPr/>
        </p:nvSpPr>
        <p:spPr>
          <a:xfrm>
            <a:off x="7479792" y="3419856"/>
            <a:ext cx="1097280" cy="640080"/>
          </a:xfrm>
          <a:prstGeom prst="rect">
            <a:avLst/>
          </a:prstGeom>
          <a:solidFill>
            <a:srgbClr val="566B80"/>
          </a:solidFill>
          <a:ln/>
        </p:spPr>
        <p:txBody>
          <a:bodyPr/>
          <a:lstStyle/>
          <a:p>
            <a:endParaRPr lang="en-US"/>
          </a:p>
        </p:txBody>
      </p:sp>
      <p:sp>
        <p:nvSpPr>
          <p:cNvPr id="36" name="Text 33"/>
          <p:cNvSpPr/>
          <p:nvPr/>
        </p:nvSpPr>
        <p:spPr>
          <a:xfrm>
            <a:off x="7479792" y="3419856"/>
            <a:ext cx="1097280" cy="640080"/>
          </a:xfrm>
          <a:prstGeom prst="rect">
            <a:avLst/>
          </a:prstGeom>
          <a:noFill/>
          <a:ln/>
        </p:spPr>
        <p:txBody>
          <a:bodyPr wrap="square" lIns="381" tIns="381" rIns="381" bIns="381" rtlCol="0" anchor="ctr"/>
          <a:lstStyle/>
          <a:p>
            <a:pPr marL="0" indent="0" algn="ctr">
              <a:lnSpc>
                <a:spcPts val="1000"/>
              </a:lnSpc>
              <a:buNone/>
            </a:pPr>
            <a:r>
              <a:rPr lang="en-US" sz="850" b="1" dirty="0">
                <a:solidFill>
                  <a:srgbClr val="FFFFFF"/>
                </a:solidFill>
                <a:latin typeface="Arial" pitchFamily="34" charset="0"/>
                <a:ea typeface="Arial" pitchFamily="34" charset="-122"/>
                <a:cs typeface="Arial" pitchFamily="34" charset="-120"/>
              </a:rPr>
              <a:t>FUNCTIONS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7 · GUARANTEED TOPIC</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Managed vs. external tables</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10</a:t>
            </a:r>
            <a:endParaRPr lang="en-US" sz="800" dirty="0"/>
          </a:p>
        </p:txBody>
      </p:sp>
      <p:sp>
        <p:nvSpPr>
          <p:cNvPr id="7" name="Shape 4"/>
          <p:cNvSpPr/>
          <p:nvPr/>
        </p:nvSpPr>
        <p:spPr>
          <a:xfrm>
            <a:off x="502920" y="1298448"/>
            <a:ext cx="3977640" cy="2743200"/>
          </a:xfrm>
          <a:prstGeom prst="rect">
            <a:avLst/>
          </a:prstGeom>
          <a:solidFill>
            <a:srgbClr val="ECF0F1"/>
          </a:solidFill>
          <a:ln/>
        </p:spPr>
        <p:txBody>
          <a:bodyPr/>
          <a:lstStyle/>
          <a:p>
            <a:endParaRPr lang="en-US"/>
          </a:p>
        </p:txBody>
      </p:sp>
      <p:sp>
        <p:nvSpPr>
          <p:cNvPr id="8" name="Text 5"/>
          <p:cNvSpPr/>
          <p:nvPr/>
        </p:nvSpPr>
        <p:spPr>
          <a:xfrm>
            <a:off x="704088" y="1426464"/>
            <a:ext cx="3575304" cy="228600"/>
          </a:xfrm>
          <a:prstGeom prst="rect">
            <a:avLst/>
          </a:prstGeom>
          <a:noFill/>
          <a:ln/>
        </p:spPr>
        <p:txBody>
          <a:bodyPr wrap="square" lIns="0" tIns="0" rIns="0" bIns="0" rtlCol="0" anchor="ctr"/>
          <a:lstStyle/>
          <a:p>
            <a:pPr marL="0" indent="0">
              <a:buNone/>
            </a:pPr>
            <a:r>
              <a:rPr lang="en-US" sz="950" b="1" kern="0" spc="200" dirty="0">
                <a:solidFill>
                  <a:srgbClr val="7F8C8D"/>
                </a:solidFill>
                <a:latin typeface="Arial" pitchFamily="34" charset="0"/>
                <a:ea typeface="Arial" pitchFamily="34" charset="-122"/>
                <a:cs typeface="Arial" pitchFamily="34" charset="-120"/>
              </a:rPr>
              <a:t>MANAGED (DEFAULT + RECOMMENDED)</a:t>
            </a:r>
            <a:endParaRPr lang="en-US" sz="950" dirty="0"/>
          </a:p>
        </p:txBody>
      </p:sp>
      <p:sp>
        <p:nvSpPr>
          <p:cNvPr id="9" name="Shape 6"/>
          <p:cNvSpPr/>
          <p:nvPr/>
        </p:nvSpPr>
        <p:spPr>
          <a:xfrm>
            <a:off x="731520" y="1847088"/>
            <a:ext cx="91440" cy="91440"/>
          </a:xfrm>
          <a:prstGeom prst="rect">
            <a:avLst/>
          </a:prstGeom>
          <a:solidFill>
            <a:srgbClr val="E31E24"/>
          </a:solidFill>
          <a:ln/>
        </p:spPr>
        <p:txBody>
          <a:bodyPr/>
          <a:lstStyle/>
          <a:p>
            <a:endParaRPr lang="en-US"/>
          </a:p>
        </p:txBody>
      </p:sp>
      <p:sp>
        <p:nvSpPr>
          <p:cNvPr id="10" name="Text 7"/>
          <p:cNvSpPr/>
          <p:nvPr/>
        </p:nvSpPr>
        <p:spPr>
          <a:xfrm>
            <a:off x="950976" y="1746504"/>
            <a:ext cx="3346704" cy="566928"/>
          </a:xfrm>
          <a:prstGeom prst="rect">
            <a:avLst/>
          </a:prstGeom>
          <a:noFill/>
          <a:ln/>
        </p:spPr>
        <p:txBody>
          <a:bodyPr wrap="square" lIns="0" tIns="0" rIns="0" bIns="0" rtlCol="0" anchor="t"/>
          <a:lstStyle/>
          <a:p>
            <a:pPr marL="0" indent="0">
              <a:lnSpc>
                <a:spcPts val="1518"/>
              </a:lnSpc>
              <a:buNone/>
            </a:pPr>
            <a:r>
              <a:rPr lang="en-US" sz="1150" dirty="0">
                <a:solidFill>
                  <a:srgbClr val="2C3E50"/>
                </a:solidFill>
                <a:latin typeface="Arial" pitchFamily="34" charset="0"/>
                <a:ea typeface="Arial" pitchFamily="34" charset="-122"/>
                <a:cs typeface="Arial" pitchFamily="34" charset="-120"/>
              </a:rPr>
              <a:t>UC controls metadata AND data files</a:t>
            </a:r>
            <a:endParaRPr lang="en-US" sz="1150" dirty="0"/>
          </a:p>
        </p:txBody>
      </p:sp>
      <p:sp>
        <p:nvSpPr>
          <p:cNvPr id="11" name="Shape 8"/>
          <p:cNvSpPr/>
          <p:nvPr/>
        </p:nvSpPr>
        <p:spPr>
          <a:xfrm>
            <a:off x="731520" y="2414016"/>
            <a:ext cx="91440" cy="91440"/>
          </a:xfrm>
          <a:prstGeom prst="rect">
            <a:avLst/>
          </a:prstGeom>
          <a:solidFill>
            <a:srgbClr val="E31E24"/>
          </a:solidFill>
          <a:ln/>
        </p:spPr>
        <p:txBody>
          <a:bodyPr/>
          <a:lstStyle/>
          <a:p>
            <a:endParaRPr lang="en-US"/>
          </a:p>
        </p:txBody>
      </p:sp>
      <p:sp>
        <p:nvSpPr>
          <p:cNvPr id="12" name="Text 9"/>
          <p:cNvSpPr/>
          <p:nvPr/>
        </p:nvSpPr>
        <p:spPr>
          <a:xfrm>
            <a:off x="950976" y="2313432"/>
            <a:ext cx="3346704" cy="566928"/>
          </a:xfrm>
          <a:prstGeom prst="rect">
            <a:avLst/>
          </a:prstGeom>
          <a:noFill/>
          <a:ln/>
        </p:spPr>
        <p:txBody>
          <a:bodyPr wrap="square" lIns="0" tIns="0" rIns="0" bIns="0" rtlCol="0" anchor="t"/>
          <a:lstStyle/>
          <a:p>
            <a:pPr marL="0" indent="0">
              <a:lnSpc>
                <a:spcPts val="1518"/>
              </a:lnSpc>
              <a:buNone/>
            </a:pPr>
            <a:r>
              <a:rPr lang="en-US" sz="1150" dirty="0">
                <a:solidFill>
                  <a:srgbClr val="2C3E50"/>
                </a:solidFill>
                <a:latin typeface="Arial" pitchFamily="34" charset="0"/>
                <a:ea typeface="Arial" pitchFamily="34" charset="-122"/>
                <a:cs typeface="Arial" pitchFamily="34" charset="-120"/>
              </a:rPr>
              <a:t>DROP TABLE deletes the data (UNDROP window)</a:t>
            </a:r>
            <a:endParaRPr lang="en-US" sz="1150" dirty="0"/>
          </a:p>
        </p:txBody>
      </p:sp>
      <p:sp>
        <p:nvSpPr>
          <p:cNvPr id="13" name="Shape 10"/>
          <p:cNvSpPr/>
          <p:nvPr/>
        </p:nvSpPr>
        <p:spPr>
          <a:xfrm>
            <a:off x="731520" y="2980944"/>
            <a:ext cx="91440" cy="91440"/>
          </a:xfrm>
          <a:prstGeom prst="rect">
            <a:avLst/>
          </a:prstGeom>
          <a:solidFill>
            <a:srgbClr val="E31E24"/>
          </a:solidFill>
          <a:ln/>
        </p:spPr>
        <p:txBody>
          <a:bodyPr/>
          <a:lstStyle/>
          <a:p>
            <a:endParaRPr lang="en-US"/>
          </a:p>
        </p:txBody>
      </p:sp>
      <p:sp>
        <p:nvSpPr>
          <p:cNvPr id="14" name="Text 11"/>
          <p:cNvSpPr/>
          <p:nvPr/>
        </p:nvSpPr>
        <p:spPr>
          <a:xfrm>
            <a:off x="950976" y="2880360"/>
            <a:ext cx="3346704" cy="566928"/>
          </a:xfrm>
          <a:prstGeom prst="rect">
            <a:avLst/>
          </a:prstGeom>
          <a:noFill/>
          <a:ln/>
        </p:spPr>
        <p:txBody>
          <a:bodyPr wrap="square" lIns="0" tIns="0" rIns="0" bIns="0" rtlCol="0" anchor="t"/>
          <a:lstStyle/>
          <a:p>
            <a:pPr marL="0" indent="0">
              <a:lnSpc>
                <a:spcPts val="1518"/>
              </a:lnSpc>
              <a:buNone/>
            </a:pPr>
            <a:r>
              <a:rPr lang="en-US" sz="1150" dirty="0">
                <a:solidFill>
                  <a:srgbClr val="2C3E50"/>
                </a:solidFill>
                <a:latin typeface="Arial" pitchFamily="34" charset="0"/>
                <a:ea typeface="Arial" pitchFamily="34" charset="-122"/>
                <a:cs typeface="Arial" pitchFamily="34" charset="-120"/>
              </a:rPr>
              <a:t>Unlocks predictive optimization</a:t>
            </a:r>
            <a:endParaRPr lang="en-US" sz="1150" dirty="0"/>
          </a:p>
        </p:txBody>
      </p:sp>
      <p:sp>
        <p:nvSpPr>
          <p:cNvPr id="15" name="Shape 12"/>
          <p:cNvSpPr/>
          <p:nvPr/>
        </p:nvSpPr>
        <p:spPr>
          <a:xfrm>
            <a:off x="4663440" y="1298448"/>
            <a:ext cx="3977640" cy="2743200"/>
          </a:xfrm>
          <a:prstGeom prst="rect">
            <a:avLst/>
          </a:prstGeom>
          <a:solidFill>
            <a:srgbClr val="ECF0F1"/>
          </a:solidFill>
          <a:ln/>
        </p:spPr>
        <p:txBody>
          <a:bodyPr/>
          <a:lstStyle/>
          <a:p>
            <a:endParaRPr lang="en-US"/>
          </a:p>
        </p:txBody>
      </p:sp>
      <p:sp>
        <p:nvSpPr>
          <p:cNvPr id="16" name="Text 13"/>
          <p:cNvSpPr/>
          <p:nvPr/>
        </p:nvSpPr>
        <p:spPr>
          <a:xfrm>
            <a:off x="4864608" y="1426464"/>
            <a:ext cx="3575304" cy="228600"/>
          </a:xfrm>
          <a:prstGeom prst="rect">
            <a:avLst/>
          </a:prstGeom>
          <a:noFill/>
          <a:ln/>
        </p:spPr>
        <p:txBody>
          <a:bodyPr wrap="square" lIns="0" tIns="0" rIns="0" bIns="0" rtlCol="0" anchor="ctr"/>
          <a:lstStyle/>
          <a:p>
            <a:pPr marL="0" indent="0">
              <a:buNone/>
            </a:pPr>
            <a:r>
              <a:rPr lang="en-US" sz="950" b="1" kern="0" spc="200" dirty="0">
                <a:solidFill>
                  <a:srgbClr val="7F8C8D"/>
                </a:solidFill>
                <a:latin typeface="Arial" pitchFamily="34" charset="0"/>
                <a:ea typeface="Arial" pitchFamily="34" charset="-122"/>
                <a:cs typeface="Arial" pitchFamily="34" charset="-120"/>
              </a:rPr>
              <a:t>EXTERNAL</a:t>
            </a:r>
            <a:endParaRPr lang="en-US" sz="950" dirty="0"/>
          </a:p>
        </p:txBody>
      </p:sp>
      <p:sp>
        <p:nvSpPr>
          <p:cNvPr id="17" name="Shape 14"/>
          <p:cNvSpPr/>
          <p:nvPr/>
        </p:nvSpPr>
        <p:spPr>
          <a:xfrm>
            <a:off x="4892040" y="1847088"/>
            <a:ext cx="91440" cy="91440"/>
          </a:xfrm>
          <a:prstGeom prst="rect">
            <a:avLst/>
          </a:prstGeom>
          <a:solidFill>
            <a:srgbClr val="E31E24"/>
          </a:solidFill>
          <a:ln/>
        </p:spPr>
        <p:txBody>
          <a:bodyPr/>
          <a:lstStyle/>
          <a:p>
            <a:endParaRPr lang="en-US"/>
          </a:p>
        </p:txBody>
      </p:sp>
      <p:sp>
        <p:nvSpPr>
          <p:cNvPr id="18" name="Text 15"/>
          <p:cNvSpPr/>
          <p:nvPr/>
        </p:nvSpPr>
        <p:spPr>
          <a:xfrm>
            <a:off x="5111496" y="1746504"/>
            <a:ext cx="3346704" cy="566928"/>
          </a:xfrm>
          <a:prstGeom prst="rect">
            <a:avLst/>
          </a:prstGeom>
          <a:noFill/>
          <a:ln/>
        </p:spPr>
        <p:txBody>
          <a:bodyPr wrap="square" lIns="0" tIns="0" rIns="0" bIns="0" rtlCol="0" anchor="t"/>
          <a:lstStyle/>
          <a:p>
            <a:pPr marL="0" indent="0">
              <a:lnSpc>
                <a:spcPts val="1518"/>
              </a:lnSpc>
              <a:buNone/>
            </a:pPr>
            <a:r>
              <a:rPr lang="en-US" sz="1150" dirty="0">
                <a:solidFill>
                  <a:srgbClr val="2C3E50"/>
                </a:solidFill>
                <a:latin typeface="Arial" pitchFamily="34" charset="0"/>
                <a:ea typeface="Arial" pitchFamily="34" charset="-122"/>
                <a:cs typeface="Arial" pitchFamily="34" charset="-120"/>
              </a:rPr>
              <a:t>UC controls metadata ONLY — your storage path</a:t>
            </a:r>
            <a:endParaRPr lang="en-US" sz="1150" dirty="0"/>
          </a:p>
        </p:txBody>
      </p:sp>
      <p:sp>
        <p:nvSpPr>
          <p:cNvPr id="19" name="Shape 16"/>
          <p:cNvSpPr/>
          <p:nvPr/>
        </p:nvSpPr>
        <p:spPr>
          <a:xfrm>
            <a:off x="4892040" y="2414016"/>
            <a:ext cx="91440" cy="91440"/>
          </a:xfrm>
          <a:prstGeom prst="rect">
            <a:avLst/>
          </a:prstGeom>
          <a:solidFill>
            <a:srgbClr val="E31E24"/>
          </a:solidFill>
          <a:ln/>
        </p:spPr>
        <p:txBody>
          <a:bodyPr/>
          <a:lstStyle/>
          <a:p>
            <a:endParaRPr lang="en-US"/>
          </a:p>
        </p:txBody>
      </p:sp>
      <p:sp>
        <p:nvSpPr>
          <p:cNvPr id="20" name="Text 17"/>
          <p:cNvSpPr/>
          <p:nvPr/>
        </p:nvSpPr>
        <p:spPr>
          <a:xfrm>
            <a:off x="5111496" y="2313432"/>
            <a:ext cx="3346704" cy="566928"/>
          </a:xfrm>
          <a:prstGeom prst="rect">
            <a:avLst/>
          </a:prstGeom>
          <a:noFill/>
          <a:ln/>
        </p:spPr>
        <p:txBody>
          <a:bodyPr wrap="square" lIns="0" tIns="0" rIns="0" bIns="0" rtlCol="0" anchor="t"/>
          <a:lstStyle/>
          <a:p>
            <a:pPr marL="0" indent="0">
              <a:lnSpc>
                <a:spcPts val="1518"/>
              </a:lnSpc>
              <a:buNone/>
            </a:pPr>
            <a:r>
              <a:rPr lang="en-US" sz="1150" dirty="0">
                <a:solidFill>
                  <a:srgbClr val="2C3E50"/>
                </a:solidFill>
                <a:latin typeface="Arial" pitchFamily="34" charset="0"/>
                <a:ea typeface="Arial" pitchFamily="34" charset="-122"/>
                <a:cs typeface="Arial" pitchFamily="34" charset="-120"/>
              </a:rPr>
              <a:t>DROP TABLE removes metadata; files remain</a:t>
            </a:r>
            <a:endParaRPr lang="en-US" sz="1150" dirty="0"/>
          </a:p>
        </p:txBody>
      </p:sp>
      <p:sp>
        <p:nvSpPr>
          <p:cNvPr id="21" name="Shape 18"/>
          <p:cNvSpPr/>
          <p:nvPr/>
        </p:nvSpPr>
        <p:spPr>
          <a:xfrm>
            <a:off x="4892040" y="2980944"/>
            <a:ext cx="91440" cy="91440"/>
          </a:xfrm>
          <a:prstGeom prst="rect">
            <a:avLst/>
          </a:prstGeom>
          <a:solidFill>
            <a:srgbClr val="E31E24"/>
          </a:solidFill>
          <a:ln/>
        </p:spPr>
        <p:txBody>
          <a:bodyPr/>
          <a:lstStyle/>
          <a:p>
            <a:endParaRPr lang="en-US"/>
          </a:p>
        </p:txBody>
      </p:sp>
      <p:sp>
        <p:nvSpPr>
          <p:cNvPr id="22" name="Text 19"/>
          <p:cNvSpPr/>
          <p:nvPr/>
        </p:nvSpPr>
        <p:spPr>
          <a:xfrm>
            <a:off x="5111496" y="2880360"/>
            <a:ext cx="3346704" cy="566928"/>
          </a:xfrm>
          <a:prstGeom prst="rect">
            <a:avLst/>
          </a:prstGeom>
          <a:noFill/>
          <a:ln/>
        </p:spPr>
        <p:txBody>
          <a:bodyPr wrap="square" lIns="0" tIns="0" rIns="0" bIns="0" rtlCol="0" anchor="t"/>
          <a:lstStyle/>
          <a:p>
            <a:pPr marL="0" indent="0">
              <a:lnSpc>
                <a:spcPts val="1518"/>
              </a:lnSpc>
              <a:buNone/>
            </a:pPr>
            <a:r>
              <a:rPr lang="en-US" sz="1150" dirty="0">
                <a:solidFill>
                  <a:srgbClr val="2C3E50"/>
                </a:solidFill>
                <a:latin typeface="Arial" pitchFamily="34" charset="0"/>
                <a:ea typeface="Arial" pitchFamily="34" charset="-122"/>
                <a:cs typeface="Arial" pitchFamily="34" charset="-120"/>
              </a:rPr>
              <a:t>For shared estates &amp; hard location requirements</a:t>
            </a:r>
            <a:endParaRPr lang="en-US" sz="1150" dirty="0"/>
          </a:p>
        </p:txBody>
      </p:sp>
      <p:sp>
        <p:nvSpPr>
          <p:cNvPr id="23" name="Shape 20"/>
          <p:cNvSpPr/>
          <p:nvPr/>
        </p:nvSpPr>
        <p:spPr>
          <a:xfrm>
            <a:off x="502920" y="4224528"/>
            <a:ext cx="8138160" cy="566928"/>
          </a:xfrm>
          <a:prstGeom prst="rect">
            <a:avLst/>
          </a:prstGeom>
          <a:solidFill>
            <a:srgbClr val="FDF3F3"/>
          </a:solidFill>
          <a:ln/>
        </p:spPr>
        <p:txBody>
          <a:bodyPr/>
          <a:lstStyle/>
          <a:p>
            <a:endParaRPr lang="en-US"/>
          </a:p>
        </p:txBody>
      </p:sp>
      <p:sp>
        <p:nvSpPr>
          <p:cNvPr id="24" name="Shape 21"/>
          <p:cNvSpPr/>
          <p:nvPr/>
        </p:nvSpPr>
        <p:spPr>
          <a:xfrm>
            <a:off x="502920" y="4224528"/>
            <a:ext cx="54864" cy="566928"/>
          </a:xfrm>
          <a:prstGeom prst="rect">
            <a:avLst/>
          </a:prstGeom>
          <a:solidFill>
            <a:srgbClr val="E31E24"/>
          </a:solidFill>
          <a:ln/>
        </p:spPr>
        <p:txBody>
          <a:bodyPr/>
          <a:lstStyle/>
          <a:p>
            <a:endParaRPr lang="en-US"/>
          </a:p>
        </p:txBody>
      </p:sp>
      <p:sp>
        <p:nvSpPr>
          <p:cNvPr id="25" name="Text 22"/>
          <p:cNvSpPr/>
          <p:nvPr/>
        </p:nvSpPr>
        <p:spPr>
          <a:xfrm>
            <a:off x="704088" y="4279392"/>
            <a:ext cx="7772400" cy="457200"/>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EXAM REFLEX   </a:t>
            </a:r>
            <a:r>
              <a:rPr lang="en-US" sz="1100" dirty="0">
                <a:solidFill>
                  <a:srgbClr val="2C3E50"/>
                </a:solidFill>
                <a:latin typeface="Arial" pitchFamily="34" charset="0"/>
                <a:ea typeface="Arial" pitchFamily="34" charset="-122"/>
                <a:cs typeface="Arial" pitchFamily="34" charset="-120"/>
              </a:rPr>
              <a:t>DESCRIBE EXTENDED → find Type: MANAGED or EXTERNAL, then predict what DROP does. Two questions live here.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DOMAINS 2 &amp; 7</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Volumes: governed storage for files</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11</a:t>
            </a:r>
            <a:endParaRPr lang="en-US" sz="800" dirty="0"/>
          </a:p>
        </p:txBody>
      </p:sp>
      <p:sp>
        <p:nvSpPr>
          <p:cNvPr id="7" name="Shape 4"/>
          <p:cNvSpPr/>
          <p:nvPr/>
        </p:nvSpPr>
        <p:spPr>
          <a:xfrm>
            <a:off x="502920" y="1481328"/>
            <a:ext cx="91440" cy="91440"/>
          </a:xfrm>
          <a:prstGeom prst="rect">
            <a:avLst/>
          </a:prstGeom>
          <a:solidFill>
            <a:srgbClr val="E31E24"/>
          </a:solidFill>
          <a:ln/>
        </p:spPr>
        <p:txBody>
          <a:bodyPr/>
          <a:lstStyle/>
          <a:p>
            <a:endParaRPr lang="en-US"/>
          </a:p>
        </p:txBody>
      </p:sp>
      <p:sp>
        <p:nvSpPr>
          <p:cNvPr id="8" name="Text 5"/>
          <p:cNvSpPr/>
          <p:nvPr/>
        </p:nvSpPr>
        <p:spPr>
          <a:xfrm>
            <a:off x="722376" y="1380744"/>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Non-tabular data  </a:t>
            </a:r>
            <a:r>
              <a:rPr lang="en-US" sz="1300" dirty="0">
                <a:solidFill>
                  <a:srgbClr val="55606B"/>
                </a:solidFill>
                <a:latin typeface="Arial" pitchFamily="34" charset="0"/>
                <a:ea typeface="Arial" pitchFamily="34" charset="-122"/>
                <a:cs typeface="Arial" pitchFamily="34" charset="-120"/>
              </a:rPr>
              <a:t>landing CSVs/JSON, images, libraries</a:t>
            </a:r>
            <a:endParaRPr lang="en-US" sz="1300" dirty="0"/>
          </a:p>
        </p:txBody>
      </p:sp>
      <p:sp>
        <p:nvSpPr>
          <p:cNvPr id="9" name="Shape 6"/>
          <p:cNvSpPr/>
          <p:nvPr/>
        </p:nvSpPr>
        <p:spPr>
          <a:xfrm>
            <a:off x="502920" y="2231136"/>
            <a:ext cx="91440" cy="91440"/>
          </a:xfrm>
          <a:prstGeom prst="rect">
            <a:avLst/>
          </a:prstGeom>
          <a:solidFill>
            <a:srgbClr val="E31E24"/>
          </a:solidFill>
          <a:ln/>
        </p:spPr>
        <p:txBody>
          <a:bodyPr/>
          <a:lstStyle/>
          <a:p>
            <a:endParaRPr lang="en-US"/>
          </a:p>
        </p:txBody>
      </p:sp>
      <p:sp>
        <p:nvSpPr>
          <p:cNvPr id="10" name="Text 7"/>
          <p:cNvSpPr/>
          <p:nvPr/>
        </p:nvSpPr>
        <p:spPr>
          <a:xfrm>
            <a:off x="722376" y="2130552"/>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Same governance  </a:t>
            </a:r>
            <a:r>
              <a:rPr lang="en-US" sz="1300" dirty="0">
                <a:solidFill>
                  <a:srgbClr val="55606B"/>
                </a:solidFill>
                <a:latin typeface="Arial" pitchFamily="34" charset="0"/>
                <a:ea typeface="Arial" pitchFamily="34" charset="-122"/>
                <a:cs typeface="Arial" pitchFamily="34" charset="-120"/>
              </a:rPr>
              <a:t>a securable in the schema, like a table</a:t>
            </a:r>
            <a:endParaRPr lang="en-US" sz="1300" dirty="0"/>
          </a:p>
        </p:txBody>
      </p:sp>
      <p:sp>
        <p:nvSpPr>
          <p:cNvPr id="11" name="Shape 8"/>
          <p:cNvSpPr/>
          <p:nvPr/>
        </p:nvSpPr>
        <p:spPr>
          <a:xfrm>
            <a:off x="502920" y="2980944"/>
            <a:ext cx="91440" cy="91440"/>
          </a:xfrm>
          <a:prstGeom prst="rect">
            <a:avLst/>
          </a:prstGeom>
          <a:solidFill>
            <a:srgbClr val="E31E24"/>
          </a:solidFill>
          <a:ln/>
        </p:spPr>
        <p:txBody>
          <a:bodyPr/>
          <a:lstStyle/>
          <a:p>
            <a:endParaRPr lang="en-US"/>
          </a:p>
        </p:txBody>
      </p:sp>
      <p:sp>
        <p:nvSpPr>
          <p:cNvPr id="12" name="Text 9"/>
          <p:cNvSpPr/>
          <p:nvPr/>
        </p:nvSpPr>
        <p:spPr>
          <a:xfrm>
            <a:off x="722376" y="2880360"/>
            <a:ext cx="3849624" cy="749808"/>
          </a:xfrm>
          <a:prstGeom prst="rect">
            <a:avLst/>
          </a:prstGeom>
          <a:noFill/>
          <a:ln/>
        </p:spPr>
        <p:txBody>
          <a:bodyPr wrap="square" lIns="0" tIns="0" rIns="0" bIns="0" rtlCol="0" anchor="t"/>
          <a:lstStyle/>
          <a:p>
            <a:pPr marL="0" indent="0">
              <a:lnSpc>
                <a:spcPts val="1716"/>
              </a:lnSpc>
              <a:buNone/>
            </a:pPr>
            <a:r>
              <a:rPr lang="en-US" sz="1300" b="1" dirty="0">
                <a:solidFill>
                  <a:srgbClr val="2C3E50"/>
                </a:solidFill>
                <a:latin typeface="Arial" pitchFamily="34" charset="0"/>
                <a:ea typeface="Arial" pitchFamily="34" charset="-122"/>
                <a:cs typeface="Arial" pitchFamily="34" charset="-120"/>
              </a:rPr>
              <a:t>Not queryable directly  </a:t>
            </a:r>
            <a:r>
              <a:rPr lang="en-US" sz="1300" dirty="0">
                <a:solidFill>
                  <a:srgbClr val="55606B"/>
                </a:solidFill>
                <a:latin typeface="Arial" pitchFamily="34" charset="0"/>
                <a:ea typeface="Arial" pitchFamily="34" charset="-122"/>
                <a:cs typeface="Arial" pitchFamily="34" charset="-120"/>
              </a:rPr>
              <a:t>query files IN it via read_files()</a:t>
            </a:r>
            <a:endParaRPr lang="en-US" sz="1300" dirty="0"/>
          </a:p>
        </p:txBody>
      </p:sp>
      <p:sp>
        <p:nvSpPr>
          <p:cNvPr id="13" name="Shape 10"/>
          <p:cNvSpPr/>
          <p:nvPr/>
        </p:nvSpPr>
        <p:spPr>
          <a:xfrm>
            <a:off x="4892040" y="1325880"/>
            <a:ext cx="3749040" cy="2377440"/>
          </a:xfrm>
          <a:prstGeom prst="rect">
            <a:avLst/>
          </a:prstGeom>
          <a:solidFill>
            <a:srgbClr val="263545"/>
          </a:solidFill>
          <a:ln/>
        </p:spPr>
        <p:txBody>
          <a:bodyPr/>
          <a:lstStyle/>
          <a:p>
            <a:endParaRPr lang="en-US"/>
          </a:p>
        </p:txBody>
      </p:sp>
      <p:sp>
        <p:nvSpPr>
          <p:cNvPr id="14" name="Shape 11"/>
          <p:cNvSpPr/>
          <p:nvPr/>
        </p:nvSpPr>
        <p:spPr>
          <a:xfrm>
            <a:off x="4892040" y="1325880"/>
            <a:ext cx="3749040" cy="274320"/>
          </a:xfrm>
          <a:prstGeom prst="rect">
            <a:avLst/>
          </a:prstGeom>
          <a:solidFill>
            <a:srgbClr val="2C3E50"/>
          </a:solidFill>
          <a:ln/>
        </p:spPr>
        <p:txBody>
          <a:bodyPr/>
          <a:lstStyle/>
          <a:p>
            <a:endParaRPr lang="en-US"/>
          </a:p>
        </p:txBody>
      </p:sp>
      <p:sp>
        <p:nvSpPr>
          <p:cNvPr id="15" name="Shape 12"/>
          <p:cNvSpPr/>
          <p:nvPr/>
        </p:nvSpPr>
        <p:spPr>
          <a:xfrm>
            <a:off x="5020056" y="1417320"/>
            <a:ext cx="91440" cy="91440"/>
          </a:xfrm>
          <a:prstGeom prst="ellipse">
            <a:avLst/>
          </a:prstGeom>
          <a:solidFill>
            <a:srgbClr val="E31E24"/>
          </a:solidFill>
          <a:ln/>
        </p:spPr>
        <p:txBody>
          <a:bodyPr/>
          <a:lstStyle/>
          <a:p>
            <a:endParaRPr lang="en-US"/>
          </a:p>
        </p:txBody>
      </p:sp>
      <p:sp>
        <p:nvSpPr>
          <p:cNvPr id="16" name="Text 13"/>
          <p:cNvSpPr/>
          <p:nvPr/>
        </p:nvSpPr>
        <p:spPr>
          <a:xfrm>
            <a:off x="5202936" y="1344168"/>
            <a:ext cx="3291840" cy="237744"/>
          </a:xfrm>
          <a:prstGeom prst="rect">
            <a:avLst/>
          </a:prstGeom>
          <a:noFill/>
          <a:ln/>
        </p:spPr>
        <p:txBody>
          <a:bodyPr wrap="square" lIns="0" tIns="0" rIns="0" bIns="0" rtlCol="0" anchor="ctr"/>
          <a:lstStyle/>
          <a:p>
            <a:pPr marL="0" indent="0">
              <a:buNone/>
            </a:pPr>
            <a:r>
              <a:rPr lang="en-US" sz="950" dirty="0">
                <a:solidFill>
                  <a:srgbClr val="AAB7C4"/>
                </a:solidFill>
                <a:latin typeface="Consolas" pitchFamily="34" charset="0"/>
                <a:ea typeface="Consolas" pitchFamily="34" charset="-122"/>
                <a:cs typeface="Consolas" pitchFamily="34" charset="-120"/>
              </a:rPr>
              <a:t>volumes.sql</a:t>
            </a:r>
            <a:endParaRPr lang="en-US" sz="950" dirty="0"/>
          </a:p>
        </p:txBody>
      </p:sp>
      <p:sp>
        <p:nvSpPr>
          <p:cNvPr id="17" name="Text 14"/>
          <p:cNvSpPr/>
          <p:nvPr/>
        </p:nvSpPr>
        <p:spPr>
          <a:xfrm>
            <a:off x="5093208" y="1691640"/>
            <a:ext cx="3364992" cy="1901952"/>
          </a:xfrm>
          <a:prstGeom prst="rect">
            <a:avLst/>
          </a:prstGeom>
          <a:noFill/>
          <a:ln/>
        </p:spPr>
        <p:txBody>
          <a:bodyPr wrap="square" lIns="0" tIns="0" rIns="0" bIns="0" rtlCol="0" anchor="t"/>
          <a:lstStyle/>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the path shape (memorize)</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/Volumes/&lt;catalog&gt;/&lt;schema&gt;/&lt;volume&gt;/...</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SELECT * FROM read_files(</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'/Volumes/workspace/lab1_you/</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landing/sales.csv',</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format =&gt; 'csv', header =&gt; true);</a:t>
            </a:r>
            <a:endParaRPr lang="en-US" sz="1050" dirty="0"/>
          </a:p>
        </p:txBody>
      </p:sp>
      <p:sp>
        <p:nvSpPr>
          <p:cNvPr id="18" name="Shape 15"/>
          <p:cNvSpPr/>
          <p:nvPr/>
        </p:nvSpPr>
        <p:spPr>
          <a:xfrm>
            <a:off x="4892040" y="3886200"/>
            <a:ext cx="3749040" cy="777240"/>
          </a:xfrm>
          <a:prstGeom prst="rect">
            <a:avLst/>
          </a:prstGeom>
          <a:solidFill>
            <a:srgbClr val="FDF3F3"/>
          </a:solidFill>
          <a:ln/>
        </p:spPr>
        <p:txBody>
          <a:bodyPr/>
          <a:lstStyle/>
          <a:p>
            <a:endParaRPr lang="en-US"/>
          </a:p>
        </p:txBody>
      </p:sp>
      <p:sp>
        <p:nvSpPr>
          <p:cNvPr id="19" name="Shape 16"/>
          <p:cNvSpPr/>
          <p:nvPr/>
        </p:nvSpPr>
        <p:spPr>
          <a:xfrm>
            <a:off x="4892040" y="3886200"/>
            <a:ext cx="54864" cy="777240"/>
          </a:xfrm>
          <a:prstGeom prst="rect">
            <a:avLst/>
          </a:prstGeom>
          <a:solidFill>
            <a:srgbClr val="E31E24"/>
          </a:solidFill>
          <a:ln/>
        </p:spPr>
        <p:txBody>
          <a:bodyPr/>
          <a:lstStyle/>
          <a:p>
            <a:endParaRPr lang="en-US"/>
          </a:p>
        </p:txBody>
      </p:sp>
      <p:sp>
        <p:nvSpPr>
          <p:cNvPr id="20" name="Text 17"/>
          <p:cNvSpPr/>
          <p:nvPr/>
        </p:nvSpPr>
        <p:spPr>
          <a:xfrm>
            <a:off x="5093208" y="3941064"/>
            <a:ext cx="3383280" cy="667512"/>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TRAP   </a:t>
            </a:r>
            <a:r>
              <a:rPr lang="en-US" sz="1100" dirty="0">
                <a:solidFill>
                  <a:srgbClr val="2C3E50"/>
                </a:solidFill>
                <a:latin typeface="Arial" pitchFamily="34" charset="0"/>
                <a:ea typeface="Arial" pitchFamily="34" charset="-122"/>
                <a:cs typeface="Arial" pitchFamily="34" charset="-120"/>
              </a:rPr>
              <a:t>SELECT * FROM my_volume fails — a volume is not a table. Load it or read_files 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3 · MOST-TESTED SYNTAX</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CREATE TABLE, CTAS, OR REPLACE</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12</a:t>
            </a:r>
            <a:endParaRPr lang="en-US" sz="800" dirty="0"/>
          </a:p>
        </p:txBody>
      </p:sp>
      <p:sp>
        <p:nvSpPr>
          <p:cNvPr id="7" name="Shape 4"/>
          <p:cNvSpPr/>
          <p:nvPr/>
        </p:nvSpPr>
        <p:spPr>
          <a:xfrm>
            <a:off x="502920" y="1325880"/>
            <a:ext cx="4983480" cy="3337560"/>
          </a:xfrm>
          <a:prstGeom prst="rect">
            <a:avLst/>
          </a:prstGeom>
          <a:solidFill>
            <a:srgbClr val="263545"/>
          </a:solidFill>
          <a:ln/>
        </p:spPr>
        <p:txBody>
          <a:bodyPr/>
          <a:lstStyle/>
          <a:p>
            <a:endParaRPr lang="en-US"/>
          </a:p>
        </p:txBody>
      </p:sp>
      <p:sp>
        <p:nvSpPr>
          <p:cNvPr id="8" name="Shape 5"/>
          <p:cNvSpPr/>
          <p:nvPr/>
        </p:nvSpPr>
        <p:spPr>
          <a:xfrm>
            <a:off x="502920" y="1325880"/>
            <a:ext cx="4983480" cy="274320"/>
          </a:xfrm>
          <a:prstGeom prst="rect">
            <a:avLst/>
          </a:prstGeom>
          <a:solidFill>
            <a:srgbClr val="2C3E50"/>
          </a:solidFill>
          <a:ln/>
        </p:spPr>
        <p:txBody>
          <a:bodyPr/>
          <a:lstStyle/>
          <a:p>
            <a:endParaRPr lang="en-US"/>
          </a:p>
        </p:txBody>
      </p:sp>
      <p:sp>
        <p:nvSpPr>
          <p:cNvPr id="9" name="Shape 6"/>
          <p:cNvSpPr/>
          <p:nvPr/>
        </p:nvSpPr>
        <p:spPr>
          <a:xfrm>
            <a:off x="630936" y="1417320"/>
            <a:ext cx="91440" cy="91440"/>
          </a:xfrm>
          <a:prstGeom prst="ellipse">
            <a:avLst/>
          </a:prstGeom>
          <a:solidFill>
            <a:srgbClr val="E31E24"/>
          </a:solidFill>
          <a:ln/>
        </p:spPr>
        <p:txBody>
          <a:bodyPr/>
          <a:lstStyle/>
          <a:p>
            <a:endParaRPr lang="en-US"/>
          </a:p>
        </p:txBody>
      </p:sp>
      <p:sp>
        <p:nvSpPr>
          <p:cNvPr id="10" name="Text 7"/>
          <p:cNvSpPr/>
          <p:nvPr/>
        </p:nvSpPr>
        <p:spPr>
          <a:xfrm>
            <a:off x="813816" y="1344168"/>
            <a:ext cx="4526280" cy="237744"/>
          </a:xfrm>
          <a:prstGeom prst="rect">
            <a:avLst/>
          </a:prstGeom>
          <a:noFill/>
          <a:ln/>
        </p:spPr>
        <p:txBody>
          <a:bodyPr wrap="square" lIns="0" tIns="0" rIns="0" bIns="0" rtlCol="0" anchor="ctr"/>
          <a:lstStyle/>
          <a:p>
            <a:pPr marL="0" indent="0">
              <a:buNone/>
            </a:pPr>
            <a:r>
              <a:rPr lang="en-US" sz="950" dirty="0">
                <a:solidFill>
                  <a:srgbClr val="AAB7C4"/>
                </a:solidFill>
                <a:latin typeface="Consolas" pitchFamily="34" charset="0"/>
                <a:ea typeface="Consolas" pitchFamily="34" charset="-122"/>
                <a:cs typeface="Consolas" pitchFamily="34" charset="-120"/>
              </a:rPr>
              <a:t>ddl_patterns.sql</a:t>
            </a:r>
            <a:endParaRPr lang="en-US" sz="950" dirty="0"/>
          </a:p>
        </p:txBody>
      </p:sp>
      <p:sp>
        <p:nvSpPr>
          <p:cNvPr id="11" name="Text 8"/>
          <p:cNvSpPr/>
          <p:nvPr/>
        </p:nvSpPr>
        <p:spPr>
          <a:xfrm>
            <a:off x="704088" y="1691640"/>
            <a:ext cx="4599432" cy="2862072"/>
          </a:xfrm>
          <a:prstGeom prst="rect">
            <a:avLst/>
          </a:prstGeom>
          <a:noFill/>
          <a:ln/>
        </p:spPr>
        <p:txBody>
          <a:bodyPr wrap="square" lIns="0" tIns="0" rIns="0" bIns="0" rtlCol="0" anchor="t"/>
          <a:lstStyle/>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explicit schema, empty table</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CREATE OR REPLACE TABLE t (id INT, amt DOUBLE);</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a:t>
            </a:r>
            <a:endParaRPr lang="en-US" sz="1050" dirty="0"/>
          </a:p>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CTAS: create AND populate, schema inferred</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CREATE TABLE t2 AS</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SELECT CAST(order_date AS DATE) AS order_date,</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fare_amount</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FROM   samples.nyctaxi.trips;</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 </a:t>
            </a:r>
            <a:endParaRPr lang="en-US" sz="1050" dirty="0"/>
          </a:p>
          <a:p>
            <a:pPr marL="0" indent="0">
              <a:lnSpc>
                <a:spcPts val="1450"/>
              </a:lnSpc>
              <a:buNone/>
            </a:pPr>
            <a:r>
              <a:rPr lang="en-US" sz="1050" dirty="0">
                <a:solidFill>
                  <a:srgbClr val="8FA3B5"/>
                </a:solidFill>
                <a:latin typeface="Consolas" pitchFamily="34" charset="0"/>
                <a:ea typeface="Consolas" pitchFamily="34" charset="-122"/>
                <a:cs typeface="Consolas" pitchFamily="34" charset="-120"/>
              </a:rPr>
              <a:t>-- no-op if t3 already exists (not a refresh!)</a:t>
            </a:r>
            <a:endParaRPr lang="en-US" sz="1050" dirty="0"/>
          </a:p>
          <a:p>
            <a:pPr marL="0" indent="0">
              <a:lnSpc>
                <a:spcPts val="1450"/>
              </a:lnSpc>
              <a:buNone/>
            </a:pPr>
            <a:r>
              <a:rPr lang="en-US" sz="1050" dirty="0">
                <a:solidFill>
                  <a:srgbClr val="EAF0F4"/>
                </a:solidFill>
                <a:latin typeface="Consolas" pitchFamily="34" charset="0"/>
                <a:ea typeface="Consolas" pitchFamily="34" charset="-122"/>
                <a:cs typeface="Consolas" pitchFamily="34" charset="-120"/>
              </a:rPr>
              <a:t>CREATE TABLE IF NOT EXISTS t3 (id INT);</a:t>
            </a:r>
            <a:endParaRPr lang="en-US" sz="1050" dirty="0"/>
          </a:p>
        </p:txBody>
      </p:sp>
      <p:sp>
        <p:nvSpPr>
          <p:cNvPr id="12" name="Shape 9"/>
          <p:cNvSpPr/>
          <p:nvPr/>
        </p:nvSpPr>
        <p:spPr>
          <a:xfrm>
            <a:off x="5760720" y="1572768"/>
            <a:ext cx="91440" cy="91440"/>
          </a:xfrm>
          <a:prstGeom prst="rect">
            <a:avLst/>
          </a:prstGeom>
          <a:solidFill>
            <a:srgbClr val="E31E24"/>
          </a:solidFill>
          <a:ln/>
        </p:spPr>
        <p:txBody>
          <a:bodyPr/>
          <a:lstStyle/>
          <a:p>
            <a:endParaRPr lang="en-US"/>
          </a:p>
        </p:txBody>
      </p:sp>
      <p:sp>
        <p:nvSpPr>
          <p:cNvPr id="13" name="Text 10"/>
          <p:cNvSpPr/>
          <p:nvPr/>
        </p:nvSpPr>
        <p:spPr>
          <a:xfrm>
            <a:off x="5980176" y="1472184"/>
            <a:ext cx="2660904" cy="914400"/>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CTAS rule  </a:t>
            </a:r>
            <a:r>
              <a:rPr lang="en-US" sz="1200" dirty="0">
                <a:solidFill>
                  <a:srgbClr val="55606B"/>
                </a:solidFill>
                <a:latin typeface="Arial" pitchFamily="34" charset="0"/>
                <a:ea typeface="Arial" pitchFamily="34" charset="-122"/>
                <a:cs typeface="Arial" pitchFamily="34" charset="-120"/>
              </a:rPr>
              <a:t>cannot declare (col TYPE) — eliminate any option that does</a:t>
            </a:r>
            <a:endParaRPr lang="en-US" sz="1200" dirty="0"/>
          </a:p>
        </p:txBody>
      </p:sp>
      <p:sp>
        <p:nvSpPr>
          <p:cNvPr id="14" name="Shape 11"/>
          <p:cNvSpPr/>
          <p:nvPr/>
        </p:nvSpPr>
        <p:spPr>
          <a:xfrm>
            <a:off x="5760720" y="2487168"/>
            <a:ext cx="91440" cy="91440"/>
          </a:xfrm>
          <a:prstGeom prst="rect">
            <a:avLst/>
          </a:prstGeom>
          <a:solidFill>
            <a:srgbClr val="E31E24"/>
          </a:solidFill>
          <a:ln/>
        </p:spPr>
        <p:txBody>
          <a:bodyPr/>
          <a:lstStyle/>
          <a:p>
            <a:endParaRPr lang="en-US"/>
          </a:p>
        </p:txBody>
      </p:sp>
      <p:sp>
        <p:nvSpPr>
          <p:cNvPr id="15" name="Text 12"/>
          <p:cNvSpPr/>
          <p:nvPr/>
        </p:nvSpPr>
        <p:spPr>
          <a:xfrm>
            <a:off x="5980176" y="2386584"/>
            <a:ext cx="2660904" cy="914400"/>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OR REPLACE  </a:t>
            </a:r>
            <a:r>
              <a:rPr lang="en-US" sz="1200" dirty="0">
                <a:solidFill>
                  <a:srgbClr val="55606B"/>
                </a:solidFill>
                <a:latin typeface="Arial" pitchFamily="34" charset="0"/>
                <a:ea typeface="Arial" pitchFamily="34" charset="-122"/>
                <a:cs typeface="Arial" pitchFamily="34" charset="-120"/>
              </a:rPr>
              <a:t>atomic, idempotent, history preserved</a:t>
            </a:r>
            <a:endParaRPr lang="en-US" sz="1200" dirty="0"/>
          </a:p>
        </p:txBody>
      </p:sp>
      <p:sp>
        <p:nvSpPr>
          <p:cNvPr id="16" name="Shape 13"/>
          <p:cNvSpPr/>
          <p:nvPr/>
        </p:nvSpPr>
        <p:spPr>
          <a:xfrm>
            <a:off x="5760720" y="3401568"/>
            <a:ext cx="91440" cy="91440"/>
          </a:xfrm>
          <a:prstGeom prst="rect">
            <a:avLst/>
          </a:prstGeom>
          <a:solidFill>
            <a:srgbClr val="E31E24"/>
          </a:solidFill>
          <a:ln/>
        </p:spPr>
        <p:txBody>
          <a:bodyPr/>
          <a:lstStyle/>
          <a:p>
            <a:endParaRPr lang="en-US"/>
          </a:p>
        </p:txBody>
      </p:sp>
      <p:sp>
        <p:nvSpPr>
          <p:cNvPr id="17" name="Text 14"/>
          <p:cNvSpPr/>
          <p:nvPr/>
        </p:nvSpPr>
        <p:spPr>
          <a:xfrm>
            <a:off x="5980176" y="3300984"/>
            <a:ext cx="2660904" cy="914400"/>
          </a:xfrm>
          <a:prstGeom prst="rect">
            <a:avLst/>
          </a:prstGeom>
          <a:noFill/>
          <a:ln/>
        </p:spPr>
        <p:txBody>
          <a:bodyPr wrap="square" lIns="0" tIns="0" rIns="0" bIns="0" rtlCol="0" anchor="t"/>
          <a:lstStyle/>
          <a:p>
            <a:pPr marL="0" indent="0">
              <a:lnSpc>
                <a:spcPts val="1584"/>
              </a:lnSpc>
              <a:buNone/>
            </a:pPr>
            <a:r>
              <a:rPr lang="en-US" sz="1200" b="1" dirty="0">
                <a:solidFill>
                  <a:srgbClr val="2C3E50"/>
                </a:solidFill>
                <a:latin typeface="Arial" pitchFamily="34" charset="0"/>
                <a:ea typeface="Arial" pitchFamily="34" charset="-122"/>
                <a:cs typeface="Arial" pitchFamily="34" charset="-120"/>
              </a:rPr>
              <a:t>Delta by default  </a:t>
            </a:r>
            <a:r>
              <a:rPr lang="en-US" sz="1200" dirty="0">
                <a:solidFill>
                  <a:srgbClr val="55606B"/>
                </a:solidFill>
                <a:latin typeface="Arial" pitchFamily="34" charset="0"/>
                <a:ea typeface="Arial" pitchFamily="34" charset="-122"/>
                <a:cs typeface="Arial" pitchFamily="34" charset="-120"/>
              </a:rPr>
              <a:t>no USING clause needed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3 · GOLD OBJECTS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View, temp view, materialized view, streaming table</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2377440"/>
        </p:xfrm>
        <a:graphic>
          <a:graphicData uri="http://schemas.openxmlformats.org/drawingml/2006/table">
            <a:tbl>
              <a:tblPr/>
              <a:tblGrid>
                <a:gridCol w="14173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475488">
                <a:tc>
                  <a:txBody>
                    <a:bodyPr/>
                    <a:lstStyle/>
                    <a:p>
                      <a:pPr marL="0" indent="0">
                        <a:buNone/>
                      </a:pPr>
                      <a:r>
                        <a:rPr lang="en-US" sz="1100" b="1" dirty="0">
                          <a:solidFill>
                            <a:srgbClr val="FFFFFF"/>
                          </a:solidFill>
                          <a:latin typeface="Arial" pitchFamily="34" charset="0"/>
                          <a:ea typeface="Arial" pitchFamily="34" charset="-122"/>
                          <a:cs typeface="Arial" pitchFamily="34" charset="-120"/>
                        </a:rPr>
                        <a:t>Object</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Stores data?</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Freshness at read</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Visibility</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tc>
                  <a:txBody>
                    <a:bodyPr/>
                    <a:lstStyle/>
                    <a:p>
                      <a:pPr marL="0" indent="0">
                        <a:buNone/>
                      </a:pPr>
                      <a:r>
                        <a:rPr lang="en-US" sz="1100" b="1" dirty="0">
                          <a:solidFill>
                            <a:srgbClr val="FFFFFF"/>
                          </a:solidFill>
                          <a:latin typeface="Arial" pitchFamily="34" charset="0"/>
                          <a:ea typeface="Arial" pitchFamily="34" charset="-122"/>
                          <a:cs typeface="Arial" pitchFamily="34" charset="-120"/>
                        </a:rPr>
                        <a:t>Choose when</a:t>
                      </a:r>
                      <a:endParaRPr lang="en-US" sz="110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475488">
                <a:tc>
                  <a:txBody>
                    <a:bodyPr/>
                    <a:lstStyle/>
                    <a:p>
                      <a:pPr marL="0" indent="0">
                        <a:buNone/>
                      </a:pPr>
                      <a:r>
                        <a:rPr lang="en-US" sz="1050" dirty="0">
                          <a:solidFill>
                            <a:srgbClr val="2C3E50"/>
                          </a:solidFill>
                          <a:latin typeface="Arial" pitchFamily="34" charset="0"/>
                          <a:ea typeface="Arial" pitchFamily="34" charset="-122"/>
                          <a:cs typeface="Arial" pitchFamily="34" charset="-120"/>
                        </a:rPr>
                        <a:t>View</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No — stored query</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Always current</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Governed in UC</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Reusable logic, cheap reads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050" dirty="0">
                          <a:solidFill>
                            <a:srgbClr val="2C3E50"/>
                          </a:solidFill>
                          <a:latin typeface="Arial" pitchFamily="34" charset="0"/>
                          <a:ea typeface="Arial" pitchFamily="34" charset="-122"/>
                          <a:cs typeface="Arial" pitchFamily="34" charset="-120"/>
                        </a:rPr>
                        <a:t>Temp view</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No</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Always current</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Your session only</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Scratch work, dies with session</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extLst>
                  <a:ext uri="{0D108BD9-81ED-4DB2-BD59-A6C34878D82A}">
                    <a16:rowId xmlns:a16="http://schemas.microsoft.com/office/drawing/2014/main" val="10002"/>
                  </a:ext>
                </a:extLst>
              </a:tr>
              <a:tr h="475488">
                <a:tc>
                  <a:txBody>
                    <a:bodyPr/>
                    <a:lstStyle/>
                    <a:p>
                      <a:pPr marL="0" indent="0">
                        <a:buNone/>
                      </a:pPr>
                      <a:r>
                        <a:rPr lang="en-US" sz="1050" dirty="0">
                          <a:solidFill>
                            <a:srgbClr val="2C3E50"/>
                          </a:solidFill>
                          <a:latin typeface="Arial" pitchFamily="34" charset="0"/>
                          <a:ea typeface="Arial" pitchFamily="34" charset="-122"/>
                          <a:cs typeface="Arial" pitchFamily="34" charset="-120"/>
                        </a:rPr>
                        <a:t>Materialized view</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Yes — precomputed</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As of last refresh</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Governed in UC</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Expensive query, frequent reads</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050" dirty="0">
                          <a:solidFill>
                            <a:srgbClr val="2C3E50"/>
                          </a:solidFill>
                          <a:latin typeface="Arial" pitchFamily="34" charset="0"/>
                          <a:ea typeface="Arial" pitchFamily="34" charset="-122"/>
                          <a:cs typeface="Arial" pitchFamily="34" charset="-120"/>
                        </a:rPr>
                        <a:t>Streaming table</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Yes — incremental</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Continuously appended</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Governed in UC</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tc>
                  <a:txBody>
                    <a:bodyPr/>
                    <a:lstStyle/>
                    <a:p>
                      <a:pPr marL="0" indent="0">
                        <a:buNone/>
                      </a:pPr>
                      <a:r>
                        <a:rPr lang="en-US" sz="1050" dirty="0">
                          <a:solidFill>
                            <a:srgbClr val="2C3E50"/>
                          </a:solidFill>
                          <a:latin typeface="Arial" pitchFamily="34" charset="0"/>
                          <a:ea typeface="Arial" pitchFamily="34" charset="-122"/>
                          <a:cs typeface="Arial" pitchFamily="34" charset="-120"/>
                        </a:rPr>
                        <a:t>Append-only ingestion</a:t>
                      </a:r>
                      <a:endParaRPr lang="en-US" sz="1050" dirty="0">
                        <a:latin typeface="Arial" charset="0"/>
                        <a:ea typeface="Arial" charset="0"/>
                        <a:cs typeface="Arial" charset="0"/>
                      </a:endParaRPr>
                    </a:p>
                  </a:txBody>
                  <a:tcPr marL="54864" marR="54864" marT="54864" marB="54864" anchor="ctr">
                    <a:lnL w="9525" cap="flat" cmpd="sng" algn="ctr">
                      <a:solidFill>
                        <a:srgbClr val="D8DEE2"/>
                      </a:solidFill>
                      <a:prstDash val="solid"/>
                      <a:round/>
                      <a:headEnd type="none" w="med" len="med"/>
                      <a:tailEnd type="none" w="med" len="med"/>
                    </a:lnL>
                    <a:lnR w="9525" cap="flat" cmpd="sng" algn="ctr">
                      <a:solidFill>
                        <a:srgbClr val="D8DEE2"/>
                      </a:solidFill>
                      <a:prstDash val="solid"/>
                      <a:round/>
                      <a:headEnd type="none" w="med" len="med"/>
                      <a:tailEnd type="none" w="med" len="med"/>
                    </a:lnR>
                    <a:lnT w="9525" cap="flat" cmpd="sng" algn="ctr">
                      <a:solidFill>
                        <a:srgbClr val="D8DEE2"/>
                      </a:solidFill>
                      <a:prstDash val="solid"/>
                      <a:round/>
                      <a:headEnd type="none" w="med" len="med"/>
                      <a:tailEnd type="none" w="med" len="med"/>
                    </a:lnT>
                    <a:lnB w="9525" cap="flat" cmpd="sng" algn="ctr">
                      <a:solidFill>
                        <a:srgbClr val="D8DEE2"/>
                      </a:solidFill>
                      <a:prstDash val="solid"/>
                      <a:round/>
                      <a:headEnd type="none" w="med" len="med"/>
                      <a:tailEnd type="none" w="med" len="med"/>
                    </a:lnB>
                    <a:solidFill>
                      <a:srgbClr val="ECF0F1"/>
                    </a:solidFill>
                  </a:tcPr>
                </a:tc>
                <a:extLst>
                  <a:ext uri="{0D108BD9-81ED-4DB2-BD59-A6C34878D82A}">
                    <a16:rowId xmlns:a16="http://schemas.microsoft.com/office/drawing/2014/main" val="10004"/>
                  </a:ext>
                </a:extLst>
              </a:tr>
            </a:tbl>
          </a:graphicData>
        </a:graphic>
      </p:graphicFrame>
      <p:sp>
        <p:nvSpPr>
          <p:cNvPr id="8" name="Shape 4"/>
          <p:cNvSpPr/>
          <p:nvPr/>
        </p:nvSpPr>
        <p:spPr>
          <a:xfrm>
            <a:off x="502920" y="4069080"/>
            <a:ext cx="8138160" cy="566928"/>
          </a:xfrm>
          <a:prstGeom prst="rect">
            <a:avLst/>
          </a:prstGeom>
          <a:solidFill>
            <a:srgbClr val="FDF3F3"/>
          </a:solidFill>
          <a:ln/>
        </p:spPr>
        <p:txBody>
          <a:bodyPr/>
          <a:lstStyle/>
          <a:p>
            <a:endParaRPr lang="en-US"/>
          </a:p>
        </p:txBody>
      </p:sp>
      <p:sp>
        <p:nvSpPr>
          <p:cNvPr id="9" name="Shape 5"/>
          <p:cNvSpPr/>
          <p:nvPr/>
        </p:nvSpPr>
        <p:spPr>
          <a:xfrm>
            <a:off x="502920" y="4069080"/>
            <a:ext cx="54864" cy="566928"/>
          </a:xfrm>
          <a:prstGeom prst="rect">
            <a:avLst/>
          </a:prstGeom>
          <a:solidFill>
            <a:srgbClr val="E31E24"/>
          </a:solidFill>
          <a:ln/>
        </p:spPr>
        <p:txBody>
          <a:bodyPr/>
          <a:lstStyle/>
          <a:p>
            <a:endParaRPr lang="en-US"/>
          </a:p>
        </p:txBody>
      </p:sp>
      <p:sp>
        <p:nvSpPr>
          <p:cNvPr id="10" name="Text 6"/>
          <p:cNvSpPr/>
          <p:nvPr/>
        </p:nvSpPr>
        <p:spPr>
          <a:xfrm>
            <a:off x="704088" y="4123944"/>
            <a:ext cx="7772400" cy="457200"/>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CLASSIC QUESTION   </a:t>
            </a:r>
            <a:r>
              <a:rPr lang="en-US" sz="1100" dirty="0">
                <a:solidFill>
                  <a:srgbClr val="2C3E50"/>
                </a:solidFill>
                <a:latin typeface="Arial" pitchFamily="34" charset="0"/>
                <a:ea typeface="Arial" pitchFamily="34" charset="-122"/>
                <a:cs typeface="Arial" pitchFamily="34" charset="-120"/>
              </a:rPr>
              <a:t>“A colleague can't see your view” → it was a TEMP view. Session-scoped, invisible to others.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DOMAIN 3 · NAMED OBJECTIVE</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Medallion architecture: bronze → silver → gold</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14</a:t>
            </a:r>
            <a:endParaRPr lang="en-US" sz="800" dirty="0"/>
          </a:p>
        </p:txBody>
      </p:sp>
      <p:sp>
        <p:nvSpPr>
          <p:cNvPr id="7" name="Shape 4"/>
          <p:cNvSpPr/>
          <p:nvPr/>
        </p:nvSpPr>
        <p:spPr>
          <a:xfrm>
            <a:off x="640080" y="1828800"/>
            <a:ext cx="1298448" cy="868680"/>
          </a:xfrm>
          <a:prstGeom prst="rect">
            <a:avLst/>
          </a:prstGeom>
          <a:solidFill>
            <a:srgbClr val="6E8092"/>
          </a:solidFill>
          <a:ln/>
        </p:spPr>
        <p:txBody>
          <a:bodyPr/>
          <a:lstStyle/>
          <a:p>
            <a:endParaRPr lang="en-US"/>
          </a:p>
        </p:txBody>
      </p:sp>
      <p:sp>
        <p:nvSpPr>
          <p:cNvPr id="8" name="Text 5"/>
          <p:cNvSpPr/>
          <p:nvPr/>
        </p:nvSpPr>
        <p:spPr>
          <a:xfrm>
            <a:off x="640080" y="1828800"/>
            <a:ext cx="1298448" cy="868680"/>
          </a:xfrm>
          <a:prstGeom prst="rect">
            <a:avLst/>
          </a:prstGeom>
          <a:noFill/>
          <a:ln/>
        </p:spPr>
        <p:txBody>
          <a:bodyPr wrap="square" lIns="381" tIns="381" rIns="381" bIns="381" rtlCol="0" anchor="ctr"/>
          <a:lstStyle/>
          <a:p>
            <a:pPr marL="0" indent="0" algn="ctr">
              <a:lnSpc>
                <a:spcPts val="1300"/>
              </a:lnSpc>
              <a:buNone/>
            </a:pPr>
            <a:r>
              <a:rPr lang="en-US" sz="1200" b="1" dirty="0">
                <a:solidFill>
                  <a:srgbClr val="FFFFFF"/>
                </a:solidFill>
                <a:latin typeface="Arial" pitchFamily="34" charset="0"/>
                <a:ea typeface="Arial" pitchFamily="34" charset="-122"/>
                <a:cs typeface="Arial" pitchFamily="34" charset="-120"/>
              </a:rPr>
              <a:t>SOURCES</a:t>
            </a:r>
            <a:endParaRPr lang="en-US" sz="1200" dirty="0"/>
          </a:p>
        </p:txBody>
      </p:sp>
      <p:sp>
        <p:nvSpPr>
          <p:cNvPr id="9" name="Text 6"/>
          <p:cNvSpPr/>
          <p:nvPr/>
        </p:nvSpPr>
        <p:spPr>
          <a:xfrm>
            <a:off x="502920" y="2752344"/>
            <a:ext cx="1572768" cy="457200"/>
          </a:xfrm>
          <a:prstGeom prst="rect">
            <a:avLst/>
          </a:prstGeom>
          <a:noFill/>
          <a:ln/>
        </p:spPr>
        <p:txBody>
          <a:bodyPr wrap="square" lIns="0" tIns="0" rIns="0" bIns="0" rtlCol="0" anchor="ctr"/>
          <a:lstStyle/>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files · APIs · DBs</a:t>
            </a:r>
            <a:endParaRPr lang="en-US" sz="900" dirty="0"/>
          </a:p>
        </p:txBody>
      </p:sp>
      <p:sp>
        <p:nvSpPr>
          <p:cNvPr id="10" name="Text 7"/>
          <p:cNvSpPr/>
          <p:nvPr/>
        </p:nvSpPr>
        <p:spPr>
          <a:xfrm>
            <a:off x="1920240" y="2089404"/>
            <a:ext cx="420624" cy="365760"/>
          </a:xfrm>
          <a:prstGeom prst="rect">
            <a:avLst/>
          </a:prstGeom>
          <a:noFill/>
          <a:ln/>
        </p:spPr>
        <p:txBody>
          <a:bodyPr wrap="square" lIns="0" tIns="0" rIns="0" bIns="0" rtlCol="0" anchor="ctr"/>
          <a:lstStyle/>
          <a:p>
            <a:pPr marL="0" indent="0" algn="ctr">
              <a:buNone/>
            </a:pPr>
            <a:r>
              <a:rPr lang="en-US" sz="1800" b="1" dirty="0">
                <a:solidFill>
                  <a:srgbClr val="E31E24"/>
                </a:solidFill>
                <a:latin typeface="Arial" pitchFamily="34" charset="0"/>
                <a:ea typeface="Arial" pitchFamily="34" charset="-122"/>
                <a:cs typeface="Arial" pitchFamily="34" charset="-120"/>
              </a:rPr>
              <a:t>→</a:t>
            </a:r>
            <a:endParaRPr lang="en-US" sz="1800" dirty="0"/>
          </a:p>
        </p:txBody>
      </p:sp>
      <p:sp>
        <p:nvSpPr>
          <p:cNvPr id="11" name="Shape 8"/>
          <p:cNvSpPr/>
          <p:nvPr/>
        </p:nvSpPr>
        <p:spPr>
          <a:xfrm>
            <a:off x="2304288" y="1828800"/>
            <a:ext cx="1298448" cy="868680"/>
          </a:xfrm>
          <a:prstGeom prst="rect">
            <a:avLst/>
          </a:prstGeom>
          <a:solidFill>
            <a:srgbClr val="9C6B30"/>
          </a:solidFill>
          <a:ln/>
        </p:spPr>
        <p:txBody>
          <a:bodyPr/>
          <a:lstStyle/>
          <a:p>
            <a:endParaRPr lang="en-US"/>
          </a:p>
        </p:txBody>
      </p:sp>
      <p:sp>
        <p:nvSpPr>
          <p:cNvPr id="12" name="Text 9"/>
          <p:cNvSpPr/>
          <p:nvPr/>
        </p:nvSpPr>
        <p:spPr>
          <a:xfrm>
            <a:off x="2304288" y="1828800"/>
            <a:ext cx="1298448" cy="868680"/>
          </a:xfrm>
          <a:prstGeom prst="rect">
            <a:avLst/>
          </a:prstGeom>
          <a:noFill/>
          <a:ln/>
        </p:spPr>
        <p:txBody>
          <a:bodyPr wrap="square" lIns="381" tIns="381" rIns="381" bIns="381" rtlCol="0" anchor="ctr"/>
          <a:lstStyle/>
          <a:p>
            <a:pPr marL="0" indent="0" algn="ctr">
              <a:lnSpc>
                <a:spcPts val="1300"/>
              </a:lnSpc>
              <a:buNone/>
            </a:pPr>
            <a:r>
              <a:rPr lang="en-US" sz="1200" b="1" dirty="0">
                <a:solidFill>
                  <a:srgbClr val="FFFFFF"/>
                </a:solidFill>
                <a:latin typeface="Arial" pitchFamily="34" charset="0"/>
                <a:ea typeface="Arial" pitchFamily="34" charset="-122"/>
                <a:cs typeface="Arial" pitchFamily="34" charset="-120"/>
              </a:rPr>
              <a:t>BRONZE</a:t>
            </a:r>
            <a:endParaRPr lang="en-US" sz="1200" dirty="0"/>
          </a:p>
        </p:txBody>
      </p:sp>
      <p:sp>
        <p:nvSpPr>
          <p:cNvPr id="13" name="Text 10"/>
          <p:cNvSpPr/>
          <p:nvPr/>
        </p:nvSpPr>
        <p:spPr>
          <a:xfrm>
            <a:off x="2167128" y="2752344"/>
            <a:ext cx="1572768" cy="457200"/>
          </a:xfrm>
          <a:prstGeom prst="rect">
            <a:avLst/>
          </a:prstGeom>
          <a:noFill/>
          <a:ln/>
        </p:spPr>
        <p:txBody>
          <a:bodyPr wrap="square" lIns="0" tIns="0" rIns="0" bIns="0" rtlCol="0" anchor="ctr"/>
          <a:lstStyle/>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raw, as-ingested</a:t>
            </a:r>
            <a:endParaRPr lang="en-US" sz="900" dirty="0"/>
          </a:p>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preserves fidelity</a:t>
            </a:r>
            <a:endParaRPr lang="en-US" sz="900" dirty="0"/>
          </a:p>
        </p:txBody>
      </p:sp>
      <p:sp>
        <p:nvSpPr>
          <p:cNvPr id="14" name="Text 11"/>
          <p:cNvSpPr/>
          <p:nvPr/>
        </p:nvSpPr>
        <p:spPr>
          <a:xfrm>
            <a:off x="3584448" y="2089404"/>
            <a:ext cx="420624" cy="365760"/>
          </a:xfrm>
          <a:prstGeom prst="rect">
            <a:avLst/>
          </a:prstGeom>
          <a:noFill/>
          <a:ln/>
        </p:spPr>
        <p:txBody>
          <a:bodyPr wrap="square" lIns="0" tIns="0" rIns="0" bIns="0" rtlCol="0" anchor="ctr"/>
          <a:lstStyle/>
          <a:p>
            <a:pPr marL="0" indent="0" algn="ctr">
              <a:buNone/>
            </a:pPr>
            <a:r>
              <a:rPr lang="en-US" sz="1800" b="1" dirty="0">
                <a:solidFill>
                  <a:srgbClr val="E31E24"/>
                </a:solidFill>
                <a:latin typeface="Arial" pitchFamily="34" charset="0"/>
                <a:ea typeface="Arial" pitchFamily="34" charset="-122"/>
                <a:cs typeface="Arial" pitchFamily="34" charset="-120"/>
              </a:rPr>
              <a:t>→</a:t>
            </a:r>
            <a:endParaRPr lang="en-US" sz="1800" dirty="0"/>
          </a:p>
        </p:txBody>
      </p:sp>
      <p:sp>
        <p:nvSpPr>
          <p:cNvPr id="15" name="Shape 12"/>
          <p:cNvSpPr/>
          <p:nvPr/>
        </p:nvSpPr>
        <p:spPr>
          <a:xfrm>
            <a:off x="3968496" y="1828800"/>
            <a:ext cx="1298448" cy="868680"/>
          </a:xfrm>
          <a:prstGeom prst="rect">
            <a:avLst/>
          </a:prstGeom>
          <a:solidFill>
            <a:srgbClr val="8E9BA6"/>
          </a:solidFill>
          <a:ln/>
        </p:spPr>
        <p:txBody>
          <a:bodyPr/>
          <a:lstStyle/>
          <a:p>
            <a:endParaRPr lang="en-US"/>
          </a:p>
        </p:txBody>
      </p:sp>
      <p:sp>
        <p:nvSpPr>
          <p:cNvPr id="16" name="Text 13"/>
          <p:cNvSpPr/>
          <p:nvPr/>
        </p:nvSpPr>
        <p:spPr>
          <a:xfrm>
            <a:off x="3968496" y="1828800"/>
            <a:ext cx="1298448" cy="868680"/>
          </a:xfrm>
          <a:prstGeom prst="rect">
            <a:avLst/>
          </a:prstGeom>
          <a:noFill/>
          <a:ln/>
        </p:spPr>
        <p:txBody>
          <a:bodyPr wrap="square" lIns="381" tIns="381" rIns="381" bIns="381" rtlCol="0" anchor="ctr"/>
          <a:lstStyle/>
          <a:p>
            <a:pPr marL="0" indent="0" algn="ctr">
              <a:lnSpc>
                <a:spcPts val="1300"/>
              </a:lnSpc>
              <a:buNone/>
            </a:pPr>
            <a:r>
              <a:rPr lang="en-US" sz="1200" b="1" dirty="0">
                <a:solidFill>
                  <a:srgbClr val="FFFFFF"/>
                </a:solidFill>
                <a:latin typeface="Arial" pitchFamily="34" charset="0"/>
                <a:ea typeface="Arial" pitchFamily="34" charset="-122"/>
                <a:cs typeface="Arial" pitchFamily="34" charset="-120"/>
              </a:rPr>
              <a:t>SILVER</a:t>
            </a:r>
            <a:endParaRPr lang="en-US" sz="1200" dirty="0"/>
          </a:p>
        </p:txBody>
      </p:sp>
      <p:sp>
        <p:nvSpPr>
          <p:cNvPr id="17" name="Text 14"/>
          <p:cNvSpPr/>
          <p:nvPr/>
        </p:nvSpPr>
        <p:spPr>
          <a:xfrm>
            <a:off x="3831336" y="2752344"/>
            <a:ext cx="1572768" cy="457200"/>
          </a:xfrm>
          <a:prstGeom prst="rect">
            <a:avLst/>
          </a:prstGeom>
          <a:noFill/>
          <a:ln/>
        </p:spPr>
        <p:txBody>
          <a:bodyPr wrap="square" lIns="0" tIns="0" rIns="0" bIns="0" rtlCol="0" anchor="ctr"/>
          <a:lstStyle/>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cleaned, deduped,</a:t>
            </a:r>
            <a:endParaRPr lang="en-US" sz="900" dirty="0"/>
          </a:p>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typed, validated</a:t>
            </a:r>
            <a:endParaRPr lang="en-US" sz="900" dirty="0"/>
          </a:p>
        </p:txBody>
      </p:sp>
      <p:sp>
        <p:nvSpPr>
          <p:cNvPr id="18" name="Text 15"/>
          <p:cNvSpPr/>
          <p:nvPr/>
        </p:nvSpPr>
        <p:spPr>
          <a:xfrm>
            <a:off x="5248656" y="2089404"/>
            <a:ext cx="420624" cy="365760"/>
          </a:xfrm>
          <a:prstGeom prst="rect">
            <a:avLst/>
          </a:prstGeom>
          <a:noFill/>
          <a:ln/>
        </p:spPr>
        <p:txBody>
          <a:bodyPr wrap="square" lIns="0" tIns="0" rIns="0" bIns="0" rtlCol="0" anchor="ctr"/>
          <a:lstStyle/>
          <a:p>
            <a:pPr marL="0" indent="0" algn="ctr">
              <a:buNone/>
            </a:pPr>
            <a:r>
              <a:rPr lang="en-US" sz="1800" b="1" dirty="0">
                <a:solidFill>
                  <a:srgbClr val="E31E24"/>
                </a:solidFill>
                <a:latin typeface="Arial" pitchFamily="34" charset="0"/>
                <a:ea typeface="Arial" pitchFamily="34" charset="-122"/>
                <a:cs typeface="Arial" pitchFamily="34" charset="-120"/>
              </a:rPr>
              <a:t>→</a:t>
            </a:r>
            <a:endParaRPr lang="en-US" sz="1800" dirty="0"/>
          </a:p>
        </p:txBody>
      </p:sp>
      <p:sp>
        <p:nvSpPr>
          <p:cNvPr id="19" name="Shape 16"/>
          <p:cNvSpPr/>
          <p:nvPr/>
        </p:nvSpPr>
        <p:spPr>
          <a:xfrm>
            <a:off x="5632704" y="1828800"/>
            <a:ext cx="1298448" cy="868680"/>
          </a:xfrm>
          <a:prstGeom prst="rect">
            <a:avLst/>
          </a:prstGeom>
          <a:solidFill>
            <a:srgbClr val="C9A227"/>
          </a:solidFill>
          <a:ln/>
        </p:spPr>
        <p:txBody>
          <a:bodyPr/>
          <a:lstStyle/>
          <a:p>
            <a:endParaRPr lang="en-US"/>
          </a:p>
        </p:txBody>
      </p:sp>
      <p:sp>
        <p:nvSpPr>
          <p:cNvPr id="20" name="Text 17"/>
          <p:cNvSpPr/>
          <p:nvPr/>
        </p:nvSpPr>
        <p:spPr>
          <a:xfrm>
            <a:off x="5632704" y="1828800"/>
            <a:ext cx="1298448" cy="868680"/>
          </a:xfrm>
          <a:prstGeom prst="rect">
            <a:avLst/>
          </a:prstGeom>
          <a:noFill/>
          <a:ln/>
        </p:spPr>
        <p:txBody>
          <a:bodyPr wrap="square" lIns="381" tIns="381" rIns="381" bIns="381" rtlCol="0" anchor="ctr"/>
          <a:lstStyle/>
          <a:p>
            <a:pPr marL="0" indent="0" algn="ctr">
              <a:lnSpc>
                <a:spcPts val="1300"/>
              </a:lnSpc>
              <a:buNone/>
            </a:pPr>
            <a:r>
              <a:rPr lang="en-US" sz="1200" b="1" dirty="0">
                <a:solidFill>
                  <a:srgbClr val="FFFFFF"/>
                </a:solidFill>
                <a:latin typeface="Arial" pitchFamily="34" charset="0"/>
                <a:ea typeface="Arial" pitchFamily="34" charset="-122"/>
                <a:cs typeface="Arial" pitchFamily="34" charset="-120"/>
              </a:rPr>
              <a:t>GOLD</a:t>
            </a:r>
            <a:endParaRPr lang="en-US" sz="1200" dirty="0"/>
          </a:p>
        </p:txBody>
      </p:sp>
      <p:sp>
        <p:nvSpPr>
          <p:cNvPr id="21" name="Text 18"/>
          <p:cNvSpPr/>
          <p:nvPr/>
        </p:nvSpPr>
        <p:spPr>
          <a:xfrm>
            <a:off x="5495544" y="2752344"/>
            <a:ext cx="1572768" cy="457200"/>
          </a:xfrm>
          <a:prstGeom prst="rect">
            <a:avLst/>
          </a:prstGeom>
          <a:noFill/>
          <a:ln/>
        </p:spPr>
        <p:txBody>
          <a:bodyPr wrap="square" lIns="0" tIns="0" rIns="0" bIns="0" rtlCol="0" anchor="ctr"/>
          <a:lstStyle/>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aggregated,</a:t>
            </a:r>
            <a:endParaRPr lang="en-US" sz="900" dirty="0"/>
          </a:p>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business-shaped</a:t>
            </a:r>
            <a:endParaRPr lang="en-US" sz="900" dirty="0"/>
          </a:p>
        </p:txBody>
      </p:sp>
      <p:sp>
        <p:nvSpPr>
          <p:cNvPr id="22" name="Text 19"/>
          <p:cNvSpPr/>
          <p:nvPr/>
        </p:nvSpPr>
        <p:spPr>
          <a:xfrm>
            <a:off x="6912864" y="2089404"/>
            <a:ext cx="420624" cy="365760"/>
          </a:xfrm>
          <a:prstGeom prst="rect">
            <a:avLst/>
          </a:prstGeom>
          <a:noFill/>
          <a:ln/>
        </p:spPr>
        <p:txBody>
          <a:bodyPr wrap="square" lIns="0" tIns="0" rIns="0" bIns="0" rtlCol="0" anchor="ctr"/>
          <a:lstStyle/>
          <a:p>
            <a:pPr marL="0" indent="0" algn="ctr">
              <a:buNone/>
            </a:pPr>
            <a:r>
              <a:rPr lang="en-US" sz="1800" b="1" dirty="0">
                <a:solidFill>
                  <a:srgbClr val="E31E24"/>
                </a:solidFill>
                <a:latin typeface="Arial" pitchFamily="34" charset="0"/>
                <a:ea typeface="Arial" pitchFamily="34" charset="-122"/>
                <a:cs typeface="Arial" pitchFamily="34" charset="-120"/>
              </a:rPr>
              <a:t>→</a:t>
            </a:r>
            <a:endParaRPr lang="en-US" sz="1800" dirty="0"/>
          </a:p>
        </p:txBody>
      </p:sp>
      <p:sp>
        <p:nvSpPr>
          <p:cNvPr id="23" name="Shape 20"/>
          <p:cNvSpPr/>
          <p:nvPr/>
        </p:nvSpPr>
        <p:spPr>
          <a:xfrm>
            <a:off x="7296912" y="1828800"/>
            <a:ext cx="1298448" cy="868680"/>
          </a:xfrm>
          <a:prstGeom prst="rect">
            <a:avLst/>
          </a:prstGeom>
          <a:solidFill>
            <a:srgbClr val="2C3E50"/>
          </a:solidFill>
          <a:ln/>
        </p:spPr>
        <p:txBody>
          <a:bodyPr/>
          <a:lstStyle/>
          <a:p>
            <a:endParaRPr lang="en-US"/>
          </a:p>
        </p:txBody>
      </p:sp>
      <p:sp>
        <p:nvSpPr>
          <p:cNvPr id="24" name="Text 21"/>
          <p:cNvSpPr/>
          <p:nvPr/>
        </p:nvSpPr>
        <p:spPr>
          <a:xfrm>
            <a:off x="7296912" y="1828800"/>
            <a:ext cx="1298448" cy="868680"/>
          </a:xfrm>
          <a:prstGeom prst="rect">
            <a:avLst/>
          </a:prstGeom>
          <a:noFill/>
          <a:ln/>
        </p:spPr>
        <p:txBody>
          <a:bodyPr wrap="square" lIns="381" tIns="381" rIns="381" bIns="381" rtlCol="0" anchor="ctr"/>
          <a:lstStyle/>
          <a:p>
            <a:pPr marL="0" indent="0" algn="ctr">
              <a:lnSpc>
                <a:spcPts val="1300"/>
              </a:lnSpc>
              <a:buNone/>
            </a:pPr>
            <a:r>
              <a:rPr lang="en-US" sz="1200" b="1" dirty="0">
                <a:solidFill>
                  <a:srgbClr val="FFFFFF"/>
                </a:solidFill>
                <a:latin typeface="Arial" pitchFamily="34" charset="0"/>
                <a:ea typeface="Arial" pitchFamily="34" charset="-122"/>
                <a:cs typeface="Arial" pitchFamily="34" charset="-120"/>
              </a:rPr>
              <a:t>BI · ML</a:t>
            </a:r>
            <a:endParaRPr lang="en-US" sz="1200" dirty="0"/>
          </a:p>
        </p:txBody>
      </p:sp>
      <p:sp>
        <p:nvSpPr>
          <p:cNvPr id="25" name="Text 22"/>
          <p:cNvSpPr/>
          <p:nvPr/>
        </p:nvSpPr>
        <p:spPr>
          <a:xfrm>
            <a:off x="7159752" y="2752344"/>
            <a:ext cx="1572768" cy="457200"/>
          </a:xfrm>
          <a:prstGeom prst="rect">
            <a:avLst/>
          </a:prstGeom>
          <a:noFill/>
          <a:ln/>
        </p:spPr>
        <p:txBody>
          <a:bodyPr wrap="square" lIns="0" tIns="0" rIns="0" bIns="0" rtlCol="0" anchor="ctr"/>
          <a:lstStyle/>
          <a:p>
            <a:pPr marL="0" indent="0" algn="ctr">
              <a:lnSpc>
                <a:spcPts val="1100"/>
              </a:lnSpc>
              <a:buNone/>
            </a:pPr>
            <a:r>
              <a:rPr lang="en-US" sz="900" dirty="0">
                <a:solidFill>
                  <a:srgbClr val="7F8C8D"/>
                </a:solidFill>
                <a:latin typeface="Arial" pitchFamily="34" charset="0"/>
                <a:ea typeface="Arial" pitchFamily="34" charset="-122"/>
                <a:cs typeface="Arial" pitchFamily="34" charset="-120"/>
              </a:rPr>
              <a:t>consumers</a:t>
            </a:r>
            <a:endParaRPr lang="en-US" sz="900" dirty="0"/>
          </a:p>
        </p:txBody>
      </p:sp>
      <p:sp>
        <p:nvSpPr>
          <p:cNvPr id="26" name="Shape 23"/>
          <p:cNvSpPr/>
          <p:nvPr/>
        </p:nvSpPr>
        <p:spPr>
          <a:xfrm>
            <a:off x="502920" y="3611880"/>
            <a:ext cx="8138160" cy="868680"/>
          </a:xfrm>
          <a:prstGeom prst="rect">
            <a:avLst/>
          </a:prstGeom>
          <a:solidFill>
            <a:srgbClr val="FDF3F3"/>
          </a:solidFill>
          <a:ln/>
        </p:spPr>
        <p:txBody>
          <a:bodyPr/>
          <a:lstStyle/>
          <a:p>
            <a:endParaRPr lang="en-US"/>
          </a:p>
        </p:txBody>
      </p:sp>
      <p:sp>
        <p:nvSpPr>
          <p:cNvPr id="27" name="Shape 24"/>
          <p:cNvSpPr/>
          <p:nvPr/>
        </p:nvSpPr>
        <p:spPr>
          <a:xfrm>
            <a:off x="502920" y="3611880"/>
            <a:ext cx="54864" cy="868680"/>
          </a:xfrm>
          <a:prstGeom prst="rect">
            <a:avLst/>
          </a:prstGeom>
          <a:solidFill>
            <a:srgbClr val="E31E24"/>
          </a:solidFill>
          <a:ln/>
        </p:spPr>
        <p:txBody>
          <a:bodyPr/>
          <a:lstStyle/>
          <a:p>
            <a:endParaRPr lang="en-US"/>
          </a:p>
        </p:txBody>
      </p:sp>
      <p:sp>
        <p:nvSpPr>
          <p:cNvPr id="28" name="Text 25"/>
          <p:cNvSpPr/>
          <p:nvPr/>
        </p:nvSpPr>
        <p:spPr>
          <a:xfrm>
            <a:off x="704088" y="3666744"/>
            <a:ext cx="7772400" cy="758952"/>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MISCONCEPTION TO KILL   </a:t>
            </a:r>
            <a:r>
              <a:rPr lang="en-US" sz="1100" dirty="0">
                <a:solidFill>
                  <a:srgbClr val="2C3E50"/>
                </a:solidFill>
                <a:latin typeface="Arial" pitchFamily="34" charset="0"/>
                <a:ea typeface="Arial" pitchFamily="34" charset="-122"/>
                <a:cs typeface="Arial" pitchFamily="34" charset="-120"/>
              </a:rPr>
              <a:t>“Bronze should be cleaned a little so it's usable.” No — cleansing belongs in silver. Bronze stays raw so you can always replay. The exam asks for each layer's PURPOSE.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8729C-0077-0B61-D3ED-18563910F319}"/>
            </a:ext>
          </a:extLst>
        </p:cNvPr>
        <p:cNvGrpSpPr/>
        <p:nvPr/>
      </p:nvGrpSpPr>
      <p:grpSpPr>
        <a:xfrm>
          <a:off x="0" y="0"/>
          <a:ext cx="0" cy="0"/>
          <a:chOff x="0" y="0"/>
          <a:chExt cx="0" cy="0"/>
        </a:xfrm>
      </p:grpSpPr>
      <p:sp>
        <p:nvSpPr>
          <p:cNvPr id="62" name="Rectangle 61">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3" name="Group 62">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223477" y="1768"/>
            <a:ext cx="1407490" cy="1324506"/>
            <a:chOff x="-648769" y="2358"/>
            <a:chExt cx="1876653" cy="1766008"/>
          </a:xfrm>
        </p:grpSpPr>
        <p:sp>
          <p:nvSpPr>
            <p:cNvPr id="64" name="Freeform: Shape 36">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52897" y="4525250"/>
            <a:ext cx="484026" cy="484026"/>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Isosceles Triangle 41">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77" y="4290831"/>
            <a:ext cx="1696473" cy="852668"/>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4D5C885-F061-4260-3C34-E59D82F84C36}"/>
              </a:ext>
            </a:extLst>
          </p:cNvPr>
          <p:cNvPicPr>
            <a:picLocks noChangeAspect="1"/>
          </p:cNvPicPr>
          <p:nvPr/>
        </p:nvPicPr>
        <p:blipFill>
          <a:blip r:embed="rId3"/>
          <a:stretch>
            <a:fillRect/>
          </a:stretch>
        </p:blipFill>
        <p:spPr>
          <a:xfrm>
            <a:off x="857956" y="482600"/>
            <a:ext cx="7428086" cy="4178299"/>
          </a:xfrm>
          <a:prstGeom prst="rect">
            <a:avLst/>
          </a:prstGeom>
          <a:ln>
            <a:noFill/>
          </a:ln>
        </p:spPr>
      </p:pic>
    </p:spTree>
    <p:extLst>
      <p:ext uri="{BB962C8B-B14F-4D97-AF65-F5344CB8AC3E}">
        <p14:creationId xmlns:p14="http://schemas.microsoft.com/office/powerpoint/2010/main" val="2525573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138160" cy="237744"/>
          </a:xfrm>
          <a:prstGeom prst="rect">
            <a:avLst/>
          </a:prstGeom>
          <a:noFill/>
          <a:ln/>
        </p:spPr>
        <p:txBody>
          <a:bodyPr wrap="square" lIns="0" tIns="0" rIns="0" bIns="0" rtlCol="0" anchor="ctr"/>
          <a:lstStyle/>
          <a:p>
            <a:pPr marL="0" indent="0">
              <a:buNone/>
            </a:pPr>
            <a:r>
              <a:rPr lang="en-US" sz="1050" b="1" kern="0" spc="250" dirty="0">
                <a:solidFill>
                  <a:srgbClr val="E31E24"/>
                </a:solidFill>
                <a:latin typeface="Arial" pitchFamily="34" charset="0"/>
                <a:ea typeface="Arial" pitchFamily="34" charset="-122"/>
                <a:cs typeface="Arial" pitchFamily="34" charset="-120"/>
              </a:rPr>
              <a:t>EXAM READINESS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ctr"/>
          <a:lstStyle/>
          <a:p>
            <a:pPr marL="0" indent="0">
              <a:buNone/>
            </a:pPr>
            <a:r>
              <a:rPr lang="en-US" sz="2500" b="1" dirty="0">
                <a:solidFill>
                  <a:srgbClr val="2C3E50"/>
                </a:solidFill>
                <a:latin typeface="Arial" pitchFamily="34" charset="0"/>
                <a:ea typeface="Arial" pitchFamily="34" charset="-122"/>
                <a:cs typeface="Arial" pitchFamily="34" charset="-120"/>
              </a:rPr>
              <a:t>How Week 1 gets tested — and what's next</a:t>
            </a:r>
            <a:endParaRPr lang="en-US" sz="2500" dirty="0"/>
          </a:p>
        </p:txBody>
      </p:sp>
      <p:sp>
        <p:nvSpPr>
          <p:cNvPr id="4" name="Text 2"/>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5" name="Text 3"/>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15</a:t>
            </a:r>
            <a:endParaRPr lang="en-US" sz="800" dirty="0"/>
          </a:p>
        </p:txBody>
      </p:sp>
      <p:sp>
        <p:nvSpPr>
          <p:cNvPr id="7" name="Shape 4"/>
          <p:cNvSpPr/>
          <p:nvPr/>
        </p:nvSpPr>
        <p:spPr>
          <a:xfrm>
            <a:off x="502920" y="1435608"/>
            <a:ext cx="91440" cy="91440"/>
          </a:xfrm>
          <a:prstGeom prst="rect">
            <a:avLst/>
          </a:prstGeom>
          <a:solidFill>
            <a:srgbClr val="E31E24"/>
          </a:solidFill>
          <a:ln/>
        </p:spPr>
        <p:txBody>
          <a:bodyPr/>
          <a:lstStyle/>
          <a:p>
            <a:endParaRPr lang="en-US"/>
          </a:p>
        </p:txBody>
      </p:sp>
      <p:sp>
        <p:nvSpPr>
          <p:cNvPr id="8" name="Text 5"/>
          <p:cNvSpPr/>
          <p:nvPr/>
        </p:nvSpPr>
        <p:spPr>
          <a:xfrm>
            <a:off x="722376" y="1335024"/>
            <a:ext cx="4626864" cy="658368"/>
          </a:xfrm>
          <a:prstGeom prst="rect">
            <a:avLst/>
          </a:prstGeom>
          <a:noFill/>
          <a:ln/>
        </p:spPr>
        <p:txBody>
          <a:bodyPr wrap="square" lIns="0" tIns="0" rIns="0" bIns="0" rtlCol="0" anchor="t"/>
          <a:lstStyle/>
          <a:p>
            <a:pPr marL="0" indent="0">
              <a:lnSpc>
                <a:spcPts val="1650"/>
              </a:lnSpc>
              <a:buNone/>
            </a:pPr>
            <a:r>
              <a:rPr lang="en-US" sz="1250" b="1" dirty="0">
                <a:solidFill>
                  <a:srgbClr val="2C3E50"/>
                </a:solidFill>
                <a:latin typeface="Arial" pitchFamily="34" charset="0"/>
                <a:ea typeface="Arial" pitchFamily="34" charset="-122"/>
                <a:cs typeface="Arial" pitchFamily="34" charset="-120"/>
              </a:rPr>
              <a:t>Recall:  </a:t>
            </a:r>
            <a:r>
              <a:rPr lang="en-US" sz="1250" dirty="0">
                <a:solidFill>
                  <a:srgbClr val="55606B"/>
                </a:solidFill>
                <a:latin typeface="Arial" pitchFamily="34" charset="0"/>
                <a:ea typeface="Arial" pitchFamily="34" charset="-122"/>
                <a:cs typeface="Arial" pitchFamily="34" charset="-120"/>
              </a:rPr>
              <a:t>default format · hierarchy order · DROP semantics</a:t>
            </a:r>
            <a:endParaRPr lang="en-US" sz="1250" dirty="0"/>
          </a:p>
        </p:txBody>
      </p:sp>
      <p:sp>
        <p:nvSpPr>
          <p:cNvPr id="9" name="Shape 6"/>
          <p:cNvSpPr/>
          <p:nvPr/>
        </p:nvSpPr>
        <p:spPr>
          <a:xfrm>
            <a:off x="502920" y="2093976"/>
            <a:ext cx="91440" cy="91440"/>
          </a:xfrm>
          <a:prstGeom prst="rect">
            <a:avLst/>
          </a:prstGeom>
          <a:solidFill>
            <a:srgbClr val="E31E24"/>
          </a:solidFill>
          <a:ln/>
        </p:spPr>
        <p:txBody>
          <a:bodyPr/>
          <a:lstStyle/>
          <a:p>
            <a:endParaRPr lang="en-US"/>
          </a:p>
        </p:txBody>
      </p:sp>
      <p:sp>
        <p:nvSpPr>
          <p:cNvPr id="10" name="Text 7"/>
          <p:cNvSpPr/>
          <p:nvPr/>
        </p:nvSpPr>
        <p:spPr>
          <a:xfrm>
            <a:off x="722376" y="1993392"/>
            <a:ext cx="4626864" cy="658368"/>
          </a:xfrm>
          <a:prstGeom prst="rect">
            <a:avLst/>
          </a:prstGeom>
          <a:noFill/>
          <a:ln/>
        </p:spPr>
        <p:txBody>
          <a:bodyPr wrap="square" lIns="0" tIns="0" rIns="0" bIns="0" rtlCol="0" anchor="t"/>
          <a:lstStyle/>
          <a:p>
            <a:pPr marL="0" indent="0">
              <a:lnSpc>
                <a:spcPts val="1650"/>
              </a:lnSpc>
              <a:buNone/>
            </a:pPr>
            <a:r>
              <a:rPr lang="en-US" sz="1250" b="1" dirty="0">
                <a:solidFill>
                  <a:srgbClr val="2C3E50"/>
                </a:solidFill>
                <a:latin typeface="Arial" pitchFamily="34" charset="0"/>
                <a:ea typeface="Arial" pitchFamily="34" charset="-122"/>
                <a:cs typeface="Arial" pitchFamily="34" charset="-120"/>
              </a:rPr>
              <a:t>Syntax:  </a:t>
            </a:r>
            <a:r>
              <a:rPr lang="en-US" sz="1250" dirty="0">
                <a:solidFill>
                  <a:srgbClr val="55606B"/>
                </a:solidFill>
                <a:latin typeface="Arial" pitchFamily="34" charset="0"/>
                <a:ea typeface="Arial" pitchFamily="34" charset="-122"/>
                <a:cs typeface="Arial" pitchFamily="34" charset="-120"/>
              </a:rPr>
              <a:t>CREATE/CTAS/OR REPLACE · VERSION AS OF · three-level names</a:t>
            </a:r>
            <a:endParaRPr lang="en-US" sz="1250" dirty="0"/>
          </a:p>
        </p:txBody>
      </p:sp>
      <p:sp>
        <p:nvSpPr>
          <p:cNvPr id="11" name="Shape 8"/>
          <p:cNvSpPr/>
          <p:nvPr/>
        </p:nvSpPr>
        <p:spPr>
          <a:xfrm>
            <a:off x="502920" y="2752344"/>
            <a:ext cx="91440" cy="91440"/>
          </a:xfrm>
          <a:prstGeom prst="rect">
            <a:avLst/>
          </a:prstGeom>
          <a:solidFill>
            <a:srgbClr val="E31E24"/>
          </a:solidFill>
          <a:ln/>
        </p:spPr>
        <p:txBody>
          <a:bodyPr/>
          <a:lstStyle/>
          <a:p>
            <a:endParaRPr lang="en-US"/>
          </a:p>
        </p:txBody>
      </p:sp>
      <p:sp>
        <p:nvSpPr>
          <p:cNvPr id="12" name="Text 9"/>
          <p:cNvSpPr/>
          <p:nvPr/>
        </p:nvSpPr>
        <p:spPr>
          <a:xfrm>
            <a:off x="722376" y="2651760"/>
            <a:ext cx="4626864" cy="658368"/>
          </a:xfrm>
          <a:prstGeom prst="rect">
            <a:avLst/>
          </a:prstGeom>
          <a:noFill/>
          <a:ln/>
        </p:spPr>
        <p:txBody>
          <a:bodyPr wrap="square" lIns="0" tIns="0" rIns="0" bIns="0" rtlCol="0" anchor="t"/>
          <a:lstStyle/>
          <a:p>
            <a:pPr marL="0" indent="0">
              <a:lnSpc>
                <a:spcPts val="1650"/>
              </a:lnSpc>
              <a:buNone/>
            </a:pPr>
            <a:r>
              <a:rPr lang="en-US" sz="1250" b="1" dirty="0">
                <a:solidFill>
                  <a:srgbClr val="2C3E50"/>
                </a:solidFill>
                <a:latin typeface="Arial" pitchFamily="34" charset="0"/>
                <a:ea typeface="Arial" pitchFamily="34" charset="-122"/>
                <a:cs typeface="Arial" pitchFamily="34" charset="-120"/>
              </a:rPr>
              <a:t>Scenarios:  </a:t>
            </a:r>
            <a:r>
              <a:rPr lang="en-US" sz="1250" dirty="0">
                <a:solidFill>
                  <a:srgbClr val="55606B"/>
                </a:solidFill>
                <a:latin typeface="Arial" pitchFamily="34" charset="0"/>
                <a:ea typeface="Arial" pitchFamily="34" charset="-122"/>
                <a:cs typeface="Arial" pitchFamily="34" charset="-120"/>
              </a:rPr>
              <a:t>which compute · which gold object · what happens to files when…</a:t>
            </a:r>
            <a:endParaRPr lang="en-US" sz="1250" dirty="0"/>
          </a:p>
        </p:txBody>
      </p:sp>
      <p:sp>
        <p:nvSpPr>
          <p:cNvPr id="13" name="Shape 10"/>
          <p:cNvSpPr/>
          <p:nvPr/>
        </p:nvSpPr>
        <p:spPr>
          <a:xfrm>
            <a:off x="502920" y="3410712"/>
            <a:ext cx="91440" cy="91440"/>
          </a:xfrm>
          <a:prstGeom prst="rect">
            <a:avLst/>
          </a:prstGeom>
          <a:solidFill>
            <a:srgbClr val="E31E24"/>
          </a:solidFill>
          <a:ln/>
        </p:spPr>
        <p:txBody>
          <a:bodyPr/>
          <a:lstStyle/>
          <a:p>
            <a:endParaRPr lang="en-US"/>
          </a:p>
        </p:txBody>
      </p:sp>
      <p:sp>
        <p:nvSpPr>
          <p:cNvPr id="14" name="Text 11"/>
          <p:cNvSpPr/>
          <p:nvPr/>
        </p:nvSpPr>
        <p:spPr>
          <a:xfrm>
            <a:off x="722376" y="3310128"/>
            <a:ext cx="4626864" cy="658368"/>
          </a:xfrm>
          <a:prstGeom prst="rect">
            <a:avLst/>
          </a:prstGeom>
          <a:noFill/>
          <a:ln/>
        </p:spPr>
        <p:txBody>
          <a:bodyPr wrap="square" lIns="0" tIns="0" rIns="0" bIns="0" rtlCol="0" anchor="t"/>
          <a:lstStyle/>
          <a:p>
            <a:pPr marL="0" indent="0">
              <a:lnSpc>
                <a:spcPts val="1650"/>
              </a:lnSpc>
              <a:buNone/>
            </a:pPr>
            <a:r>
              <a:rPr lang="en-US" sz="1250" b="1" dirty="0">
                <a:solidFill>
                  <a:srgbClr val="2C3E50"/>
                </a:solidFill>
                <a:latin typeface="Arial" pitchFamily="34" charset="0"/>
                <a:ea typeface="Arial" pitchFamily="34" charset="-122"/>
                <a:cs typeface="Arial" pitchFamily="34" charset="-120"/>
              </a:rPr>
              <a:t>Elimination:  </a:t>
            </a:r>
            <a:r>
              <a:rPr lang="en-US" sz="1250" dirty="0">
                <a:solidFill>
                  <a:srgbClr val="55606B"/>
                </a:solidFill>
                <a:latin typeface="Arial" pitchFamily="34" charset="0"/>
                <a:ea typeface="Arial" pitchFamily="34" charset="-122"/>
                <a:cs typeface="Arial" pitchFamily="34" charset="-120"/>
              </a:rPr>
              <a:t>distractors are real features applied to the wrong situation</a:t>
            </a:r>
            <a:endParaRPr lang="en-US" sz="1250" dirty="0"/>
          </a:p>
        </p:txBody>
      </p:sp>
      <p:sp>
        <p:nvSpPr>
          <p:cNvPr id="15" name="Shape 12"/>
          <p:cNvSpPr/>
          <p:nvPr/>
        </p:nvSpPr>
        <p:spPr>
          <a:xfrm>
            <a:off x="5623560" y="1280160"/>
            <a:ext cx="3017520" cy="3017520"/>
          </a:xfrm>
          <a:prstGeom prst="rect">
            <a:avLst/>
          </a:prstGeom>
          <a:solidFill>
            <a:srgbClr val="ECF0F1"/>
          </a:solidFill>
          <a:ln/>
        </p:spPr>
        <p:txBody>
          <a:bodyPr/>
          <a:lstStyle/>
          <a:p>
            <a:endParaRPr lang="en-US"/>
          </a:p>
        </p:txBody>
      </p:sp>
      <p:sp>
        <p:nvSpPr>
          <p:cNvPr id="16" name="Text 13"/>
          <p:cNvSpPr/>
          <p:nvPr/>
        </p:nvSpPr>
        <p:spPr>
          <a:xfrm>
            <a:off x="5824728" y="1408176"/>
            <a:ext cx="2615184" cy="228600"/>
          </a:xfrm>
          <a:prstGeom prst="rect">
            <a:avLst/>
          </a:prstGeom>
          <a:noFill/>
          <a:ln/>
        </p:spPr>
        <p:txBody>
          <a:bodyPr wrap="square" lIns="0" tIns="0" rIns="0" bIns="0" rtlCol="0" anchor="ctr"/>
          <a:lstStyle/>
          <a:p>
            <a:pPr marL="0" indent="0">
              <a:buNone/>
            </a:pPr>
            <a:r>
              <a:rPr lang="en-US" sz="950" b="1" kern="0" spc="200" dirty="0">
                <a:solidFill>
                  <a:srgbClr val="7F8C8D"/>
                </a:solidFill>
                <a:latin typeface="Arial" pitchFamily="34" charset="0"/>
                <a:ea typeface="Arial" pitchFamily="34" charset="-122"/>
                <a:cs typeface="Arial" pitchFamily="34" charset="-120"/>
              </a:rPr>
              <a:t>HOMEWORK</a:t>
            </a:r>
            <a:endParaRPr lang="en-US" sz="950" dirty="0"/>
          </a:p>
        </p:txBody>
      </p:sp>
      <p:sp>
        <p:nvSpPr>
          <p:cNvPr id="17" name="Shape 14"/>
          <p:cNvSpPr/>
          <p:nvPr/>
        </p:nvSpPr>
        <p:spPr>
          <a:xfrm>
            <a:off x="5852160" y="1755648"/>
            <a:ext cx="91440" cy="91440"/>
          </a:xfrm>
          <a:prstGeom prst="rect">
            <a:avLst/>
          </a:prstGeom>
          <a:solidFill>
            <a:srgbClr val="E31E24"/>
          </a:solidFill>
          <a:ln/>
        </p:spPr>
        <p:txBody>
          <a:bodyPr/>
          <a:lstStyle/>
          <a:p>
            <a:endParaRPr lang="en-US"/>
          </a:p>
        </p:txBody>
      </p:sp>
      <p:sp>
        <p:nvSpPr>
          <p:cNvPr id="18" name="Text 15"/>
          <p:cNvSpPr/>
          <p:nvPr/>
        </p:nvSpPr>
        <p:spPr>
          <a:xfrm>
            <a:off x="6071616" y="1655064"/>
            <a:ext cx="2386584" cy="713232"/>
          </a:xfrm>
          <a:prstGeom prst="rect">
            <a:avLst/>
          </a:prstGeom>
          <a:noFill/>
          <a:ln/>
        </p:spPr>
        <p:txBody>
          <a:bodyPr wrap="square" lIns="0" tIns="0" rIns="0" bIns="0" rtlCol="0" anchor="t"/>
          <a:lstStyle/>
          <a:p>
            <a:pPr marL="0" indent="0">
              <a:lnSpc>
                <a:spcPts val="1386"/>
              </a:lnSpc>
              <a:buNone/>
            </a:pPr>
            <a:r>
              <a:rPr lang="en-US" sz="1050" dirty="0">
                <a:solidFill>
                  <a:srgbClr val="2C3E50"/>
                </a:solidFill>
                <a:latin typeface="Arial" pitchFamily="34" charset="0"/>
                <a:ea typeface="Arial" pitchFamily="34" charset="-122"/>
                <a:cs typeface="Arial" pitchFamily="34" charset="-120"/>
              </a:rPr>
              <a:t>Docs: lakehouse, Delta, UC object model, medallion</a:t>
            </a:r>
            <a:endParaRPr lang="en-US" sz="1050" dirty="0"/>
          </a:p>
        </p:txBody>
      </p:sp>
      <p:sp>
        <p:nvSpPr>
          <p:cNvPr id="19" name="Shape 16"/>
          <p:cNvSpPr/>
          <p:nvPr/>
        </p:nvSpPr>
        <p:spPr>
          <a:xfrm>
            <a:off x="5852160" y="2468880"/>
            <a:ext cx="91440" cy="91440"/>
          </a:xfrm>
          <a:prstGeom prst="rect">
            <a:avLst/>
          </a:prstGeom>
          <a:solidFill>
            <a:srgbClr val="E31E24"/>
          </a:solidFill>
          <a:ln/>
        </p:spPr>
        <p:txBody>
          <a:bodyPr/>
          <a:lstStyle/>
          <a:p>
            <a:endParaRPr lang="en-US"/>
          </a:p>
        </p:txBody>
      </p:sp>
      <p:sp>
        <p:nvSpPr>
          <p:cNvPr id="20" name="Text 17"/>
          <p:cNvSpPr/>
          <p:nvPr/>
        </p:nvSpPr>
        <p:spPr>
          <a:xfrm>
            <a:off x="6071616" y="2368296"/>
            <a:ext cx="2386584" cy="713232"/>
          </a:xfrm>
          <a:prstGeom prst="rect">
            <a:avLst/>
          </a:prstGeom>
          <a:noFill/>
          <a:ln/>
        </p:spPr>
        <p:txBody>
          <a:bodyPr wrap="square" lIns="0" tIns="0" rIns="0" bIns="0" rtlCol="0" anchor="t"/>
          <a:lstStyle/>
          <a:p>
            <a:pPr marL="0" indent="0">
              <a:lnSpc>
                <a:spcPts val="1386"/>
              </a:lnSpc>
              <a:buNone/>
            </a:pPr>
            <a:r>
              <a:rPr lang="en-US" sz="1050" dirty="0">
                <a:solidFill>
                  <a:srgbClr val="2C3E50"/>
                </a:solidFill>
                <a:latin typeface="Arial" pitchFamily="34" charset="0"/>
                <a:ea typeface="Arial" pitchFamily="34" charset="-122"/>
                <a:cs typeface="Arial" pitchFamily="34" charset="-120"/>
              </a:rPr>
              <a:t>Rebuild the demo from a blank notebook</a:t>
            </a:r>
            <a:endParaRPr lang="en-US" sz="1050" dirty="0"/>
          </a:p>
        </p:txBody>
      </p:sp>
      <p:sp>
        <p:nvSpPr>
          <p:cNvPr id="21" name="Shape 18"/>
          <p:cNvSpPr/>
          <p:nvPr/>
        </p:nvSpPr>
        <p:spPr>
          <a:xfrm>
            <a:off x="5852160" y="3182112"/>
            <a:ext cx="91440" cy="91440"/>
          </a:xfrm>
          <a:prstGeom prst="rect">
            <a:avLst/>
          </a:prstGeom>
          <a:solidFill>
            <a:srgbClr val="E31E24"/>
          </a:solidFill>
          <a:ln/>
        </p:spPr>
        <p:txBody>
          <a:bodyPr/>
          <a:lstStyle/>
          <a:p>
            <a:endParaRPr lang="en-US"/>
          </a:p>
        </p:txBody>
      </p:sp>
      <p:sp>
        <p:nvSpPr>
          <p:cNvPr id="22" name="Text 19"/>
          <p:cNvSpPr/>
          <p:nvPr/>
        </p:nvSpPr>
        <p:spPr>
          <a:xfrm>
            <a:off x="6071616" y="3081528"/>
            <a:ext cx="2386584" cy="713232"/>
          </a:xfrm>
          <a:prstGeom prst="rect">
            <a:avLst/>
          </a:prstGeom>
          <a:noFill/>
          <a:ln/>
        </p:spPr>
        <p:txBody>
          <a:bodyPr wrap="square" lIns="0" tIns="0" rIns="0" bIns="0" rtlCol="0" anchor="t"/>
          <a:lstStyle/>
          <a:p>
            <a:pPr marL="0" indent="0">
              <a:lnSpc>
                <a:spcPts val="1386"/>
              </a:lnSpc>
              <a:buNone/>
            </a:pPr>
            <a:r>
              <a:rPr lang="en-US" sz="1050" dirty="0">
                <a:solidFill>
                  <a:srgbClr val="2C3E50"/>
                </a:solidFill>
                <a:latin typeface="Arial" pitchFamily="34" charset="0"/>
                <a:ea typeface="Arial" pitchFamily="34" charset="-122"/>
                <a:cs typeface="Arial" pitchFamily="34" charset="-120"/>
              </a:rPr>
              <a:t>Keep your schema — Week 2 needs it</a:t>
            </a:r>
            <a:endParaRPr lang="en-US" sz="1050" dirty="0"/>
          </a:p>
        </p:txBody>
      </p:sp>
      <p:sp>
        <p:nvSpPr>
          <p:cNvPr id="23" name="Shape 20"/>
          <p:cNvSpPr/>
          <p:nvPr/>
        </p:nvSpPr>
        <p:spPr>
          <a:xfrm>
            <a:off x="502920" y="4160520"/>
            <a:ext cx="4846320" cy="566928"/>
          </a:xfrm>
          <a:prstGeom prst="rect">
            <a:avLst/>
          </a:prstGeom>
          <a:solidFill>
            <a:srgbClr val="FDF3F3"/>
          </a:solidFill>
          <a:ln/>
        </p:spPr>
        <p:txBody>
          <a:bodyPr/>
          <a:lstStyle/>
          <a:p>
            <a:endParaRPr lang="en-US"/>
          </a:p>
        </p:txBody>
      </p:sp>
      <p:sp>
        <p:nvSpPr>
          <p:cNvPr id="24" name="Shape 21"/>
          <p:cNvSpPr/>
          <p:nvPr/>
        </p:nvSpPr>
        <p:spPr>
          <a:xfrm>
            <a:off x="502920" y="4160520"/>
            <a:ext cx="54864" cy="566928"/>
          </a:xfrm>
          <a:prstGeom prst="rect">
            <a:avLst/>
          </a:prstGeom>
          <a:solidFill>
            <a:srgbClr val="E31E24"/>
          </a:solidFill>
          <a:ln/>
        </p:spPr>
        <p:txBody>
          <a:bodyPr/>
          <a:lstStyle/>
          <a:p>
            <a:endParaRPr lang="en-US"/>
          </a:p>
        </p:txBody>
      </p:sp>
      <p:sp>
        <p:nvSpPr>
          <p:cNvPr id="25" name="Text 22"/>
          <p:cNvSpPr/>
          <p:nvPr/>
        </p:nvSpPr>
        <p:spPr>
          <a:xfrm>
            <a:off x="704088" y="4215384"/>
            <a:ext cx="4480560" cy="457200"/>
          </a:xfrm>
          <a:prstGeom prst="rect">
            <a:avLst/>
          </a:prstGeom>
          <a:noFill/>
          <a:ln/>
        </p:spPr>
        <p:txBody>
          <a:bodyPr wrap="square" lIns="0" tIns="0" rIns="0" bIns="0" rtlCol="0" anchor="ctr"/>
          <a:lstStyle/>
          <a:p>
            <a:pPr marL="0" indent="0">
              <a:lnSpc>
                <a:spcPts val="1450"/>
              </a:lnSpc>
              <a:buNone/>
            </a:pPr>
            <a:r>
              <a:rPr lang="en-US" sz="950" b="1" dirty="0">
                <a:solidFill>
                  <a:srgbClr val="E31E24"/>
                </a:solidFill>
                <a:latin typeface="Arial" pitchFamily="34" charset="0"/>
                <a:ea typeface="Arial" pitchFamily="34" charset="-122"/>
                <a:cs typeface="Arial" pitchFamily="34" charset="-120"/>
              </a:rPr>
              <a:t>ANCHORS   </a:t>
            </a:r>
            <a:r>
              <a:rPr lang="en-US" sz="1100" dirty="0">
                <a:solidFill>
                  <a:srgbClr val="2C3E50"/>
                </a:solidFill>
                <a:latin typeface="Arial" pitchFamily="34" charset="0"/>
                <a:ea typeface="Arial" pitchFamily="34" charset="-122"/>
                <a:cs typeface="Arial" pitchFamily="34" charset="-120"/>
              </a:rPr>
              <a:t>One copy in Delta · one governance tree · bronze stays raw.</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2C3E50"/>
        </a:solidFill>
        <a:effectLst/>
      </p:bgPr>
    </p:bg>
    <p:spTree>
      <p:nvGrpSpPr>
        <p:cNvPr id="1" name=""/>
        <p:cNvGrpSpPr/>
        <p:nvPr/>
      </p:nvGrpSpPr>
      <p:grpSpPr>
        <a:xfrm>
          <a:off x="0" y="0"/>
          <a:ext cx="0" cy="0"/>
          <a:chOff x="0" y="0"/>
          <a:chExt cx="0" cy="0"/>
        </a:xfrm>
      </p:grpSpPr>
      <p:sp>
        <p:nvSpPr>
          <p:cNvPr id="2" name="Shape 0"/>
          <p:cNvSpPr/>
          <p:nvPr/>
        </p:nvSpPr>
        <p:spPr>
          <a:xfrm>
            <a:off x="5029200" y="0"/>
            <a:ext cx="2377440" cy="2377440"/>
          </a:xfrm>
          <a:prstGeom prst="ellipse">
            <a:avLst/>
          </a:prstGeom>
          <a:ln w="12700">
            <a:solidFill>
              <a:srgbClr val="46637F"/>
            </a:solidFill>
            <a:prstDash val="solid"/>
          </a:ln>
        </p:spPr>
        <p:txBody>
          <a:bodyPr/>
          <a:lstStyle/>
          <a:p>
            <a:endParaRPr lang="en-US"/>
          </a:p>
        </p:txBody>
      </p:sp>
      <p:sp>
        <p:nvSpPr>
          <p:cNvPr id="3" name="Shape 1"/>
          <p:cNvSpPr/>
          <p:nvPr/>
        </p:nvSpPr>
        <p:spPr>
          <a:xfrm>
            <a:off x="6400800" y="3108960"/>
            <a:ext cx="1554480" cy="1554480"/>
          </a:xfrm>
          <a:prstGeom prst="ellipse">
            <a:avLst/>
          </a:prstGeom>
          <a:ln w="12700">
            <a:solidFill>
              <a:srgbClr val="46637F"/>
            </a:solidFill>
            <a:prstDash val="solid"/>
          </a:ln>
        </p:spPr>
        <p:txBody>
          <a:bodyPr/>
          <a:lstStyle/>
          <a:p>
            <a:endParaRPr lang="en-US"/>
          </a:p>
        </p:txBody>
      </p:sp>
      <p:sp>
        <p:nvSpPr>
          <p:cNvPr id="4" name="Text 2"/>
          <p:cNvSpPr/>
          <p:nvPr/>
        </p:nvSpPr>
        <p:spPr>
          <a:xfrm>
            <a:off x="502920" y="685800"/>
            <a:ext cx="7315200" cy="274320"/>
          </a:xfrm>
          <a:prstGeom prst="rect">
            <a:avLst/>
          </a:prstGeom>
          <a:noFill/>
          <a:ln/>
        </p:spPr>
        <p:txBody>
          <a:bodyPr wrap="square" lIns="0" tIns="0" rIns="0" bIns="0" rtlCol="0" anchor="ctr"/>
          <a:lstStyle/>
          <a:p>
            <a:pPr marL="0" indent="0">
              <a:buNone/>
            </a:pPr>
            <a:r>
              <a:rPr lang="en-US" sz="1100" b="1" kern="0" spc="300" dirty="0">
                <a:solidFill>
                  <a:srgbClr val="E31E24"/>
                </a:solidFill>
                <a:latin typeface="Arial" pitchFamily="34" charset="0"/>
                <a:ea typeface="Arial" pitchFamily="34" charset="-122"/>
                <a:cs typeface="Arial" pitchFamily="34" charset="-120"/>
              </a:rPr>
              <a:t>WEEK 1 COMPLETE</a:t>
            </a:r>
            <a:endParaRPr lang="en-US" sz="1100" dirty="0"/>
          </a:p>
        </p:txBody>
      </p:sp>
      <p:sp>
        <p:nvSpPr>
          <p:cNvPr id="5" name="Text 3"/>
          <p:cNvSpPr/>
          <p:nvPr/>
        </p:nvSpPr>
        <p:spPr>
          <a:xfrm>
            <a:off x="502920" y="960120"/>
            <a:ext cx="77724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You can now speak Databricks</a:t>
            </a:r>
            <a:endParaRPr lang="en-US" sz="3000" dirty="0"/>
          </a:p>
        </p:txBody>
      </p:sp>
      <p:sp>
        <p:nvSpPr>
          <p:cNvPr id="6" name="Shape 4"/>
          <p:cNvSpPr/>
          <p:nvPr/>
        </p:nvSpPr>
        <p:spPr>
          <a:xfrm>
            <a:off x="502920" y="1929384"/>
            <a:ext cx="91440" cy="91440"/>
          </a:xfrm>
          <a:prstGeom prst="rect">
            <a:avLst/>
          </a:prstGeom>
          <a:solidFill>
            <a:srgbClr val="E31E24"/>
          </a:solidFill>
          <a:ln/>
        </p:spPr>
        <p:txBody>
          <a:bodyPr/>
          <a:lstStyle/>
          <a:p>
            <a:endParaRPr lang="en-US"/>
          </a:p>
        </p:txBody>
      </p:sp>
      <p:sp>
        <p:nvSpPr>
          <p:cNvPr id="7" name="Text 5"/>
          <p:cNvSpPr/>
          <p:nvPr/>
        </p:nvSpPr>
        <p:spPr>
          <a:xfrm>
            <a:off x="740664" y="1828800"/>
            <a:ext cx="5120640" cy="548640"/>
          </a:xfrm>
          <a:prstGeom prst="rect">
            <a:avLst/>
          </a:prstGeom>
          <a:noFill/>
          <a:ln/>
        </p:spPr>
        <p:txBody>
          <a:bodyPr wrap="square" lIns="0" tIns="0" rIns="0" bIns="0" rtlCol="0" anchor="ctr"/>
          <a:lstStyle/>
          <a:p>
            <a:pPr marL="0" indent="0">
              <a:lnSpc>
                <a:spcPts val="1600"/>
              </a:lnSpc>
              <a:buNone/>
            </a:pPr>
            <a:r>
              <a:rPr lang="en-US" sz="1300" dirty="0">
                <a:solidFill>
                  <a:srgbClr val="DCE4EA"/>
                </a:solidFill>
                <a:latin typeface="Arial" pitchFamily="34" charset="0"/>
                <a:ea typeface="Arial" pitchFamily="34" charset="-122"/>
                <a:cs typeface="Arial" pitchFamily="34" charset="-120"/>
              </a:rPr>
              <a:t>Lakehouse stack: storage → Delta → Unity Catalog → compute → workloads</a:t>
            </a:r>
            <a:endParaRPr lang="en-US" sz="1300" dirty="0"/>
          </a:p>
        </p:txBody>
      </p:sp>
      <p:sp>
        <p:nvSpPr>
          <p:cNvPr id="8" name="Shape 6"/>
          <p:cNvSpPr/>
          <p:nvPr/>
        </p:nvSpPr>
        <p:spPr>
          <a:xfrm>
            <a:off x="502920" y="2496312"/>
            <a:ext cx="91440" cy="91440"/>
          </a:xfrm>
          <a:prstGeom prst="rect">
            <a:avLst/>
          </a:prstGeom>
          <a:solidFill>
            <a:srgbClr val="E31E24"/>
          </a:solidFill>
          <a:ln/>
        </p:spPr>
        <p:txBody>
          <a:bodyPr/>
          <a:lstStyle/>
          <a:p>
            <a:endParaRPr lang="en-US"/>
          </a:p>
        </p:txBody>
      </p:sp>
      <p:sp>
        <p:nvSpPr>
          <p:cNvPr id="9" name="Text 7"/>
          <p:cNvSpPr/>
          <p:nvPr/>
        </p:nvSpPr>
        <p:spPr>
          <a:xfrm>
            <a:off x="740664" y="2395728"/>
            <a:ext cx="5120640" cy="548640"/>
          </a:xfrm>
          <a:prstGeom prst="rect">
            <a:avLst/>
          </a:prstGeom>
          <a:noFill/>
          <a:ln/>
        </p:spPr>
        <p:txBody>
          <a:bodyPr wrap="square" lIns="0" tIns="0" rIns="0" bIns="0" rtlCol="0" anchor="ctr"/>
          <a:lstStyle/>
          <a:p>
            <a:pPr marL="0" indent="0">
              <a:lnSpc>
                <a:spcPts val="1600"/>
              </a:lnSpc>
              <a:buNone/>
            </a:pPr>
            <a:r>
              <a:rPr lang="en-US" sz="1300" dirty="0">
                <a:solidFill>
                  <a:srgbClr val="DCE4EA"/>
                </a:solidFill>
                <a:latin typeface="Arial" pitchFamily="34" charset="0"/>
                <a:ea typeface="Arial" pitchFamily="34" charset="-122"/>
                <a:cs typeface="Arial" pitchFamily="34" charset="-120"/>
              </a:rPr>
              <a:t>Tables, views, volumes — created, inspected, time-traveled, restored</a:t>
            </a:r>
            <a:endParaRPr lang="en-US" sz="1300" dirty="0"/>
          </a:p>
        </p:txBody>
      </p:sp>
      <p:sp>
        <p:nvSpPr>
          <p:cNvPr id="10" name="Shape 8"/>
          <p:cNvSpPr/>
          <p:nvPr/>
        </p:nvSpPr>
        <p:spPr>
          <a:xfrm>
            <a:off x="502920" y="3063240"/>
            <a:ext cx="91440" cy="91440"/>
          </a:xfrm>
          <a:prstGeom prst="rect">
            <a:avLst/>
          </a:prstGeom>
          <a:solidFill>
            <a:srgbClr val="E31E24"/>
          </a:solidFill>
          <a:ln/>
        </p:spPr>
        <p:txBody>
          <a:bodyPr/>
          <a:lstStyle/>
          <a:p>
            <a:endParaRPr lang="en-US"/>
          </a:p>
        </p:txBody>
      </p:sp>
      <p:sp>
        <p:nvSpPr>
          <p:cNvPr id="11" name="Text 9"/>
          <p:cNvSpPr/>
          <p:nvPr/>
        </p:nvSpPr>
        <p:spPr>
          <a:xfrm>
            <a:off x="740664" y="2962656"/>
            <a:ext cx="5120640" cy="548640"/>
          </a:xfrm>
          <a:prstGeom prst="rect">
            <a:avLst/>
          </a:prstGeom>
          <a:noFill/>
          <a:ln/>
        </p:spPr>
        <p:txBody>
          <a:bodyPr wrap="square" lIns="0" tIns="0" rIns="0" bIns="0" rtlCol="0" anchor="ctr"/>
          <a:lstStyle/>
          <a:p>
            <a:pPr marL="0" indent="0">
              <a:lnSpc>
                <a:spcPts val="1600"/>
              </a:lnSpc>
              <a:buNone/>
            </a:pPr>
            <a:r>
              <a:rPr lang="en-US" sz="1300" dirty="0">
                <a:solidFill>
                  <a:srgbClr val="DCE4EA"/>
                </a:solidFill>
                <a:latin typeface="Arial" pitchFamily="34" charset="0"/>
                <a:ea typeface="Arial" pitchFamily="34" charset="-122"/>
                <a:cs typeface="Arial" pitchFamily="34" charset="-120"/>
              </a:rPr>
              <a:t>Managed vs. external: you know what DROP does to each</a:t>
            </a:r>
            <a:endParaRPr lang="en-US" sz="1300" dirty="0"/>
          </a:p>
        </p:txBody>
      </p:sp>
      <p:sp>
        <p:nvSpPr>
          <p:cNvPr id="12" name="Shape 10"/>
          <p:cNvSpPr/>
          <p:nvPr/>
        </p:nvSpPr>
        <p:spPr>
          <a:xfrm>
            <a:off x="502920" y="3630168"/>
            <a:ext cx="91440" cy="91440"/>
          </a:xfrm>
          <a:prstGeom prst="rect">
            <a:avLst/>
          </a:prstGeom>
          <a:solidFill>
            <a:srgbClr val="E31E24"/>
          </a:solidFill>
          <a:ln/>
        </p:spPr>
        <p:txBody>
          <a:bodyPr/>
          <a:lstStyle/>
          <a:p>
            <a:endParaRPr lang="en-US"/>
          </a:p>
        </p:txBody>
      </p:sp>
      <p:sp>
        <p:nvSpPr>
          <p:cNvPr id="13" name="Text 11"/>
          <p:cNvSpPr/>
          <p:nvPr/>
        </p:nvSpPr>
        <p:spPr>
          <a:xfrm>
            <a:off x="740664" y="3529584"/>
            <a:ext cx="5120640" cy="548640"/>
          </a:xfrm>
          <a:prstGeom prst="rect">
            <a:avLst/>
          </a:prstGeom>
          <a:noFill/>
          <a:ln/>
        </p:spPr>
        <p:txBody>
          <a:bodyPr wrap="square" lIns="0" tIns="0" rIns="0" bIns="0" rtlCol="0" anchor="ctr"/>
          <a:lstStyle/>
          <a:p>
            <a:pPr marL="0" indent="0">
              <a:lnSpc>
                <a:spcPts val="1600"/>
              </a:lnSpc>
              <a:buNone/>
            </a:pPr>
            <a:r>
              <a:rPr lang="en-US" sz="1300" dirty="0">
                <a:solidFill>
                  <a:srgbClr val="DCE4EA"/>
                </a:solidFill>
                <a:latin typeface="Arial" pitchFamily="34" charset="0"/>
                <a:ea typeface="Arial" pitchFamily="34" charset="-122"/>
                <a:cs typeface="Arial" pitchFamily="34" charset="-120"/>
              </a:rPr>
              <a:t>Medallion: bronze absorbs, silver enforces, gold serves</a:t>
            </a:r>
            <a:endParaRPr lang="en-US" sz="1300" dirty="0"/>
          </a:p>
        </p:txBody>
      </p:sp>
      <p:sp>
        <p:nvSpPr>
          <p:cNvPr id="14" name="Shape 12"/>
          <p:cNvSpPr/>
          <p:nvPr/>
        </p:nvSpPr>
        <p:spPr>
          <a:xfrm>
            <a:off x="6035040" y="1828800"/>
            <a:ext cx="2606040" cy="2286000"/>
          </a:xfrm>
          <a:prstGeom prst="rect">
            <a:avLst/>
          </a:prstGeom>
          <a:solidFill>
            <a:srgbClr val="E31E24"/>
          </a:solidFill>
          <a:ln/>
        </p:spPr>
        <p:txBody>
          <a:bodyPr/>
          <a:lstStyle/>
          <a:p>
            <a:endParaRPr lang="en-US"/>
          </a:p>
        </p:txBody>
      </p:sp>
      <p:sp>
        <p:nvSpPr>
          <p:cNvPr id="15" name="Text 13"/>
          <p:cNvSpPr/>
          <p:nvPr/>
        </p:nvSpPr>
        <p:spPr>
          <a:xfrm>
            <a:off x="6263640" y="2057400"/>
            <a:ext cx="21945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Arial" pitchFamily="34" charset="0"/>
                <a:ea typeface="Arial" pitchFamily="34" charset="-122"/>
                <a:cs typeface="Arial" pitchFamily="34" charset="-120"/>
              </a:rPr>
              <a:t>NEXT</a:t>
            </a:r>
            <a:endParaRPr lang="en-US" sz="1100" dirty="0"/>
          </a:p>
        </p:txBody>
      </p:sp>
      <p:sp>
        <p:nvSpPr>
          <p:cNvPr id="16" name="Text 14"/>
          <p:cNvSpPr/>
          <p:nvPr/>
        </p:nvSpPr>
        <p:spPr>
          <a:xfrm>
            <a:off x="6263640" y="2377440"/>
            <a:ext cx="2194560" cy="1554480"/>
          </a:xfrm>
          <a:prstGeom prst="rect">
            <a:avLst/>
          </a:prstGeom>
          <a:noFill/>
          <a:ln/>
        </p:spPr>
        <p:txBody>
          <a:bodyPr wrap="square" lIns="0" tIns="0" rIns="0" bIns="0" rtlCol="0" anchor="ctr"/>
          <a:lstStyle/>
          <a:p>
            <a:pPr marL="0" indent="0">
              <a:lnSpc>
                <a:spcPts val="1900"/>
              </a:lnSpc>
              <a:buNone/>
            </a:pPr>
            <a:r>
              <a:rPr lang="en-US" sz="1400" b="1" dirty="0">
                <a:solidFill>
                  <a:srgbClr val="FFFFFF"/>
                </a:solidFill>
                <a:latin typeface="Arial" pitchFamily="34" charset="0"/>
                <a:ea typeface="Arial" pitchFamily="34" charset="-122"/>
                <a:cs typeface="Arial" pitchFamily="34" charset="-120"/>
              </a:rPr>
              <a:t>Ingestion &amp; ELT —</a:t>
            </a:r>
            <a:endParaRPr lang="en-US" sz="1400" dirty="0"/>
          </a:p>
          <a:p>
            <a:pPr marL="0" indent="0">
              <a:lnSpc>
                <a:spcPts val="1900"/>
              </a:lnSpc>
              <a:buNone/>
            </a:pPr>
            <a:r>
              <a:rPr lang="en-US" sz="1400" b="1" dirty="0">
                <a:solidFill>
                  <a:srgbClr val="FFFFFF"/>
                </a:solidFill>
                <a:latin typeface="Arial" pitchFamily="34" charset="0"/>
                <a:ea typeface="Arial" pitchFamily="34" charset="-122"/>
                <a:cs typeface="Arial" pitchFamily="34" charset="-120"/>
              </a:rPr>
              <a:t>COPY INTO,</a:t>
            </a:r>
            <a:endParaRPr lang="en-US" sz="1400" dirty="0"/>
          </a:p>
          <a:p>
            <a:pPr marL="0" indent="0">
              <a:lnSpc>
                <a:spcPts val="1900"/>
              </a:lnSpc>
              <a:buNone/>
            </a:pPr>
            <a:r>
              <a:rPr lang="en-US" sz="1400" b="1" dirty="0">
                <a:solidFill>
                  <a:srgbClr val="FFFFFF"/>
                </a:solidFill>
                <a:latin typeface="Arial" pitchFamily="34" charset="0"/>
                <a:ea typeface="Arial" pitchFamily="34" charset="-122"/>
                <a:cs typeface="Arial" pitchFamily="34" charset="-120"/>
              </a:rPr>
              <a:t>Auto Loader,</a:t>
            </a:r>
            <a:endParaRPr lang="en-US" sz="1400" dirty="0"/>
          </a:p>
          <a:p>
            <a:pPr marL="0" indent="0">
              <a:lnSpc>
                <a:spcPts val="1900"/>
              </a:lnSpc>
              <a:buNone/>
            </a:pPr>
            <a:r>
              <a:rPr lang="en-US" sz="1400" b="1" dirty="0">
                <a:solidFill>
                  <a:srgbClr val="FFFFFF"/>
                </a:solidFill>
                <a:latin typeface="Arial" pitchFamily="34" charset="0"/>
                <a:ea typeface="Arial" pitchFamily="34" charset="-122"/>
                <a:cs typeface="Arial" pitchFamily="34" charset="-120"/>
              </a:rPr>
              <a:t>bronze→silver</a:t>
            </a:r>
            <a:endParaRPr lang="en-US" sz="1400" dirty="0"/>
          </a:p>
        </p:txBody>
      </p:sp>
      <p:sp>
        <p:nvSpPr>
          <p:cNvPr id="17" name="Text 15"/>
          <p:cNvSpPr/>
          <p:nvPr/>
        </p:nvSpPr>
        <p:spPr>
          <a:xfrm>
            <a:off x="502920" y="4846320"/>
            <a:ext cx="5029200" cy="228600"/>
          </a:xfrm>
          <a:prstGeom prst="rect">
            <a:avLst/>
          </a:prstGeom>
          <a:noFill/>
          <a:ln/>
        </p:spPr>
        <p:txBody>
          <a:bodyPr wrap="square" lIns="0" tIns="0" rIns="0" bIns="0" rtlCol="0" anchor="ctr"/>
          <a:lstStyle/>
          <a:p>
            <a:pPr marL="0" indent="0">
              <a:buNone/>
            </a:pPr>
            <a:r>
              <a:rPr lang="en-US" sz="800" kern="0" spc="100" dirty="0">
                <a:solidFill>
                  <a:srgbClr val="7F8C8D"/>
                </a:solidFill>
                <a:latin typeface="Arial" pitchFamily="34" charset="0"/>
                <a:ea typeface="Arial" pitchFamily="34" charset="-122"/>
                <a:cs typeface="Arial" pitchFamily="34" charset="-120"/>
              </a:rPr>
              <a:t>CREO TECHNOLOGIES  ·  DATABRICKS DATA ENGINEER ASSOCIATE</a:t>
            </a:r>
            <a:endParaRPr lang="en-US" sz="800" dirty="0"/>
          </a:p>
        </p:txBody>
      </p:sp>
      <p:sp>
        <p:nvSpPr>
          <p:cNvPr id="18" name="Text 16"/>
          <p:cNvSpPr/>
          <p:nvPr/>
        </p:nvSpPr>
        <p:spPr>
          <a:xfrm>
            <a:off x="4983480" y="4846320"/>
            <a:ext cx="3657600" cy="228600"/>
          </a:xfrm>
          <a:prstGeom prst="rect">
            <a:avLst/>
          </a:prstGeom>
          <a:noFill/>
          <a:ln/>
        </p:spPr>
        <p:txBody>
          <a:bodyPr wrap="square" lIns="0" tIns="0" rIns="0" bIns="0" rtlCol="0" anchor="ctr"/>
          <a:lstStyle/>
          <a:p>
            <a:pPr marL="0" indent="0" algn="r">
              <a:buNone/>
            </a:pPr>
            <a:r>
              <a:rPr lang="en-US" sz="800" kern="0" spc="100" dirty="0">
                <a:solidFill>
                  <a:srgbClr val="7F8C8D"/>
                </a:solidFill>
                <a:latin typeface="Arial" pitchFamily="34" charset="0"/>
                <a:ea typeface="Arial" pitchFamily="34" charset="-122"/>
                <a:cs typeface="Arial" pitchFamily="34" charset="-120"/>
              </a:rPr>
              <a:t>WEEK 1  ·  JUNE 2026  ·  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TotalTime>
  <Words>3056</Words>
  <Application>Microsoft Macintosh PowerPoint</Application>
  <PresentationFormat>On-screen Show (16:9)</PresentationFormat>
  <Paragraphs>349</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Creo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Lakehouse Foundations</dc:title>
  <dc:subject>PptxGenJS Presentation</dc:subject>
  <dc:creator>Creo Academy</dc:creator>
  <cp:lastModifiedBy>Tarek Atwan</cp:lastModifiedBy>
  <cp:revision>9</cp:revision>
  <dcterms:created xsi:type="dcterms:W3CDTF">2026-06-12T14:46:30Z</dcterms:created>
  <dcterms:modified xsi:type="dcterms:W3CDTF">2026-06-18T12:15:26Z</dcterms:modified>
</cp:coreProperties>
</file>