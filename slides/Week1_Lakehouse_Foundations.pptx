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Set the contract: this is a certification bridge for working data engineers, not a beginner course. Audience includes Creo client guests — keep Azure translations friendly but Databricks-first. Exam: May 4, 2026 guide, 45 questions, 90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Warn learners off stale prep material: the exam changed May 4, 2026 — 7 domains now, including a brand-new CI/CD domain. Code is SQL when possible, Python otherwise. Pace math: 2 minutes per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where each exam domain lives in the course. Today seeds three domains. Weights are estimates aligned to the official objective counts.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minutes max — this buys trust, not exam points. Key warning: answering exam questions with Azure mental models is this audience's #1 source of wrong answers. Fabric users already know Delta — their instincts transfer well.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Domain 1 core. Why the lakehouse exists: warehouses gave ACID + performance but closed formats and copies; lakes gave cheap open storage but no reliability. Delta on object storage closes the gap. 'Data Intelligence Platform' = this stack plus the AI layer. Keep returning to this diagram all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exam loves 'which compute should they use?' Decision logic: workload type, interactivity, cost. Free Edition is serverless-only (one 2X-Small SQL warehouse) — cluster configuration is exam-concept only here. Serverless's exam keyword: hands-off, auto-optimized.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Demystify: Parquet data files + _delta_log transaction log. The ordered log records every add/remove — that's what gives ACID, consistent reads, and versions. Delta is the DEFAULT format: CREATE TABLE with no USING clause makes a Delta table. Open source, not proprietary.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Because the log records every version: query the past, audit changes, roll back mistakes. Schema enforcement = warehouse-grade safety (bad writes fail). VACUUM bounds how far back you can travel — one sentence now, depth in Week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single most reused mental model of the course: metastore → catalog → schema → securables, addressed catalog.schema.object. In Free Edition labs everything lives in workspace.&lt;your_schema&gt;; samples is read-only shared data. Privileges inherit DOWN the tree — Week 4 builds on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#1 gotcha for warehouse people. Drill DROP behavior both directions orally. Why managed is recommended: Databricks owns layout → automatic optimization. Free Edition has no external locations — external tables are exam-concept only here. Conversion exists (Week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Volumes killed the 'random files in DBFS' anti-pattern. Tables govern tabular data; volumes govern everything else, same catalog.schema.volume addressing. Say the path out loud: slash-Volumes-catalog-schema-volume. Labs stage every file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of five official sample questions test exactly this. Drill the CTAS rule: schema comes FROM the query — no column-type list allowed; CAST in the SELECT. OR REPLACE is atomic and keeps history. IF NOT EXISTS does NOTHING if the table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exam twist: choosing among all four for a gold-layer scenario. Heuristics — expensive dashboard aggregation hit often: MV. Always-current logic wrapper: view. Session scratch: temp view. Incremental append ingestion: streaming table. MVs can serve STALE data between refreshes.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Progressive refinement with replayability: if silver logic was wrong, rebuild from bronze without re-extracting. Bronze's value IS its rawness — pre-cleaning bronze destroys the replay story. This is the course spine; Week 2 builds it for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official sample Q4 (CREATE OR REPLACE) with elimination: invented syntax dies first (WITH COLUMNS), then constraint-violators (IF NOT EXISTS fails 'regardless of whether it exists'). Homework: docs reading + recreate the demo from memory. Keep all lab objects — Week 2 builds on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three anchors. Assign homework explicitly. Next week starts from their lab schema — nothing gets deleted.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3E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18104" y="91440"/>
            <a:ext cx="2377440" cy="2377440"/>
          </a:xfrm>
          <a:prstGeom prst="ellipse">
            <a:avLst/>
          </a:prstGeom>
          <a:ln w="12700">
            <a:solidFill>
              <a:srgbClr val="4663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968496" y="3657600"/>
            <a:ext cx="1554480" cy="1554480"/>
          </a:xfrm>
          <a:prstGeom prst="ellipse">
            <a:avLst/>
          </a:prstGeom>
          <a:ln w="12700">
            <a:solidFill>
              <a:srgbClr val="4663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3542" y="4114800"/>
            <a:ext cx="502920" cy="502920"/>
          </a:xfrm>
          <a:prstGeom prst="ellipse">
            <a:avLst/>
          </a:prstGeom>
          <a:solidFill>
            <a:srgbClr val="E31E24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243584"/>
            <a:ext cx="1280160" cy="54864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3840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6400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INSTRUCTOR-LED CERTIFICATION SERIES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141732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Certified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Engineer Associate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30175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9D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Databricks Intelligence Platform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9D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Data Transformation &amp; Modeling — DDL foundations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9D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Governance &amp; Security — managed vs. external (seeded)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897880" y="0"/>
            <a:ext cx="3246120" cy="514350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1" name="Text 9"/>
          <p:cNvSpPr/>
          <p:nvPr/>
        </p:nvSpPr>
        <p:spPr>
          <a:xfrm>
            <a:off x="6263640" y="777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199632" y="960120"/>
            <a:ext cx="2651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0" dirty="0"/>
          </a:p>
        </p:txBody>
      </p:sp>
      <p:sp>
        <p:nvSpPr>
          <p:cNvPr id="13" name="Text 11"/>
          <p:cNvSpPr/>
          <p:nvPr/>
        </p:nvSpPr>
        <p:spPr>
          <a:xfrm>
            <a:off x="6263640" y="3017520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Lakehouse Foundations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263640" y="42519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FFD9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Lake · Unity Catalog · Table Fundamentals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CERTIFICATION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exam actually is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  ·  JUNE 2026  ·  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02920" y="1463040"/>
            <a:ext cx="14447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502920" y="2377440"/>
            <a:ext cx="1444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spc="15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SCORED QUESTIONS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039112" y="1600200"/>
            <a:ext cx="0" cy="1005840"/>
          </a:xfrm>
          <a:prstGeom prst="line">
            <a:avLst/>
          </a:prstGeom>
          <a:noFill/>
          <a:ln w="12700">
            <a:solidFill>
              <a:srgbClr val="D8DEE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130552" y="1463040"/>
            <a:ext cx="14447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4800" dirty="0"/>
          </a:p>
        </p:txBody>
      </p:sp>
      <p:sp>
        <p:nvSpPr>
          <p:cNvPr id="11" name="Text 8"/>
          <p:cNvSpPr/>
          <p:nvPr/>
        </p:nvSpPr>
        <p:spPr>
          <a:xfrm>
            <a:off x="2130552" y="2377440"/>
            <a:ext cx="1444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spc="15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666744" y="1600200"/>
            <a:ext cx="0" cy="1005840"/>
          </a:xfrm>
          <a:prstGeom prst="line">
            <a:avLst/>
          </a:prstGeom>
          <a:noFill/>
          <a:ln w="12700">
            <a:solidFill>
              <a:srgbClr val="D8DEE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758184" y="1463040"/>
            <a:ext cx="14447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4800" dirty="0"/>
          </a:p>
        </p:txBody>
      </p:sp>
      <p:sp>
        <p:nvSpPr>
          <p:cNvPr id="14" name="Text 11"/>
          <p:cNvSpPr/>
          <p:nvPr/>
        </p:nvSpPr>
        <p:spPr>
          <a:xfrm>
            <a:off x="3758184" y="2377440"/>
            <a:ext cx="1444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spc="15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DOMAINS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294376" y="1600200"/>
            <a:ext cx="0" cy="1005840"/>
          </a:xfrm>
          <a:prstGeom prst="line">
            <a:avLst/>
          </a:prstGeom>
          <a:noFill/>
          <a:ln w="12700">
            <a:solidFill>
              <a:srgbClr val="D8DEE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385816" y="1463040"/>
            <a:ext cx="14447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$200</a:t>
            </a:r>
            <a:endParaRPr lang="en-US" sz="4000" dirty="0"/>
          </a:p>
        </p:txBody>
      </p:sp>
      <p:sp>
        <p:nvSpPr>
          <p:cNvPr id="17" name="Text 14"/>
          <p:cNvSpPr/>
          <p:nvPr/>
        </p:nvSpPr>
        <p:spPr>
          <a:xfrm>
            <a:off x="5385816" y="2377440"/>
            <a:ext cx="1444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spc="15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REGISTRATION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922008" y="1600200"/>
            <a:ext cx="0" cy="1005840"/>
          </a:xfrm>
          <a:prstGeom prst="line">
            <a:avLst/>
          </a:prstGeom>
          <a:noFill/>
          <a:ln w="12700">
            <a:solidFill>
              <a:srgbClr val="D8DEE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013448" y="1463040"/>
            <a:ext cx="14447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yrs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7013448" y="2377440"/>
            <a:ext cx="1444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spc="15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VALIDITY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02920" y="3291840"/>
            <a:ext cx="8138160" cy="777240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22" name="Shape 19"/>
          <p:cNvSpPr/>
          <p:nvPr/>
        </p:nvSpPr>
        <p:spPr>
          <a:xfrm>
            <a:off x="502920" y="3291840"/>
            <a:ext cx="54864" cy="7772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3" name="Text 20"/>
          <p:cNvSpPr/>
          <p:nvPr/>
        </p:nvSpPr>
        <p:spPr>
          <a:xfrm>
            <a:off x="704088" y="3346704"/>
            <a:ext cx="77724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GET TRICKED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May 4, 2026 guide added CI/CD and reorganized everything. Most online question banks target the old 5-domain exam — they miss entire domains.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502920" y="42976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in the exam: SQL when possible, Python otherwise — you need reading fluency in both.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PROGRAM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Fridays, seven domains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  ·  JUNE 2026  ·  3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25603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02920" y="1325880"/>
            <a:ext cx="64008" cy="141732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9" name="Text 6"/>
          <p:cNvSpPr/>
          <p:nvPr/>
        </p:nvSpPr>
        <p:spPr>
          <a:xfrm>
            <a:off x="685800" y="143560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85800" y="1746504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Lakehouse Foundations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85800" y="2093976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· Delta · Unity Catalog · tables &amp; views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291840" y="1325880"/>
            <a:ext cx="25603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91840" y="1325880"/>
            <a:ext cx="64008" cy="14173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4" name="Text 11"/>
          <p:cNvSpPr/>
          <p:nvPr/>
        </p:nvSpPr>
        <p:spPr>
          <a:xfrm>
            <a:off x="3474720" y="143560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W2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3474720" y="1746504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Ingestion + Transformation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3474720" y="2093976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INTO · Auto Loader · bronze→silver · MERGE (~40%+ of exam)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080760" y="1325880"/>
            <a:ext cx="25603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080760" y="1325880"/>
            <a:ext cx="64008" cy="14173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9" name="Text 16"/>
          <p:cNvSpPr/>
          <p:nvPr/>
        </p:nvSpPr>
        <p:spPr>
          <a:xfrm>
            <a:off x="6263640" y="143560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W3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6263640" y="1746504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Jobs + CI/CD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6263640" y="2093976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Lakeflow Jobs · triggers · Git folders · Automation Bundles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2971800"/>
            <a:ext cx="25603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02920" y="2971800"/>
            <a:ext cx="64008" cy="14173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24" name="Text 21"/>
          <p:cNvSpPr/>
          <p:nvPr/>
        </p:nvSpPr>
        <p:spPr>
          <a:xfrm>
            <a:off x="685800" y="30815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W4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685800" y="3392424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+ Optimization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685800" y="3739896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GRANT/DENY · masks · Spark UI · Liquid Clustering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3291840" y="2971800"/>
            <a:ext cx="25603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3291840" y="2971800"/>
            <a:ext cx="64008" cy="14173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29" name="Text 26"/>
          <p:cNvSpPr/>
          <p:nvPr/>
        </p:nvSpPr>
        <p:spPr>
          <a:xfrm>
            <a:off x="3474720" y="30815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W5</a:t>
            </a:r>
            <a:endParaRPr lang="en-US" sz="1700" dirty="0"/>
          </a:p>
        </p:txBody>
      </p:sp>
      <p:sp>
        <p:nvSpPr>
          <p:cNvPr id="30" name="Text 27"/>
          <p:cNvSpPr/>
          <p:nvPr/>
        </p:nvSpPr>
        <p:spPr>
          <a:xfrm>
            <a:off x="3474720" y="3392424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Capstone + Mock</a:t>
            </a:r>
            <a:endParaRPr lang="en-US" sz="1250" dirty="0"/>
          </a:p>
        </p:txBody>
      </p:sp>
      <p:sp>
        <p:nvSpPr>
          <p:cNvPr id="31" name="Text 28"/>
          <p:cNvSpPr/>
          <p:nvPr/>
        </p:nvSpPr>
        <p:spPr>
          <a:xfrm>
            <a:off x="3474720" y="3739896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build · 45-question mock · exam strategy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080760" y="2971800"/>
            <a:ext cx="25603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6080760" y="2971800"/>
            <a:ext cx="64008" cy="1417320"/>
          </a:xfrm>
          <a:prstGeom prst="rect">
            <a:avLst/>
          </a:prstGeom>
          <a:solidFill>
            <a:srgbClr val="7F8C8D"/>
          </a:solidFill>
          <a:ln/>
        </p:spPr>
      </p:sp>
      <p:sp>
        <p:nvSpPr>
          <p:cNvPr id="34" name="Text 31"/>
          <p:cNvSpPr/>
          <p:nvPr/>
        </p:nvSpPr>
        <p:spPr>
          <a:xfrm>
            <a:off x="6263640" y="30815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700" dirty="0"/>
          </a:p>
        </p:txBody>
      </p:sp>
      <p:sp>
        <p:nvSpPr>
          <p:cNvPr id="35" name="Text 32"/>
          <p:cNvSpPr/>
          <p:nvPr/>
        </p:nvSpPr>
        <p:spPr>
          <a:xfrm>
            <a:off x="6263640" y="3392424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Friday, same rhythm</a:t>
            </a:r>
            <a:endParaRPr lang="en-US" sz="1250" dirty="0"/>
          </a:p>
        </p:txBody>
      </p:sp>
      <p:sp>
        <p:nvSpPr>
          <p:cNvPr id="36" name="Text 33"/>
          <p:cNvSpPr/>
          <p:nvPr/>
        </p:nvSpPr>
        <p:spPr>
          <a:xfrm>
            <a:off x="6263640" y="3739896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→ concepts → live demo → hands-on lab → activity → quiz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ADF · SYNAPSE · FABRIC ENGINEERS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Translate your vocabulary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  ·  JUNE 2026  ·  4</a:t>
            </a:r>
            <a:endParaRPr lang="en-US" sz="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81381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2880360"/>
                <a:gridCol w="2926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you say today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Databricks calls it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Watch out for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ADF pipeline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Lakeflow Jobs (orchestration)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Code-adjacent tasks, not drag-and-drop activities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ADF copy activity / linked service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Lakeflow Connect connectors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Managed connectors = least engineering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Synapse dedicated SQL pool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SQL warehouse on Delta tables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separate warehouse engine or data copy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Fabric OneLake + shortcuts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Unity Catalog + external locations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governance tree across all workspaces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Fabric Lakehouse / Warehouse split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lakehouse, one format (Delta)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tables serve every workload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lakehouse, layer by layer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  ·  JUNE 2026  ·  5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48132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8" name="Text 5"/>
          <p:cNvSpPr/>
          <p:nvPr/>
        </p:nvSpPr>
        <p:spPr>
          <a:xfrm>
            <a:off x="722376" y="1380744"/>
            <a:ext cx="38496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16"/>
              </a:lnSpc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copy of data  </a:t>
            </a:r>
            <a:pPr indent="0" marL="0">
              <a:lnSpc>
                <a:spcPts val="1716"/>
              </a:lnSpc>
              <a:buNone/>
            </a:pPr>
            <a:r>
              <a:rPr lang="en-US" sz="13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Parquet + Delta in your cloud account — no warehouse/lake split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2231136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0" name="Text 7"/>
          <p:cNvSpPr/>
          <p:nvPr/>
        </p:nvSpPr>
        <p:spPr>
          <a:xfrm>
            <a:off x="722376" y="2130552"/>
            <a:ext cx="38496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16"/>
              </a:lnSpc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governance  </a:t>
            </a:r>
            <a:pPr indent="0" marL="0">
              <a:lnSpc>
                <a:spcPts val="1716"/>
              </a:lnSpc>
              <a:buNone/>
            </a:pPr>
            <a:r>
              <a:rPr lang="en-US" sz="13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Unity Catalog secures every table, file, and model in one tree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2980944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2" name="Text 9"/>
          <p:cNvSpPr/>
          <p:nvPr/>
        </p:nvSpPr>
        <p:spPr>
          <a:xfrm>
            <a:off x="722376" y="2880360"/>
            <a:ext cx="38496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16"/>
              </a:lnSpc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workload, same tables  </a:t>
            </a:r>
            <a:pPr indent="0" marL="0">
              <a:lnSpc>
                <a:spcPts val="1716"/>
              </a:lnSpc>
              <a:buNone/>
            </a:pPr>
            <a:r>
              <a:rPr lang="en-US" sz="13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ETL, SQL/BI, streaming, and ML hit identical data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02920" y="3730752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4" name="Text 11"/>
          <p:cNvSpPr/>
          <p:nvPr/>
        </p:nvSpPr>
        <p:spPr>
          <a:xfrm>
            <a:off x="722376" y="3630168"/>
            <a:ext cx="38496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16"/>
              </a:lnSpc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formats = no lock-in  </a:t>
            </a:r>
            <a:pPr indent="0" marL="0">
              <a:lnSpc>
                <a:spcPts val="1716"/>
              </a:lnSpc>
              <a:buNone/>
            </a:pPr>
            <a:r>
              <a:rPr lang="en-US" sz="13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engines can read your tables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892040" y="1280160"/>
            <a:ext cx="3749040" cy="3383280"/>
          </a:xfrm>
          <a:prstGeom prst="rect">
            <a:avLst/>
          </a:prstGeom>
          <a:solidFill>
            <a:srgbClr val="ECF0F1"/>
          </a:solidFill>
          <a:ln/>
        </p:spPr>
      </p:sp>
      <p:sp>
        <p:nvSpPr>
          <p:cNvPr id="16" name="Text 13"/>
          <p:cNvSpPr/>
          <p:nvPr/>
        </p:nvSpPr>
        <p:spPr>
          <a:xfrm>
            <a:off x="5093208" y="1408176"/>
            <a:ext cx="33467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STACK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120640" y="1645920"/>
            <a:ext cx="3291840" cy="47548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8" name="Text 15"/>
          <p:cNvSpPr/>
          <p:nvPr/>
        </p:nvSpPr>
        <p:spPr>
          <a:xfrm>
            <a:off x="5120640" y="1645920"/>
            <a:ext cx="329184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WORKLOADS — ETL · SQL/BI · Streaming · ML/AI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120640" y="2212848"/>
            <a:ext cx="3291840" cy="475488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20" name="Text 17"/>
          <p:cNvSpPr/>
          <p:nvPr/>
        </p:nvSpPr>
        <p:spPr>
          <a:xfrm>
            <a:off x="5120640" y="2212848"/>
            <a:ext cx="329184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— SQL warehouses · serverless · clusters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120640" y="2779776"/>
            <a:ext cx="3291840" cy="475488"/>
          </a:xfrm>
          <a:prstGeom prst="rect">
            <a:avLst/>
          </a:prstGeom>
          <a:solidFill>
            <a:srgbClr val="3D5166"/>
          </a:solidFill>
          <a:ln/>
        </p:spPr>
      </p:sp>
      <p:sp>
        <p:nvSpPr>
          <p:cNvPr id="22" name="Text 19"/>
          <p:cNvSpPr/>
          <p:nvPr/>
        </p:nvSpPr>
        <p:spPr>
          <a:xfrm>
            <a:off x="5120640" y="2779776"/>
            <a:ext cx="329184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UNITY CATALOG — governance &amp; lineage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120640" y="3346704"/>
            <a:ext cx="3291840" cy="475488"/>
          </a:xfrm>
          <a:prstGeom prst="rect">
            <a:avLst/>
          </a:prstGeom>
          <a:solidFill>
            <a:srgbClr val="566B80"/>
          </a:solidFill>
          <a:ln/>
        </p:spPr>
      </p:sp>
      <p:sp>
        <p:nvSpPr>
          <p:cNvPr id="24" name="Text 21"/>
          <p:cNvSpPr/>
          <p:nvPr/>
        </p:nvSpPr>
        <p:spPr>
          <a:xfrm>
            <a:off x="5120640" y="3346704"/>
            <a:ext cx="329184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LAKE — ACID on open Parquet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120640" y="3913632"/>
            <a:ext cx="3291840" cy="475488"/>
          </a:xfrm>
          <a:prstGeom prst="rect">
            <a:avLst/>
          </a:prstGeom>
          <a:solidFill>
            <a:srgbClr val="6E8092"/>
          </a:solidFill>
          <a:ln/>
        </p:spPr>
      </p:sp>
      <p:sp>
        <p:nvSpPr>
          <p:cNvPr id="26" name="Text 23"/>
          <p:cNvSpPr/>
          <p:nvPr/>
        </p:nvSpPr>
        <p:spPr>
          <a:xfrm>
            <a:off x="5120640" y="3913632"/>
            <a:ext cx="329184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OBJECT STORAGE — S3 · ADLS · GCS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right compute for the job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  ·  JUNE 2026  ·  6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39547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02920" y="1325880"/>
            <a:ext cx="64008" cy="129844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9" name="Text 6"/>
          <p:cNvSpPr/>
          <p:nvPr/>
        </p:nvSpPr>
        <p:spPr>
          <a:xfrm>
            <a:off x="685800" y="1435608"/>
            <a:ext cx="35890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85800" y="1746504"/>
            <a:ext cx="36073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SQL warehouse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85800" y="2093976"/>
            <a:ext cx="360730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analytics, BI, dashboards. Instant start, auto-scaling. SQL-only teams' default.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686300" y="1325880"/>
            <a:ext cx="39547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686300" y="1325880"/>
            <a:ext cx="64008" cy="129844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4" name="Text 11"/>
          <p:cNvSpPr/>
          <p:nvPr/>
        </p:nvSpPr>
        <p:spPr>
          <a:xfrm>
            <a:off x="4869180" y="1435608"/>
            <a:ext cx="35890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869180" y="1746504"/>
            <a:ext cx="36073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notebook / job compute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869180" y="2093976"/>
            <a:ext cx="360730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+ SQL without cluster management. Hands-off, auto-optimized — exam keyword.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02920" y="2852928"/>
            <a:ext cx="39547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02920" y="2852928"/>
            <a:ext cx="64008" cy="129844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9" name="Text 16"/>
          <p:cNvSpPr/>
          <p:nvPr/>
        </p:nvSpPr>
        <p:spPr>
          <a:xfrm>
            <a:off x="685800" y="2962656"/>
            <a:ext cx="35890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685800" y="3273552"/>
            <a:ext cx="36073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All-purpose cluster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685800" y="3621024"/>
            <a:ext cx="360730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development, shared by humans. Lingers — more expensive per job. (Concept on Free Edition.)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686300" y="2852928"/>
            <a:ext cx="39547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686300" y="2852928"/>
            <a:ext cx="64008" cy="129844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4" name="Text 21"/>
          <p:cNvSpPr/>
          <p:nvPr/>
        </p:nvSpPr>
        <p:spPr>
          <a:xfrm>
            <a:off x="4869180" y="2962656"/>
            <a:ext cx="35890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4869180" y="3273552"/>
            <a:ext cx="36073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cluster / job compute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4869180" y="3621024"/>
            <a:ext cx="360730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Created per run, terminated after. THE production answer on cost grounds. (Concept on Free Edition.)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02920" y="4114800"/>
            <a:ext cx="8138160" cy="566928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28" name="Shape 25"/>
          <p:cNvSpPr/>
          <p:nvPr/>
        </p:nvSpPr>
        <p:spPr>
          <a:xfrm>
            <a:off x="502920" y="4114800"/>
            <a:ext cx="54864" cy="56692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9" name="Text 26"/>
          <p:cNvSpPr/>
          <p:nvPr/>
        </p:nvSpPr>
        <p:spPr>
          <a:xfrm>
            <a:off x="704088" y="416966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TRAP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“All-purpose clusters for production because they're always on” — backwards. Job compute terminates; that's why it wins.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1 · DELTA LAKE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Delta table is just files — plus a log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  ·  JUNE 2026  ·  7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48132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8" name="Text 5"/>
          <p:cNvSpPr/>
          <p:nvPr/>
        </p:nvSpPr>
        <p:spPr>
          <a:xfrm>
            <a:off x="722376" y="1380744"/>
            <a:ext cx="38496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16"/>
              </a:lnSpc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Parquet + _delta_log  </a:t>
            </a:r>
            <a:pPr indent="0" marL="0">
              <a:lnSpc>
                <a:spcPts val="1716"/>
              </a:lnSpc>
              <a:buNone/>
            </a:pPr>
            <a:r>
              <a:rPr lang="en-US" sz="13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ordered JSON commits + checkpoints are the source of truth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2231136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0" name="Text 7"/>
          <p:cNvSpPr/>
          <p:nvPr/>
        </p:nvSpPr>
        <p:spPr>
          <a:xfrm>
            <a:off x="722376" y="2130552"/>
            <a:ext cx="38496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16"/>
              </a:lnSpc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ACID on object storage  </a:t>
            </a:r>
            <a:pPr indent="0" marL="0">
              <a:lnSpc>
                <a:spcPts val="1716"/>
              </a:lnSpc>
              <a:buNone/>
            </a:pPr>
            <a:r>
              <a:rPr lang="en-US" sz="13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readers always see the latest committed snapshot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2980944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2" name="Text 9"/>
          <p:cNvSpPr/>
          <p:nvPr/>
        </p:nvSpPr>
        <p:spPr>
          <a:xfrm>
            <a:off x="722376" y="2880360"/>
            <a:ext cx="38496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16"/>
              </a:lnSpc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format  </a:t>
            </a:r>
            <a:pPr indent="0" marL="0">
              <a:lnSpc>
                <a:spcPts val="1716"/>
              </a:lnSpc>
              <a:buNone/>
            </a:pPr>
            <a:r>
              <a:rPr lang="en-US" sz="13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DELTA is implicit — an exam-tested fact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02920" y="3730752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4" name="Text 11"/>
          <p:cNvSpPr/>
          <p:nvPr/>
        </p:nvSpPr>
        <p:spPr>
          <a:xfrm>
            <a:off x="722376" y="3630168"/>
            <a:ext cx="38496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16"/>
              </a:lnSpc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standard  </a:t>
            </a:r>
            <a:pPr indent="0" marL="0">
              <a:lnSpc>
                <a:spcPts val="1716"/>
              </a:lnSpc>
              <a:buNone/>
            </a:pPr>
            <a:r>
              <a:rPr lang="en-US" sz="13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readable by non-Databricks engines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892040" y="1280160"/>
            <a:ext cx="3749040" cy="3383280"/>
          </a:xfrm>
          <a:prstGeom prst="rect">
            <a:avLst/>
          </a:prstGeom>
          <a:solidFill>
            <a:srgbClr val="ECF0F1"/>
          </a:solidFill>
          <a:ln/>
        </p:spPr>
      </p:sp>
      <p:sp>
        <p:nvSpPr>
          <p:cNvPr id="16" name="Text 13"/>
          <p:cNvSpPr/>
          <p:nvPr/>
        </p:nvSpPr>
        <p:spPr>
          <a:xfrm>
            <a:off x="5093208" y="1408176"/>
            <a:ext cx="33467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THE TABLE DIRECTORY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120640" y="1645920"/>
            <a:ext cx="3291840" cy="384048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8" name="Text 15"/>
          <p:cNvSpPr/>
          <p:nvPr/>
        </p:nvSpPr>
        <p:spPr>
          <a:xfrm>
            <a:off x="5120640" y="1645920"/>
            <a:ext cx="329184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my_table/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349240" y="2121408"/>
            <a:ext cx="30632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349240" y="2121408"/>
            <a:ext cx="306324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part-0001.parquet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349240" y="2542032"/>
            <a:ext cx="30632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349240" y="2542032"/>
            <a:ext cx="306324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part-0002.parquet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349240" y="2962656"/>
            <a:ext cx="3063240" cy="38404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4" name="Text 21"/>
          <p:cNvSpPr/>
          <p:nvPr/>
        </p:nvSpPr>
        <p:spPr>
          <a:xfrm>
            <a:off x="534924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_delta_log/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577840" y="3438144"/>
            <a:ext cx="283464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577840" y="3438144"/>
            <a:ext cx="28346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00000.json   ← v0 commit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577840" y="3840480"/>
            <a:ext cx="283464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577840" y="3840480"/>
            <a:ext cx="28346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00001.json   ← v1 commit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5486400" y="426110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log IS the table's truth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3 · DELTA DML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History, time travel, and the undo button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  ·  JUNE 2026  ·  8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4663440" cy="3291840"/>
          </a:xfrm>
          <a:prstGeom prst="rect">
            <a:avLst/>
          </a:prstGeom>
          <a:solidFill>
            <a:srgbClr val="263545"/>
          </a:solidFill>
          <a:ln/>
        </p:spPr>
      </p:sp>
      <p:sp>
        <p:nvSpPr>
          <p:cNvPr id="8" name="Shape 5"/>
          <p:cNvSpPr/>
          <p:nvPr/>
        </p:nvSpPr>
        <p:spPr>
          <a:xfrm>
            <a:off x="502920" y="1325880"/>
            <a:ext cx="4663440" cy="2743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9" name="Shape 6"/>
          <p:cNvSpPr/>
          <p:nvPr/>
        </p:nvSpPr>
        <p:spPr>
          <a:xfrm>
            <a:off x="630936" y="1417320"/>
            <a:ext cx="91440" cy="91440"/>
          </a:xfrm>
          <a:prstGeom prst="ellipse">
            <a:avLst/>
          </a:prstGeom>
          <a:solidFill>
            <a:srgbClr val="E31E24"/>
          </a:solidFill>
          <a:ln/>
        </p:spPr>
      </p:sp>
      <p:sp>
        <p:nvSpPr>
          <p:cNvPr id="10" name="Text 7"/>
          <p:cNvSpPr/>
          <p:nvPr/>
        </p:nvSpPr>
        <p:spPr>
          <a:xfrm>
            <a:off x="813816" y="1344168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7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time_travel.sql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04088" y="1691640"/>
            <a:ext cx="4279392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every write = a new version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DESCRIBE HISTORY sales_raw;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read the past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sales_raw VERSION AS OF 0;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sales_raw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TIMESTAMP AS OF '2026-06-01';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the undo button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RESTORE TABLE sales_raw TO VERSION AS OF 0;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440680" y="157276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0136" y="1472184"/>
            <a:ext cx="298094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84"/>
              </a:lnSpc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Versioned writes  </a:t>
            </a:r>
            <a:pPr indent="0" marL="0">
              <a:lnSpc>
                <a:spcPts val="1584"/>
              </a:lnSpc>
              <a:buNone/>
            </a:pPr>
            <a:r>
              <a:rPr lang="en-US" sz="12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audit trail per table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40680" y="2359152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5" name="Text 12"/>
          <p:cNvSpPr/>
          <p:nvPr/>
        </p:nvSpPr>
        <p:spPr>
          <a:xfrm>
            <a:off x="5660136" y="2258568"/>
            <a:ext cx="298094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84"/>
              </a:lnSpc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enforcement  </a:t>
            </a:r>
            <a:pPr indent="0" marL="0">
              <a:lnSpc>
                <a:spcPts val="1584"/>
              </a:lnSpc>
              <a:buNone/>
            </a:pPr>
            <a:r>
              <a:rPr lang="en-US" sz="12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mismatched writes are rejected by default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40680" y="3145536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0136" y="3044952"/>
            <a:ext cx="298094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84"/>
              </a:lnSpc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Evolution is opt-in  </a:t>
            </a:r>
            <a:pPr indent="0" marL="0">
              <a:lnSpc>
                <a:spcPts val="1584"/>
              </a:lnSpc>
              <a:buNone/>
            </a:pPr>
            <a:r>
              <a:rPr lang="en-US" sz="12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mergeSchema and friends — Week 2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40680" y="3931920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9" name="Text 16"/>
          <p:cNvSpPr/>
          <p:nvPr/>
        </p:nvSpPr>
        <p:spPr>
          <a:xfrm>
            <a:off x="5660136" y="3831336"/>
            <a:ext cx="298094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84"/>
              </a:lnSpc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VACUUM limits travel  </a:t>
            </a:r>
            <a:pPr indent="0" marL="0">
              <a:lnSpc>
                <a:spcPts val="1584"/>
              </a:lnSpc>
              <a:buNone/>
            </a:pPr>
            <a:r>
              <a:rPr lang="en-US" sz="12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removed files = unreachable versions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DOMAINS 1 &amp; 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Unity Catalog: one tree, three-level names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  ·  JUNE 2026  ·  9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48132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8" name="Text 5"/>
          <p:cNvSpPr/>
          <p:nvPr/>
        </p:nvSpPr>
        <p:spPr>
          <a:xfrm>
            <a:off x="722376" y="1380744"/>
            <a:ext cx="37124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16"/>
              </a:lnSpc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catalog.schema.object  </a:t>
            </a:r>
            <a:pPr indent="0" marL="0">
              <a:lnSpc>
                <a:spcPts val="1716"/>
              </a:lnSpc>
              <a:buNone/>
            </a:pPr>
            <a:r>
              <a:rPr lang="en-US" sz="13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three-level namespace — say it on every query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2231136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0" name="Text 7"/>
          <p:cNvSpPr/>
          <p:nvPr/>
        </p:nvSpPr>
        <p:spPr>
          <a:xfrm>
            <a:off x="722376" y="2130552"/>
            <a:ext cx="37124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16"/>
              </a:lnSpc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metastore  </a:t>
            </a:r>
            <a:pPr indent="0" marL="0">
              <a:lnSpc>
                <a:spcPts val="1716"/>
              </a:lnSpc>
              <a:buNone/>
            </a:pPr>
            <a:r>
              <a:rPr lang="en-US" sz="13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account-level governance; workspaces share it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2980944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2" name="Text 9"/>
          <p:cNvSpPr/>
          <p:nvPr/>
        </p:nvSpPr>
        <p:spPr>
          <a:xfrm>
            <a:off x="722376" y="2880360"/>
            <a:ext cx="37124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16"/>
              </a:lnSpc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Securables  </a:t>
            </a:r>
            <a:pPr indent="0" marL="0">
              <a:lnSpc>
                <a:spcPts val="1716"/>
              </a:lnSpc>
              <a:buNone/>
            </a:pPr>
            <a:r>
              <a:rPr lang="en-US" sz="13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tables, views, volumes, functions, models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02920" y="3730752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4" name="Text 11"/>
          <p:cNvSpPr/>
          <p:nvPr/>
        </p:nvSpPr>
        <p:spPr>
          <a:xfrm>
            <a:off x="722376" y="3630168"/>
            <a:ext cx="37124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16"/>
              </a:lnSpc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UC adds  </a:t>
            </a:r>
            <a:pPr indent="0" marL="0">
              <a:lnSpc>
                <a:spcPts val="1716"/>
              </a:lnSpc>
              <a:buNone/>
            </a:pPr>
            <a:r>
              <a:rPr lang="en-US" sz="13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GRANTs, auditing, lineage, discovery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754880" y="1280160"/>
            <a:ext cx="3886200" cy="3383280"/>
          </a:xfrm>
          <a:prstGeom prst="rect">
            <a:avLst/>
          </a:prstGeom>
          <a:solidFill>
            <a:srgbClr val="ECF0F1"/>
          </a:solidFill>
          <a:ln/>
        </p:spPr>
      </p:sp>
      <p:sp>
        <p:nvSpPr>
          <p:cNvPr id="16" name="Text 13"/>
          <p:cNvSpPr/>
          <p:nvPr/>
        </p:nvSpPr>
        <p:spPr>
          <a:xfrm>
            <a:off x="4956048" y="1408176"/>
            <a:ext cx="3483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HIERARCHY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897880" y="1645920"/>
            <a:ext cx="1645920" cy="38404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8" name="Text 15"/>
          <p:cNvSpPr/>
          <p:nvPr/>
        </p:nvSpPr>
        <p:spPr>
          <a:xfrm>
            <a:off x="5897880" y="1645920"/>
            <a:ext cx="164592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METASTORE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720840" y="2029968"/>
            <a:ext cx="0" cy="219456"/>
          </a:xfrm>
          <a:prstGeom prst="line">
            <a:avLst/>
          </a:prstGeom>
          <a:noFill/>
          <a:ln w="15875">
            <a:solidFill>
              <a:srgbClr val="7F8C8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074920" y="2249424"/>
            <a:ext cx="1463040" cy="36576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21" name="Text 18"/>
          <p:cNvSpPr/>
          <p:nvPr/>
        </p:nvSpPr>
        <p:spPr>
          <a:xfrm>
            <a:off x="5074920" y="2249424"/>
            <a:ext cx="146304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903720" y="2249424"/>
            <a:ext cx="1463040" cy="36576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23" name="Text 20"/>
          <p:cNvSpPr/>
          <p:nvPr/>
        </p:nvSpPr>
        <p:spPr>
          <a:xfrm>
            <a:off x="6903720" y="2249424"/>
            <a:ext cx="146304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samples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806440" y="2139696"/>
            <a:ext cx="1828800" cy="0"/>
          </a:xfrm>
          <a:prstGeom prst="line">
            <a:avLst/>
          </a:prstGeom>
          <a:noFill/>
          <a:ln w="15875">
            <a:solidFill>
              <a:srgbClr val="7F8C8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806440" y="2139696"/>
            <a:ext cx="0" cy="109728"/>
          </a:xfrm>
          <a:prstGeom prst="line">
            <a:avLst/>
          </a:prstGeom>
          <a:noFill/>
          <a:ln w="15875">
            <a:solidFill>
              <a:srgbClr val="7F8C8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635240" y="2139696"/>
            <a:ext cx="0" cy="109728"/>
          </a:xfrm>
          <a:prstGeom prst="line">
            <a:avLst/>
          </a:prstGeom>
          <a:noFill/>
          <a:ln w="15875">
            <a:solidFill>
              <a:srgbClr val="7F8C8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806440" y="2615184"/>
            <a:ext cx="0" cy="219456"/>
          </a:xfrm>
          <a:prstGeom prst="line">
            <a:avLst/>
          </a:prstGeom>
          <a:noFill/>
          <a:ln w="15875">
            <a:solidFill>
              <a:srgbClr val="7F8C8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074920" y="2834640"/>
            <a:ext cx="1463040" cy="365760"/>
          </a:xfrm>
          <a:prstGeom prst="rect">
            <a:avLst/>
          </a:prstGeom>
          <a:solidFill>
            <a:srgbClr val="3D5166"/>
          </a:solidFill>
          <a:ln/>
        </p:spPr>
      </p:sp>
      <p:sp>
        <p:nvSpPr>
          <p:cNvPr id="29" name="Text 26"/>
          <p:cNvSpPr/>
          <p:nvPr/>
        </p:nvSpPr>
        <p:spPr>
          <a:xfrm>
            <a:off x="5074920" y="2834640"/>
            <a:ext cx="146304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lab1_you  (schema)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806440" y="3200400"/>
            <a:ext cx="0" cy="219456"/>
          </a:xfrm>
          <a:prstGeom prst="line">
            <a:avLst/>
          </a:prstGeom>
          <a:noFill/>
          <a:ln w="15875">
            <a:solidFill>
              <a:srgbClr val="7F8C8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846320" y="3419856"/>
            <a:ext cx="1225296" cy="640080"/>
          </a:xfrm>
          <a:prstGeom prst="rect">
            <a:avLst/>
          </a:prstGeom>
          <a:solidFill>
            <a:srgbClr val="566B80"/>
          </a:solidFill>
          <a:ln/>
        </p:spPr>
      </p:sp>
      <p:sp>
        <p:nvSpPr>
          <p:cNvPr id="32" name="Text 29"/>
          <p:cNvSpPr/>
          <p:nvPr/>
        </p:nvSpPr>
        <p:spPr>
          <a:xfrm>
            <a:off x="4846320" y="3419856"/>
            <a:ext cx="1225296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TABLES</a:t>
            </a:r>
            <a:endParaRPr lang="en-US" sz="900" dirty="0"/>
          </a:p>
          <a:p>
            <a:pPr algn="ctr" indent="0" marL="0">
              <a:lnSpc>
                <a:spcPts val="10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VIEWS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6163056" y="3419856"/>
            <a:ext cx="1225296" cy="640080"/>
          </a:xfrm>
          <a:prstGeom prst="rect">
            <a:avLst/>
          </a:prstGeom>
          <a:solidFill>
            <a:srgbClr val="566B80"/>
          </a:solidFill>
          <a:ln/>
        </p:spPr>
      </p:sp>
      <p:sp>
        <p:nvSpPr>
          <p:cNvPr id="34" name="Text 31"/>
          <p:cNvSpPr/>
          <p:nvPr/>
        </p:nvSpPr>
        <p:spPr>
          <a:xfrm>
            <a:off x="6163056" y="3419856"/>
            <a:ext cx="1225296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VOLUMES</a:t>
            </a:r>
            <a:endParaRPr lang="en-US" sz="900" dirty="0"/>
          </a:p>
          <a:p>
            <a:pPr algn="ctr" indent="0" marL="0">
              <a:lnSpc>
                <a:spcPts val="10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(files)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7479792" y="3419856"/>
            <a:ext cx="1097280" cy="640080"/>
          </a:xfrm>
          <a:prstGeom prst="rect">
            <a:avLst/>
          </a:prstGeom>
          <a:solidFill>
            <a:srgbClr val="566B80"/>
          </a:solidFill>
          <a:ln/>
        </p:spPr>
      </p:sp>
      <p:sp>
        <p:nvSpPr>
          <p:cNvPr id="36" name="Text 33"/>
          <p:cNvSpPr/>
          <p:nvPr/>
        </p:nvSpPr>
        <p:spPr>
          <a:xfrm>
            <a:off x="7479792" y="3419856"/>
            <a:ext cx="109728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FUNCTIONS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7 · GUARANTEED TOPIC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vs. external tables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  ·  JUNE 2026  ·  10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298448"/>
            <a:ext cx="3977640" cy="2743200"/>
          </a:xfrm>
          <a:prstGeom prst="rect">
            <a:avLst/>
          </a:prstGeom>
          <a:solidFill>
            <a:srgbClr val="ECF0F1"/>
          </a:solidFill>
          <a:ln/>
        </p:spPr>
      </p:sp>
      <p:sp>
        <p:nvSpPr>
          <p:cNvPr id="8" name="Text 5"/>
          <p:cNvSpPr/>
          <p:nvPr/>
        </p:nvSpPr>
        <p:spPr>
          <a:xfrm>
            <a:off x="704088" y="1426464"/>
            <a:ext cx="3575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(DEFAULT + RECOMMENDED)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31520" y="184708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0" name="Text 7"/>
          <p:cNvSpPr/>
          <p:nvPr/>
        </p:nvSpPr>
        <p:spPr>
          <a:xfrm>
            <a:off x="950976" y="1746504"/>
            <a:ext cx="3346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 controls metadata AND data files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31520" y="2414016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2" name="Text 9"/>
          <p:cNvSpPr/>
          <p:nvPr/>
        </p:nvSpPr>
        <p:spPr>
          <a:xfrm>
            <a:off x="950976" y="2313432"/>
            <a:ext cx="3346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TABLE deletes the data (UNDROP window)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731520" y="2980944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4" name="Text 11"/>
          <p:cNvSpPr/>
          <p:nvPr/>
        </p:nvSpPr>
        <p:spPr>
          <a:xfrm>
            <a:off x="950976" y="2880360"/>
            <a:ext cx="3346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Unlocks predictive optimization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663440" y="1298448"/>
            <a:ext cx="3977640" cy="2743200"/>
          </a:xfrm>
          <a:prstGeom prst="rect">
            <a:avLst/>
          </a:prstGeom>
          <a:solidFill>
            <a:srgbClr val="ECF0F1"/>
          </a:solidFill>
          <a:ln/>
        </p:spPr>
      </p:sp>
      <p:sp>
        <p:nvSpPr>
          <p:cNvPr id="16" name="Text 13"/>
          <p:cNvSpPr/>
          <p:nvPr/>
        </p:nvSpPr>
        <p:spPr>
          <a:xfrm>
            <a:off x="4864608" y="1426464"/>
            <a:ext cx="3575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892040" y="184708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8" name="Text 15"/>
          <p:cNvSpPr/>
          <p:nvPr/>
        </p:nvSpPr>
        <p:spPr>
          <a:xfrm>
            <a:off x="5111496" y="1746504"/>
            <a:ext cx="3346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 controls metadata ONLY — your storage path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892040" y="2414016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0" name="Text 17"/>
          <p:cNvSpPr/>
          <p:nvPr/>
        </p:nvSpPr>
        <p:spPr>
          <a:xfrm>
            <a:off x="5111496" y="2313432"/>
            <a:ext cx="3346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TABLE removes metadata; files remain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892040" y="2980944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2" name="Text 19"/>
          <p:cNvSpPr/>
          <p:nvPr/>
        </p:nvSpPr>
        <p:spPr>
          <a:xfrm>
            <a:off x="5111496" y="2880360"/>
            <a:ext cx="3346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shared estates &amp; hard location requirements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02920" y="4224528"/>
            <a:ext cx="8138160" cy="566928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24" name="Shape 21"/>
          <p:cNvSpPr/>
          <p:nvPr/>
        </p:nvSpPr>
        <p:spPr>
          <a:xfrm>
            <a:off x="502920" y="4224528"/>
            <a:ext cx="54864" cy="56692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5" name="Text 22"/>
          <p:cNvSpPr/>
          <p:nvPr/>
        </p:nvSpPr>
        <p:spPr>
          <a:xfrm>
            <a:off x="704088" y="427939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REFLEX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EXTENDED → find Type: MANAGED or EXTERNAL, then predict what DROP does. Two questions live here.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DOMAINS 2 &amp; 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Volumes: governed storage for files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  ·  JUNE 2026  ·  11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48132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8" name="Text 5"/>
          <p:cNvSpPr/>
          <p:nvPr/>
        </p:nvSpPr>
        <p:spPr>
          <a:xfrm>
            <a:off x="722376" y="1380744"/>
            <a:ext cx="38496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16"/>
              </a:lnSpc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Non-tabular data  </a:t>
            </a:r>
            <a:pPr indent="0" marL="0">
              <a:lnSpc>
                <a:spcPts val="1716"/>
              </a:lnSpc>
              <a:buNone/>
            </a:pPr>
            <a:r>
              <a:rPr lang="en-US" sz="13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 CSVs/JSON, images, libraries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2231136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0" name="Text 7"/>
          <p:cNvSpPr/>
          <p:nvPr/>
        </p:nvSpPr>
        <p:spPr>
          <a:xfrm>
            <a:off x="722376" y="2130552"/>
            <a:ext cx="38496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16"/>
              </a:lnSpc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governance  </a:t>
            </a:r>
            <a:pPr indent="0" marL="0">
              <a:lnSpc>
                <a:spcPts val="1716"/>
              </a:lnSpc>
              <a:buNone/>
            </a:pPr>
            <a:r>
              <a:rPr lang="en-US" sz="13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securable in the schema, like a table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2980944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2" name="Text 9"/>
          <p:cNvSpPr/>
          <p:nvPr/>
        </p:nvSpPr>
        <p:spPr>
          <a:xfrm>
            <a:off x="722376" y="2880360"/>
            <a:ext cx="38496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16"/>
              </a:lnSpc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queryable directly  </a:t>
            </a:r>
            <a:pPr indent="0" marL="0">
              <a:lnSpc>
                <a:spcPts val="1716"/>
              </a:lnSpc>
              <a:buNone/>
            </a:pPr>
            <a:r>
              <a:rPr lang="en-US" sz="13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files IN it via read_files()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892040" y="1325880"/>
            <a:ext cx="3749040" cy="2377440"/>
          </a:xfrm>
          <a:prstGeom prst="rect">
            <a:avLst/>
          </a:prstGeom>
          <a:solidFill>
            <a:srgbClr val="263545"/>
          </a:solidFill>
          <a:ln/>
        </p:spPr>
      </p:sp>
      <p:sp>
        <p:nvSpPr>
          <p:cNvPr id="14" name="Shape 11"/>
          <p:cNvSpPr/>
          <p:nvPr/>
        </p:nvSpPr>
        <p:spPr>
          <a:xfrm>
            <a:off x="4892040" y="1325880"/>
            <a:ext cx="3749040" cy="2743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5" name="Shape 12"/>
          <p:cNvSpPr/>
          <p:nvPr/>
        </p:nvSpPr>
        <p:spPr>
          <a:xfrm>
            <a:off x="5020056" y="1417320"/>
            <a:ext cx="91440" cy="91440"/>
          </a:xfrm>
          <a:prstGeom prst="ellipse">
            <a:avLst/>
          </a:prstGeom>
          <a:solidFill>
            <a:srgbClr val="E31E24"/>
          </a:solidFill>
          <a:ln/>
        </p:spPr>
      </p:sp>
      <p:sp>
        <p:nvSpPr>
          <p:cNvPr id="16" name="Text 13"/>
          <p:cNvSpPr/>
          <p:nvPr/>
        </p:nvSpPr>
        <p:spPr>
          <a:xfrm>
            <a:off x="5202936" y="134416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7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volumes.sql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093208" y="1691640"/>
            <a:ext cx="3364992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the path shape (memorize)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/Volumes/&lt;catalog&gt;/&lt;schema&gt;/&lt;volume&gt;/...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read_files(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'/Volumes/workspace/lab1_you/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landing/sales.csv',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format =&gt; 'csv', header =&gt; true);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892040" y="3886200"/>
            <a:ext cx="3749040" cy="777240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19" name="Shape 16"/>
          <p:cNvSpPr/>
          <p:nvPr/>
        </p:nvSpPr>
        <p:spPr>
          <a:xfrm>
            <a:off x="4892040" y="3886200"/>
            <a:ext cx="54864" cy="7772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0" name="Text 17"/>
          <p:cNvSpPr/>
          <p:nvPr/>
        </p:nvSpPr>
        <p:spPr>
          <a:xfrm>
            <a:off x="5093208" y="3941064"/>
            <a:ext cx="33832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TRAP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* FROM my_volume fails — a volume is not a table. Load it or read_files it.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3 · MOST-TESTED SYNTAX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TABLE, CTAS, OR REPLACE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  ·  JUNE 2026  ·  12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4983480" cy="3337560"/>
          </a:xfrm>
          <a:prstGeom prst="rect">
            <a:avLst/>
          </a:prstGeom>
          <a:solidFill>
            <a:srgbClr val="263545"/>
          </a:solidFill>
          <a:ln/>
        </p:spPr>
      </p:sp>
      <p:sp>
        <p:nvSpPr>
          <p:cNvPr id="8" name="Shape 5"/>
          <p:cNvSpPr/>
          <p:nvPr/>
        </p:nvSpPr>
        <p:spPr>
          <a:xfrm>
            <a:off x="502920" y="1325880"/>
            <a:ext cx="4983480" cy="2743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9" name="Shape 6"/>
          <p:cNvSpPr/>
          <p:nvPr/>
        </p:nvSpPr>
        <p:spPr>
          <a:xfrm>
            <a:off x="630936" y="1417320"/>
            <a:ext cx="91440" cy="91440"/>
          </a:xfrm>
          <a:prstGeom prst="ellipse">
            <a:avLst/>
          </a:prstGeom>
          <a:solidFill>
            <a:srgbClr val="E31E24"/>
          </a:solidFill>
          <a:ln/>
        </p:spPr>
      </p:sp>
      <p:sp>
        <p:nvSpPr>
          <p:cNvPr id="10" name="Text 7"/>
          <p:cNvSpPr/>
          <p:nvPr/>
        </p:nvSpPr>
        <p:spPr>
          <a:xfrm>
            <a:off x="813816" y="134416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7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ddl_patterns.sql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04088" y="1691640"/>
            <a:ext cx="4599432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explicit schema, empty table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OR REPLACE TABLE t (id INT, amt DOUBLE);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CTAS: create AND populate, schema inferred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t2 AS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CAST(order_date AS DATE) AS order_date,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fare_amount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  samples.nyctaxi.trips;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no-op if t3 already exists (not a refresh!)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IF NOT EXISTS t3 (id INT);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760720" y="157276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3" name="Text 10"/>
          <p:cNvSpPr/>
          <p:nvPr/>
        </p:nvSpPr>
        <p:spPr>
          <a:xfrm>
            <a:off x="5980176" y="1472184"/>
            <a:ext cx="26609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84"/>
              </a:lnSpc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CTAS rule  </a:t>
            </a:r>
            <a:pPr indent="0" marL="0">
              <a:lnSpc>
                <a:spcPts val="1584"/>
              </a:lnSpc>
              <a:buNone/>
            </a:pPr>
            <a:r>
              <a:rPr lang="en-US" sz="12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declare (col TYPE) — eliminate any option that does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760720" y="248716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5" name="Text 12"/>
          <p:cNvSpPr/>
          <p:nvPr/>
        </p:nvSpPr>
        <p:spPr>
          <a:xfrm>
            <a:off x="5980176" y="2386584"/>
            <a:ext cx="26609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84"/>
              </a:lnSpc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REPLACE  </a:t>
            </a:r>
            <a:pPr indent="0" marL="0">
              <a:lnSpc>
                <a:spcPts val="1584"/>
              </a:lnSpc>
              <a:buNone/>
            </a:pPr>
            <a:r>
              <a:rPr lang="en-US" sz="12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atomic, idempotent, history preserved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760720" y="340156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7" name="Text 14"/>
          <p:cNvSpPr/>
          <p:nvPr/>
        </p:nvSpPr>
        <p:spPr>
          <a:xfrm>
            <a:off x="5980176" y="3300984"/>
            <a:ext cx="26609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84"/>
              </a:lnSpc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by default  </a:t>
            </a:r>
            <a:pPr indent="0" marL="0">
              <a:lnSpc>
                <a:spcPts val="1584"/>
              </a:lnSpc>
              <a:buNone/>
            </a:pPr>
            <a:r>
              <a:rPr lang="en-US" sz="12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USING clause needed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3 · GOLD OBJECTS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View, temp view, materialized view, streaming table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  ·  JUNE 2026  ·  13</a:t>
            </a:r>
            <a:endParaRPr lang="en-US" sz="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813816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508760"/>
                <a:gridCol w="1600200"/>
                <a:gridCol w="1508760"/>
                <a:gridCol w="21031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Stores data?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Freshness at read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Visibility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Choose when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View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— stored query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Always current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Governed in UC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Reusable logic, cheap reads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Temp view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Always current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Your session only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Scratch work, dies with session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Materialized view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— precomputed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 of last refresh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Governed in UC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Expensive query, frequent reads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Streaming table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— incremental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Continuously appended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Governed in UC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Append-only ingestion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02920" y="4069080"/>
            <a:ext cx="8138160" cy="566928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9" name="Shape 5"/>
          <p:cNvSpPr/>
          <p:nvPr/>
        </p:nvSpPr>
        <p:spPr>
          <a:xfrm>
            <a:off x="502920" y="4069080"/>
            <a:ext cx="54864" cy="56692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0" name="Text 6"/>
          <p:cNvSpPr/>
          <p:nvPr/>
        </p:nvSpPr>
        <p:spPr>
          <a:xfrm>
            <a:off x="704088" y="412394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CLASSIC QUESTION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 colleague can't see your view” → it was a TEMP view. Session-scoped, invisible to others.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3 · NAMED OBJECTIVE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Medallion architecture: bronze → silver → gold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  ·  JUNE 2026  ·  14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640080" y="1828800"/>
            <a:ext cx="1298448" cy="868680"/>
          </a:xfrm>
          <a:prstGeom prst="rect">
            <a:avLst/>
          </a:prstGeom>
          <a:solidFill>
            <a:srgbClr val="6E8092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828800"/>
            <a:ext cx="1298448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" y="2752344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files · APIs · DBs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920240" y="2089404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304288" y="1828800"/>
            <a:ext cx="1298448" cy="868680"/>
          </a:xfrm>
          <a:prstGeom prst="rect">
            <a:avLst/>
          </a:prstGeom>
          <a:solidFill>
            <a:srgbClr val="9C6B30"/>
          </a:solidFill>
          <a:ln/>
        </p:spPr>
      </p:sp>
      <p:sp>
        <p:nvSpPr>
          <p:cNvPr id="12" name="Text 9"/>
          <p:cNvSpPr/>
          <p:nvPr/>
        </p:nvSpPr>
        <p:spPr>
          <a:xfrm>
            <a:off x="2304288" y="1828800"/>
            <a:ext cx="1298448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2167128" y="2752344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raw, as-ingested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preserves fidelity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3584448" y="2089404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3968496" y="1828800"/>
            <a:ext cx="1298448" cy="868680"/>
          </a:xfrm>
          <a:prstGeom prst="rect">
            <a:avLst/>
          </a:prstGeom>
          <a:solidFill>
            <a:srgbClr val="8E9BA6"/>
          </a:solidFill>
          <a:ln/>
        </p:spPr>
      </p:sp>
      <p:sp>
        <p:nvSpPr>
          <p:cNvPr id="16" name="Text 13"/>
          <p:cNvSpPr/>
          <p:nvPr/>
        </p:nvSpPr>
        <p:spPr>
          <a:xfrm>
            <a:off x="3968496" y="1828800"/>
            <a:ext cx="1298448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SILVER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831336" y="2752344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cleaned, deduped,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typed, validated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248656" y="2089404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632704" y="1828800"/>
            <a:ext cx="1298448" cy="86868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0" name="Text 17"/>
          <p:cNvSpPr/>
          <p:nvPr/>
        </p:nvSpPr>
        <p:spPr>
          <a:xfrm>
            <a:off x="5632704" y="1828800"/>
            <a:ext cx="1298448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495544" y="2752344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aggregated,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business-shaped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6912864" y="2089404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7296912" y="1828800"/>
            <a:ext cx="1298448" cy="86868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24" name="Text 21"/>
          <p:cNvSpPr/>
          <p:nvPr/>
        </p:nvSpPr>
        <p:spPr>
          <a:xfrm>
            <a:off x="7296912" y="1828800"/>
            <a:ext cx="1298448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 · ML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7159752" y="2752344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consumers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502920" y="3611880"/>
            <a:ext cx="8138160" cy="868680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27" name="Shape 24"/>
          <p:cNvSpPr/>
          <p:nvPr/>
        </p:nvSpPr>
        <p:spPr>
          <a:xfrm>
            <a:off x="502920" y="3611880"/>
            <a:ext cx="54864" cy="86868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8" name="Text 25"/>
          <p:cNvSpPr/>
          <p:nvPr/>
        </p:nvSpPr>
        <p:spPr>
          <a:xfrm>
            <a:off x="704088" y="3666744"/>
            <a:ext cx="7772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MISCONCEPTION TO KILL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“Bronze should be cleaned a little so it's usable.” No — cleansing belongs in silver. Bronze stays raw so you can always replay. The exam asks for each layer's PURPOSE.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READINESS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Week 1 gets tested — and what's next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  ·  JUNE 2026  ·  15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43560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8" name="Text 5"/>
          <p:cNvSpPr/>
          <p:nvPr/>
        </p:nvSpPr>
        <p:spPr>
          <a:xfrm>
            <a:off x="722376" y="1335024"/>
            <a:ext cx="4626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Recall: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format · hierarchy order · DROP semantics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02920" y="2093976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0" name="Text 7"/>
          <p:cNvSpPr/>
          <p:nvPr/>
        </p:nvSpPr>
        <p:spPr>
          <a:xfrm>
            <a:off x="722376" y="1993392"/>
            <a:ext cx="4626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Syntax: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CREATE/CTAS/OR REPLACE · VERSION AS OF · three-level names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02920" y="2752344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2" name="Text 9"/>
          <p:cNvSpPr/>
          <p:nvPr/>
        </p:nvSpPr>
        <p:spPr>
          <a:xfrm>
            <a:off x="722376" y="2651760"/>
            <a:ext cx="4626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Scenarios: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compute · which gold object · what happens to files when…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02920" y="3410712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4" name="Text 11"/>
          <p:cNvSpPr/>
          <p:nvPr/>
        </p:nvSpPr>
        <p:spPr>
          <a:xfrm>
            <a:off x="722376" y="3310128"/>
            <a:ext cx="4626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Elimination: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distractors are real features applied to the wrong situation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23560" y="1280160"/>
            <a:ext cx="3017520" cy="3017520"/>
          </a:xfrm>
          <a:prstGeom prst="rect">
            <a:avLst/>
          </a:prstGeom>
          <a:solidFill>
            <a:srgbClr val="ECF0F1"/>
          </a:solidFill>
          <a:ln/>
        </p:spPr>
      </p:sp>
      <p:sp>
        <p:nvSpPr>
          <p:cNvPr id="16" name="Text 13"/>
          <p:cNvSpPr/>
          <p:nvPr/>
        </p:nvSpPr>
        <p:spPr>
          <a:xfrm>
            <a:off x="5824728" y="1408176"/>
            <a:ext cx="2615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HOMEWORK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852160" y="175564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8" name="Text 15"/>
          <p:cNvSpPr/>
          <p:nvPr/>
        </p:nvSpPr>
        <p:spPr>
          <a:xfrm>
            <a:off x="6071616" y="1655064"/>
            <a:ext cx="2386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6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Docs: lakehouse, Delta, UC object model, medallion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852160" y="2468880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0" name="Text 17"/>
          <p:cNvSpPr/>
          <p:nvPr/>
        </p:nvSpPr>
        <p:spPr>
          <a:xfrm>
            <a:off x="6071616" y="2368296"/>
            <a:ext cx="2386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6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Rebuild the demo from a blank notebook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852160" y="3182112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2" name="Text 19"/>
          <p:cNvSpPr/>
          <p:nvPr/>
        </p:nvSpPr>
        <p:spPr>
          <a:xfrm>
            <a:off x="6071616" y="3081528"/>
            <a:ext cx="2386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6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your schema — Week 2 needs it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02920" y="4160520"/>
            <a:ext cx="4846320" cy="566928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24" name="Shape 21"/>
          <p:cNvSpPr/>
          <p:nvPr/>
        </p:nvSpPr>
        <p:spPr>
          <a:xfrm>
            <a:off x="502920" y="4160520"/>
            <a:ext cx="54864" cy="56692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5" name="Text 22"/>
          <p:cNvSpPr/>
          <p:nvPr/>
        </p:nvSpPr>
        <p:spPr>
          <a:xfrm>
            <a:off x="704088" y="421538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ANCHORS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copy in Delta · one governance tree · bronze stays raw.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C3E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0" y="0"/>
            <a:ext cx="2377440" cy="2377440"/>
          </a:xfrm>
          <a:prstGeom prst="ellipse">
            <a:avLst/>
          </a:prstGeom>
          <a:ln w="12700">
            <a:solidFill>
              <a:srgbClr val="4663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3108960"/>
            <a:ext cx="1554480" cy="1554480"/>
          </a:xfrm>
          <a:prstGeom prst="ellipse">
            <a:avLst/>
          </a:prstGeom>
          <a:ln w="12700">
            <a:solidFill>
              <a:srgbClr val="466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 COMPLETE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9601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now speak Databricks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9384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8288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CE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Lakehouse stack: storage → Delta → Unity Catalog → compute → workloads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2496312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239572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CE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Tables, views, volumes — created, inspected, time-traveled, restored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3063240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1" name="Text 9"/>
          <p:cNvSpPr/>
          <p:nvPr/>
        </p:nvSpPr>
        <p:spPr>
          <a:xfrm>
            <a:off x="740664" y="296265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CE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vs. external: you know what DROP does to each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363016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3" name="Text 11"/>
          <p:cNvSpPr/>
          <p:nvPr/>
        </p:nvSpPr>
        <p:spPr>
          <a:xfrm>
            <a:off x="740664" y="352958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CE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Medallion: bronze absorbs, silver enforces, gold serves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35040" y="1828800"/>
            <a:ext cx="2606040" cy="228600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20574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63640" y="237744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Ingestion &amp; ELT —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INTO,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 Loader,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bronze→silver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  ·  JUNE 2026  ·  16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Creo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 — Lakehouse Foundations</dc:title>
  <dc:subject>PptxGenJS Presentation</dc:subject>
  <dc:creator>Creo Academy</dc:creator>
  <cp:lastModifiedBy>Creo Academy</cp:lastModifiedBy>
  <cp:revision>1</cp:revision>
  <dcterms:created xsi:type="dcterms:W3CDTF">2026-06-12T14:46:30Z</dcterms:created>
  <dcterms:modified xsi:type="dcterms:W3CDTF">2026-06-12T14:46:30Z</dcterms:modified>
</cp:coreProperties>
</file>