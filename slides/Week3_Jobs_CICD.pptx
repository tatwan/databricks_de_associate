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Run the Week 3 STARTER quiz first (Markdown Mash, 5 Qs on Week 2: UNION ALL, Auto Loader fit, managed connector, MERGE trap, explode). Then the hook: 'Who wants to run those COPY INTO cells by hand every morning at 6am?' What manual execution can't give: schedules, retries, dependency order, alerting, environments — that list IS the agenda. CI/CD is new in the May 2026 exam — older prep material has a blind spot exactly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Weeks 1–2 built a pipeline; today it runs itself, survives failures, and ships across environments. The CI/CD domain did not exist in older exams — this session is where the course earns its keep for anyone studying from stale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hierarchy live. The DAG is DECLARED, not coded: you state dependencies; the scheduler works out order and parallelism — independent branches run CONCURRENTLY. ADF mapping is clean here: job ≈ pipeline, task ≈ activity, trigger ≈ trigger.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Drill the exam's four by use case. The dashboard task surprises ADF folks — refreshing BI is a first-class DAG node, no webhook hacks. Choosing the RIGHT task type is itself an exam question: a pure SQL refresh should be a SQL task, not a notebook.</a:t>
            </a:r>
          </a:p>
          <a:p/>
          <a:p>
            <a:r>
              <a:t>NEW: also name the %run distinction here — %run inlines another notebook into the SAME session (shared functions/variables); a job task runs it as an ISOLATED run with retries/monitoring. 'Reuse helpers' → %run; 'orchestrate with retries/schedule' → job tasks. The companion notebook has the comparison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each to the failure or variation it solves. Verbatim outline: 'retries and conditional tasks such as branching and looping.' ADF activity policies and ForEach port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 rule: known cadence + SLA → schedule. 'Whenever data shows up' → file arrival / table update. The polling trap: a 1-minute cron is NOT event-driven — it burns compute on empty runs and still adds latency. Free Edition: verify trigger menu in rehearsal.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the same notebook serves dev and prod — parameterize the schema, never hardcode. Job parameter target_schema → widget of the same name. Task values pass SMALL results between tasks; big data goes through tables.</a:t>
            </a:r>
          </a:p>
          <a:p/>
          <a:p>
            <a:r>
              <a:t>NEW: the task notebooks now DO this — week3_01 sets taskValues 'bronze_rows'; week3_02 reads it with taskValues.get (note debugValue for interactive runs). Point at Task 2's output during the demo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Domain 6 objectives live here: trends via run history; health via statuses and the DAG view. Diagnostic flow: notification → run history → matrix (which task?) → task page (error) → Spark UI if perf. Repair: fix the cause FIRST, then repair — only failed + downstream rerun.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 Edition forces serverless — for once the constraint IS the exam answer. Heuristic: no cluster-tuning expertise, spiky workloads, fast iteration → serverless. Very steady, tuned, high-volume → classic job clusters can win on cost (Week 4 nuance).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data engineers: the asset being shipped is a PIPELINE — code + orchestration + config. Git folders version the code; bundles version everything else. ADF/Synapse folks: this is their ARM-template story, file-based and CLI-driven.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Procedural slide. THE exam trap: branch/commit/push live in the workspace UI, but the PULL REQUEST is created and merged IN THE PROVIDER (GitHub/GitLab/Azure DevOps) — the workspace links you out. Formerly 'Repos'; the guide uses both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real file from the course repo top to bottom. The associate exam tests STRUCTURE recognition and the promotion story, not advanced authoring. Formerly Databricks Asset Bundles (DABs) — exam says 'Declarative Automation Bundles (formerly DABs)'.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verbs, in order — make the room chant them. deploy PLACES resources; run EXECUTES them — distinct, testable steps. In CI: GitHub Actions runs the same verbs as a service principal on merge-to-main. Free Edition: CLI walkthrough/screenshots; objective is the verbs.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the triage: transient → retries; deterministic-but-fixed → repair; data-availability → data-driven trigger; time-SLA → schedule. For CI/CD locate the verb's stage: checking (validate), placing (deploy), executing (run). Options mixing stages die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loop: Week 1 objects → Week 2 pipeline → Week 3 production unit. Ask each learner: one thing your old stack made harder, one it made easier. Homework includes the optional CLI try-out for the brave.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18104" y="9144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968496" y="365760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3542" y="4114800"/>
            <a:ext cx="502920" cy="50292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43584"/>
            <a:ext cx="1280160" cy="54864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INSTRUCTOR-LED CERTIFICATION SERIES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Certified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Engineer Associate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Working with Lakeflow Jobs (~16%)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Implementing CI/CD (~10%) — NEW exam domain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Troubleshooting &amp; Monitoring — run history, repair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0"/>
            <a:ext cx="3246120" cy="51435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777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99632" y="96012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0" dirty="0"/>
          </a:p>
        </p:txBody>
      </p:sp>
      <p:sp>
        <p:nvSpPr>
          <p:cNvPr id="13" name="Text 11"/>
          <p:cNvSpPr/>
          <p:nvPr/>
        </p:nvSpPr>
        <p:spPr>
          <a:xfrm>
            <a:off x="6263640" y="301752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 &amp; Delivery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63640" y="4251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D9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Jobs · Git folders · Automation Bundles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QUARTER OF THE EXAM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notebooks to production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0292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~16%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0292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JOBS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124200" y="155448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1564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321564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— NEW DOMAIN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36920" y="155448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28360" y="141732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5928360" y="233172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OBJECTIVES (DOMAIN 6)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320040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6" name="Shape 13"/>
          <p:cNvSpPr/>
          <p:nvPr/>
        </p:nvSpPr>
        <p:spPr>
          <a:xfrm>
            <a:off x="502920" y="320040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" y="325526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STORYLINE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BrewMart's pipeline → a scheduled 2-task job → a forced failure → a surgical repair → the same job declared as code and promoted dev → prod.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THE ANCHOR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Lakeflow Jobs: job → tasks → DAG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813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80744"/>
            <a:ext cx="3712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unit of orchestration — trigger, compute, parameters, notifications, run history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3500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249424"/>
            <a:ext cx="3712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boxes — each points at an asset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2186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3118104"/>
            <a:ext cx="3712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depends_on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arrows — independent tasks run in parallel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54880" y="1298448"/>
            <a:ext cx="3886200" cy="324612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4" name="Text 11"/>
          <p:cNvSpPr/>
          <p:nvPr/>
        </p:nvSpPr>
        <p:spPr>
          <a:xfrm>
            <a:off x="4956048" y="1426464"/>
            <a:ext cx="3483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4-TASK DAG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0" y="1828800"/>
            <a:ext cx="1371600" cy="5029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0" y="1828800"/>
            <a:ext cx="1371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0" y="1481328"/>
            <a:ext cx="1371600" cy="5029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0" y="1481328"/>
            <a:ext cx="1371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858000" y="2212848"/>
            <a:ext cx="1371600" cy="502920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0" y="2212848"/>
            <a:ext cx="1371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0" y="3246120"/>
            <a:ext cx="1371600" cy="5029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2" name="Text 19"/>
          <p:cNvSpPr/>
          <p:nvPr/>
        </p:nvSpPr>
        <p:spPr>
          <a:xfrm>
            <a:off x="685800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19088" y="157276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1E24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6419088" y="22860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1E24"/>
                </a:solidFill>
              </a:rPr>
              <a:t>→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452360" y="27249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1E24"/>
                </a:solidFill>
              </a:rPr>
              <a:t>↓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98348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+ audit run IN PARALLEL — no edge between them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VERBATIM LIST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types: what a box can be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4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9547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20700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8580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task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2093976"/>
            <a:ext cx="36073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 logic in Python/SQL — the workhorse.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86300" y="1325880"/>
            <a:ext cx="39547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86300" y="1325880"/>
            <a:ext cx="64008" cy="120700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486918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6918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task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869180" y="2093976"/>
            <a:ext cx="36073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Query, file, or alert on a SQL warehouse — warehouse-bound work.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2920" y="2761488"/>
            <a:ext cx="39547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2920" y="2761488"/>
            <a:ext cx="64008" cy="120700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685800" y="2871216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" y="3182112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task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85800" y="3529584"/>
            <a:ext cx="36073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a dashboard after the load — BI freshness as a DAG node.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686300" y="2761488"/>
            <a:ext cx="39547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686300" y="2761488"/>
            <a:ext cx="64008" cy="120700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4869180" y="2871216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869180" y="3182112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task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869180" y="3529584"/>
            <a:ext cx="36073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Lakeflow Spark Declarative Pipeline inside the bigger DAG.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3931920"/>
            <a:ext cx="8138160" cy="713232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8" name="Shape 25"/>
          <p:cNvSpPr/>
          <p:nvPr/>
        </p:nvSpPr>
        <p:spPr>
          <a:xfrm>
            <a:off x="502920" y="3931920"/>
            <a:ext cx="54864" cy="713232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" y="3986784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RECOGNIZE ON SIGHT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script / wheel · JAR · dbt · run-job (job calls job — the modularization pattern) · if/else · for-each. The exam names the four above; the rest appear as plausible options.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flow: retries, run-if, branch, loop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9547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3258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8580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2093976"/>
            <a:ext cx="3607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Per-task max retries + interval. Fixes TRANSIENT failures — flaky APIs, network blips. Cannot fix a bug.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86300" y="1325880"/>
            <a:ext cx="39547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86300" y="1325880"/>
            <a:ext cx="64008" cy="13258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4869180" y="143560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69180" y="174650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Run-if conditions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869180" y="2093976"/>
            <a:ext cx="3607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when dependencies succeed / fail / all done. The 'always send the status email' pattern.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02920" y="2880360"/>
            <a:ext cx="39547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2920" y="2880360"/>
            <a:ext cx="64008" cy="13258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685800" y="299008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⑂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" y="330098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/ else task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85800" y="3648456"/>
            <a:ext cx="3607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the DAG on a boolean — 'full rebuild on the 1st, incremental otherwise.'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686300" y="2880360"/>
            <a:ext cx="39547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686300" y="2880360"/>
            <a:ext cx="64008" cy="13258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4869180" y="2990088"/>
            <a:ext cx="3589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∀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869180" y="3300984"/>
            <a:ext cx="36073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For-each task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869180" y="3648456"/>
            <a:ext cx="36073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a task over a list with controlled concurrency — 'same logic, 12 regions, 4 at a time.'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4160520"/>
            <a:ext cx="8138160" cy="530352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8" name="Shape 25"/>
          <p:cNvSpPr/>
          <p:nvPr/>
        </p:nvSpPr>
        <p:spPr>
          <a:xfrm>
            <a:off x="502920" y="4160520"/>
            <a:ext cx="54864" cy="530352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" y="4215384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“Retries fix everything.” Transient only — a deterministic bug fails all retries. That's what fix-then-repair is for.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TWO VERBATIM OBJECTIVES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Triggers: time-based vs. data-driven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325880"/>
                <a:gridCol w="237744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Trigger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 when…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Stem keywords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Scheduled (cron)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Time-based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clock says so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“daily at 02:00” · SLA language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arrival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Data-driven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files land in a location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“unpredictable times” · “polling finds nothing”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 update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Data-driven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Monitored Delta table gets commits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“whenever the silver table changes”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Always-on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restarts as it finishes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streaming-style workloads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406908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412394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ANSWER SHAPE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land sporadically 1–5am, hourly poll mostly finds nothing → FILE ARRIVAL: less compute, lower latency, no empty runs.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THE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Parameters: jobs talk to notebooks via widgets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01752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parameters.py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job parameter 'target_schema' arrives as a widget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dbutils.widgets.text('target_schema', 'lab1_dev')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 = dbutils.widgets.get('target_schema')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pass a value to a downstream task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dbutils.jobs.taskValues.set('rows', 23)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downstream task reads it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dbutils.jobs.taskValues.get(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taskKey='ingest', key='rows')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parameters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config, set on the job, pushed to all tasks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2951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194560"/>
            <a:ext cx="26609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Widgets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notebook tasks receive them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06324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2962656"/>
            <a:ext cx="26609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values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data BETWEEN tasks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83133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5980176" y="3730752"/>
            <a:ext cx="26609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{{job.parameters.x}} · {{tasks.t.values.y}}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DOMAINS 4 &amp; 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history, the matrix, and repair run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8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356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35024"/>
            <a:ext cx="4261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history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status, duration, trigger per run — TREND evidence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2920" y="21671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066544"/>
            <a:ext cx="4261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view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× tasks grid — spot the degrading task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28986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2798064"/>
            <a:ext cx="4261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upstream-failed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didn't fail; its dependency did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2920" y="36301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" y="3529584"/>
            <a:ext cx="4261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run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re-executes failed + downstream ONLY — green tasks are never recomputed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57800" y="1298448"/>
            <a:ext cx="3383280" cy="324612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6" name="Text 13"/>
          <p:cNvSpPr/>
          <p:nvPr/>
        </p:nvSpPr>
        <p:spPr>
          <a:xfrm>
            <a:off x="5458968" y="1426464"/>
            <a:ext cx="2980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IN ONE PICTURE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0" y="1828800"/>
            <a:ext cx="868680" cy="457200"/>
          </a:xfrm>
          <a:prstGeom prst="rect">
            <a:avLst/>
          </a:prstGeom>
          <a:solidFill>
            <a:srgbClr val="3E7D4F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0" y="1828800"/>
            <a:ext cx="8686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✓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492240" y="1828800"/>
            <a:ext cx="868680" cy="457200"/>
          </a:xfrm>
          <a:prstGeom prst="rect">
            <a:avLst/>
          </a:prstGeom>
          <a:solidFill>
            <a:srgbClr val="3E7D4F"/>
          </a:solidFill>
          <a:ln/>
        </p:spPr>
      </p:sp>
      <p:sp>
        <p:nvSpPr>
          <p:cNvPr id="20" name="Text 17"/>
          <p:cNvSpPr/>
          <p:nvPr/>
        </p:nvSpPr>
        <p:spPr>
          <a:xfrm>
            <a:off x="6492240" y="1828800"/>
            <a:ext cx="8686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✓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98080" y="1828800"/>
            <a:ext cx="868680" cy="4572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0" y="1828800"/>
            <a:ext cx="8686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✗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486400" y="2606040"/>
            <a:ext cx="868680" cy="457200"/>
          </a:xfrm>
          <a:prstGeom prst="rect">
            <a:avLst/>
          </a:prstGeom>
          <a:solidFill>
            <a:srgbClr val="9AA5AD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0" y="2606040"/>
            <a:ext cx="8686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–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46520" y="26700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= upstream-failed (skipped)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486400" y="3429000"/>
            <a:ext cx="2834640" cy="5029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0" y="3429000"/>
            <a:ext cx="28346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RUN → re-executes T3 + T4 only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486400" y="4023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hours of T1+T2 compute: preserved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4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jobs: hands-off, auto-optimized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9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5544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stop doing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85800" y="1837944"/>
            <a:ext cx="22128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clusters · picking instance types · tuning autoscaling · babysitting warmup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91840" y="132588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25880"/>
            <a:ext cx="64008" cy="15544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347472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Databricks does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474720" y="1837944"/>
            <a:ext cx="22128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Provisioning, scaling, optimizing — billed for what the run uses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80760" y="132588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080760" y="1325880"/>
            <a:ext cx="64008" cy="15544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626364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 phrase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263640" y="1837944"/>
            <a:ext cx="22128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“Use serverless for a hands-off, auto-optimized compute managed by Databricks” — verbatim objective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02920" y="352044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0" name="Shape 17"/>
          <p:cNvSpPr/>
          <p:nvPr/>
        </p:nvSpPr>
        <p:spPr>
          <a:xfrm>
            <a:off x="502920" y="352044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" y="357530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“Serverless is always cheaper.” It's always SIMPLER. Cost depends on workload shape — exam stems reward the hands-off property.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5 · NEW DOMAIN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for data engineers: ship pipelines, not just code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10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66928" y="1920240"/>
            <a:ext cx="1737360" cy="868680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20240"/>
            <a:ext cx="173736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15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29768" y="28437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+ edit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286000" y="218084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15768" y="1920240"/>
            <a:ext cx="1737360" cy="8686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2715768" y="1920240"/>
            <a:ext cx="173736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REVIEW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2578608" y="28437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Git provider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434840" y="218084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864608" y="1920240"/>
            <a:ext cx="1737360" cy="86868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4864608" y="1920240"/>
            <a:ext cx="173736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727448" y="28437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deploy -t test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583680" y="2180844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13448" y="1920240"/>
            <a:ext cx="1737360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7013448" y="1920240"/>
            <a:ext cx="173736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76288" y="28437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deploy -t prod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service principal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02920" y="365760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3" name="Shape 20"/>
          <p:cNvSpPr/>
          <p:nvPr/>
        </p:nvSpPr>
        <p:spPr>
          <a:xfrm>
            <a:off x="502920" y="365760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4" name="Text 21"/>
          <p:cNvSpPr/>
          <p:nvPr/>
        </p:nvSpPr>
        <p:spPr>
          <a:xfrm>
            <a:off x="704088" y="371246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LAYERS, FOUR OBJECTIVES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folders (workspace Git workflow) + Declarative Automation Bundles (deployable definitions of jobs, pipelines, and config). All four Domain 5 objectives live in the next three slides.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5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folders: the workspace Git loop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11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298448" cy="8229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91640"/>
            <a:ext cx="129844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29768" y="2569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UI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847088" y="1929384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249424" y="1691640"/>
            <a:ext cx="1298448" cy="8229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2249424" y="1691640"/>
            <a:ext cx="129844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2112264" y="2569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notebooks in the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folder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529584" y="1929384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31920" y="1691640"/>
            <a:ext cx="1298448" cy="82296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3931920" y="1691640"/>
            <a:ext cx="129844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PUSH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794760" y="2569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UI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(diff view first)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212080" y="1929384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614416" y="1691640"/>
            <a:ext cx="1298448" cy="82296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5614416" y="1691640"/>
            <a:ext cx="129844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77256" y="2569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PROVIDER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not Databricks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894576" y="1929384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7296912" y="1691640"/>
            <a:ext cx="1298448" cy="822960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24" name="Text 21"/>
          <p:cNvSpPr/>
          <p:nvPr/>
        </p:nvSpPr>
        <p:spPr>
          <a:xfrm>
            <a:off x="7296912" y="1691640"/>
            <a:ext cx="1298448" cy="822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</a:t>
            </a:r>
            <a:endParaRPr lang="en-US" sz="105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PULL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7159752" y="2569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 folder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pulls main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02920" y="356616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7" name="Shape 24"/>
          <p:cNvSpPr/>
          <p:nvPr/>
        </p:nvSpPr>
        <p:spPr>
          <a:xfrm>
            <a:off x="502920" y="356616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8" name="Text 25"/>
          <p:cNvSpPr/>
          <p:nvPr/>
        </p:nvSpPr>
        <p:spPr>
          <a:xfrm>
            <a:off x="704088" y="362102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QUESTION SHAPE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“Where is the pull request created?” → In the Git provider. The workspace handles branch, commit, push, pull.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5 · STRUCTURE RECOGNITION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databricks.yml — four blocks to recognize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338328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7548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databricks.yml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370832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bundle:                    # ① name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brewmart_pipeline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variables:                 # ② config knobs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target_schema: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default: lab1_dev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resources:                 # ③ the jobs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jobs: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brewmart_daily: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tasks: [...]         #   depends_on lives here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targets:                   # ④ environments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dev:  { variables: { target_schema: lab1_dev } }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prod: { mode: production,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variables: { target_schema: sales_prod } }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705856" y="1426464"/>
            <a:ext cx="2935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code, both targets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variable overrides differ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0" y="24414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705856" y="2340864"/>
            <a:ext cx="2935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changing -t, never editing code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0" y="33558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705856" y="3255264"/>
            <a:ext cx="2935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UI job and this YAML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 same animal — one clickable, one shippable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5 · MEMORIZE THIS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→ deploy → run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914400" y="1645920"/>
            <a:ext cx="2148840" cy="914400"/>
          </a:xfrm>
          <a:prstGeom prst="rect">
            <a:avLst/>
          </a:prstGeom>
          <a:solidFill>
            <a:srgbClr val="566B80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645920"/>
            <a:ext cx="2148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</a:t>
            </a:r>
            <a:endParaRPr lang="en-US" sz="11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6151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 + references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— nothing changes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044952" y="1929384"/>
            <a:ext cx="55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566160" y="1645920"/>
            <a:ext cx="2148840" cy="9144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2" name="Text 9"/>
          <p:cNvSpPr/>
          <p:nvPr/>
        </p:nvSpPr>
        <p:spPr>
          <a:xfrm>
            <a:off x="3566160" y="1645920"/>
            <a:ext cx="2148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</a:t>
            </a:r>
            <a:endParaRPr lang="en-US" sz="11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-t dev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429000" y="26151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PLACES the resources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target workspace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96712" y="1929384"/>
            <a:ext cx="557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1645920"/>
            <a:ext cx="2148840" cy="9144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0" y="1645920"/>
            <a:ext cx="2148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</a:t>
            </a:r>
            <a:endParaRPr lang="en-US" sz="11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-t dev job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080760" y="26151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the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job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2920" y="3611880"/>
            <a:ext cx="8138160" cy="86868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" y="3611880"/>
            <a:ext cx="54864" cy="86868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704088" y="3666744"/>
            <a:ext cx="7772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CI SENTENCE (WORTH SEVERAL POINTS)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CI pipeline runs databricks bundle deploy -t prod, authenticated as a SERVICE PRINCIPAL, on every merge to main.” Any option that swaps deploy and run — or puts the PR in the workspace UI — is wrong.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READINESS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first, then answer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14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5074920"/>
                <a:gridCol w="30632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scenario says…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Mechanism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“fails ~1 in 20 calls, succeeds on retry”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Task retries (transient)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“typo fixed; tasks 1–3 took 90 minutes”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Repair run (failed + downstream only)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“files land unpredictably; hourly poll finds nothing”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arrival trigger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“run whenever the silver table gets new data”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 update trigger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“same logic for 14 regions, 4 in parallel”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For-each task with concurrency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“deploy ready but must not run until go-live”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 with the trigger PAUSED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160520"/>
            <a:ext cx="8138160" cy="50292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4160520"/>
            <a:ext cx="54864" cy="5029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4215384"/>
            <a:ext cx="7772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OLD-NAME BAIT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→ Lakeflow Jobs · DABs → Declarative Automation Bundles · Repos → Git folders. Match the stem's vocabulary.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310896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COMPLETE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pipeline is now a product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938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828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scheduled, parameterized 2-task job — with a failure you repaired yourself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49631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2395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chosen by data availability, not habit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" y="29626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folders: branch → commit → push → PR (in the provider)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6301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35295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Bundles: four blocks, three verbs, promotion without code edits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828800"/>
            <a:ext cx="2606040" cy="22860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3774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+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—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GRANTs, masks,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UI, Liquid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JUNE 2026  ·  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Creo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 — Lakeflow Jobs &amp; CI/CD</dc:title>
  <dc:subject>PptxGenJS Presentation</dc:subject>
  <dc:creator>Creo Academy</dc:creator>
  <cp:lastModifiedBy>Creo Academy</cp:lastModifiedBy>
  <cp:revision>1</cp:revision>
  <dcterms:created xsi:type="dcterms:W3CDTF">2026-06-12T14:46:30Z</dcterms:created>
  <dcterms:modified xsi:type="dcterms:W3CDTF">2026-06-12T14:46:30Z</dcterms:modified>
</cp:coreProperties>
</file>