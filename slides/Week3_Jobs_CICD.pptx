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dc08bd63b84aa7" /><Relationship Type="http://schemas.openxmlformats.org/officeDocument/2006/relationships/extended-properties" Target="/docProps/app.xml" Id="R24d40b7723e146f1" /><Relationship Type="http://schemas.openxmlformats.org/officeDocument/2006/relationships/officeDocument" Target="/ppt/presentation.xml" Id="Rc03e78c693774a2b" /></Relationships>
</file>

<file path=ppt/presentation.xml><?xml version="1.0" encoding="utf-8"?>
<p:presentation xmlns:p="http://schemas.openxmlformats.org/presentationml/2006/main">
  <p:sldMasterIdLst>
    <p:sldMasterId xmlns:r="http://schemas.openxmlformats.org/officeDocument/2006/relationships" id="2147483648" r:id="R83d0c93675224243"/>
  </p:sldMasterIdLst>
  <p:notesMasterIdLst>
    <p:notesMasterId xmlns:r="http://schemas.openxmlformats.org/officeDocument/2006/relationships" r:id="Rc32de9c2254240f9"/>
  </p:notesMasterIdLst>
  <p:sldIdLst>
    <p:sldId xmlns:r="http://schemas.openxmlformats.org/officeDocument/2006/relationships" id="256" r:id="R7cc4f87add384092"/>
    <p:sldId xmlns:r="http://schemas.openxmlformats.org/officeDocument/2006/relationships" id="257" r:id="Rec7f0926ba86458d"/>
    <p:sldId xmlns:r="http://schemas.openxmlformats.org/officeDocument/2006/relationships" id="258" r:id="R641a58c5b7224871"/>
    <p:sldId xmlns:r="http://schemas.openxmlformats.org/officeDocument/2006/relationships" id="259" r:id="R7d7eb1842cf2466c"/>
    <p:sldId xmlns:r="http://schemas.openxmlformats.org/officeDocument/2006/relationships" id="260" r:id="Rdd380b7ce31f42c4"/>
    <p:sldId xmlns:r="http://schemas.openxmlformats.org/officeDocument/2006/relationships" id="261" r:id="Rca5c4cf90e774579"/>
    <p:sldId xmlns:r="http://schemas.openxmlformats.org/officeDocument/2006/relationships" id="262" r:id="R41ea6186a9ba4c9c"/>
    <p:sldId xmlns:r="http://schemas.openxmlformats.org/officeDocument/2006/relationships" id="263" r:id="R95b1f7dcbe8e47b6"/>
    <p:sldId xmlns:r="http://schemas.openxmlformats.org/officeDocument/2006/relationships" id="264" r:id="R8f104999a6bd43c3"/>
    <p:sldId xmlns:r="http://schemas.openxmlformats.org/officeDocument/2006/relationships" id="265" r:id="R6eb4505a41e241c4"/>
    <p:sldId xmlns:r="http://schemas.openxmlformats.org/officeDocument/2006/relationships" id="266" r:id="Rcd64b4623f2a48f4"/>
    <p:sldId xmlns:r="http://schemas.openxmlformats.org/officeDocument/2006/relationships" id="267" r:id="R08b4de09821e4e7a"/>
    <p:sldId xmlns:r="http://schemas.openxmlformats.org/officeDocument/2006/relationships" id="268" r:id="Rf89e059662714b59"/>
    <p:sldId xmlns:r="http://schemas.openxmlformats.org/officeDocument/2006/relationships" id="269" r:id="Ref466cfbff054058"/>
    <p:sldId xmlns:r="http://schemas.openxmlformats.org/officeDocument/2006/relationships" id="270" r:id="Rfb5470bbdcaf478a"/>
    <p:sldId xmlns:r="http://schemas.openxmlformats.org/officeDocument/2006/relationships" id="271" r:id="R7f5fbdf5dc7f454d"/>
    <p:sldId xmlns:r="http://schemas.openxmlformats.org/officeDocument/2006/relationships" id="272" r:id="R4bf81a86a5fe4669"/>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cb93b404ab499f" /><Relationship Type="http://schemas.openxmlformats.org/officeDocument/2006/relationships/slideMaster" Target="/ppt/slideMasters/slideMaster1.xml" Id="R83d0c93675224243" /><Relationship Type="http://schemas.openxmlformats.org/officeDocument/2006/relationships/notesMaster" Target="/ppt/notesMasters/notesMaster1.xml" Id="Rc32de9c2254240f9" /><Relationship Type="http://schemas.openxmlformats.org/officeDocument/2006/relationships/presProps" Target="/ppt/presProps.xml" Id="R373b804360dd4311" /><Relationship Type="http://schemas.openxmlformats.org/officeDocument/2006/relationships/viewProps" Target="/ppt/viewProps.xml" Id="Red68333db2434583" /><Relationship Type="http://schemas.openxmlformats.org/officeDocument/2006/relationships/tableStyles" Target="/ppt/tableStyles.xml" Id="R46b8e36e93af4fdf" /><Relationship Type="http://schemas.openxmlformats.org/officeDocument/2006/relationships/slide" Target="/ppt/slides/slide1.xml" Id="R7cc4f87add384092" /><Relationship Type="http://schemas.openxmlformats.org/officeDocument/2006/relationships/slide" Target="/ppt/slides/slide2.xml" Id="Rec7f0926ba86458d" /><Relationship Type="http://schemas.openxmlformats.org/officeDocument/2006/relationships/slide" Target="/ppt/slides/slide3.xml" Id="R641a58c5b7224871" /><Relationship Type="http://schemas.openxmlformats.org/officeDocument/2006/relationships/slide" Target="/ppt/slides/slide4.xml" Id="R7d7eb1842cf2466c" /><Relationship Type="http://schemas.openxmlformats.org/officeDocument/2006/relationships/slide" Target="/ppt/slides/slide5.xml" Id="Rdd380b7ce31f42c4" /><Relationship Type="http://schemas.openxmlformats.org/officeDocument/2006/relationships/slide" Target="/ppt/slides/slide6.xml" Id="Rca5c4cf90e774579" /><Relationship Type="http://schemas.openxmlformats.org/officeDocument/2006/relationships/slide" Target="/ppt/slides/slide7.xml" Id="R41ea6186a9ba4c9c" /><Relationship Type="http://schemas.openxmlformats.org/officeDocument/2006/relationships/slide" Target="/ppt/slides/slide8.xml" Id="R95b1f7dcbe8e47b6" /><Relationship Type="http://schemas.openxmlformats.org/officeDocument/2006/relationships/slide" Target="/ppt/slides/slide9.xml" Id="R8f104999a6bd43c3" /><Relationship Type="http://schemas.openxmlformats.org/officeDocument/2006/relationships/slide" Target="/ppt/slides/slide10.xml" Id="R6eb4505a41e241c4" /><Relationship Type="http://schemas.openxmlformats.org/officeDocument/2006/relationships/slide" Target="/ppt/slides/slide11.xml" Id="Rcd64b4623f2a48f4" /><Relationship Type="http://schemas.openxmlformats.org/officeDocument/2006/relationships/slide" Target="/ppt/slides/slide12.xml" Id="R08b4de09821e4e7a" /><Relationship Type="http://schemas.openxmlformats.org/officeDocument/2006/relationships/slide" Target="/ppt/slides/slide13.xml" Id="Rf89e059662714b59" /><Relationship Type="http://schemas.openxmlformats.org/officeDocument/2006/relationships/slide" Target="/ppt/slides/slide14.xml" Id="Ref466cfbff054058" /><Relationship Type="http://schemas.openxmlformats.org/officeDocument/2006/relationships/slide" Target="/ppt/slides/slide15.xml" Id="Rfb5470bbdcaf478a" /><Relationship Type="http://schemas.openxmlformats.org/officeDocument/2006/relationships/slide" Target="/ppt/slides/slide16.xml" Id="R7f5fbdf5dc7f454d" /><Relationship Type="http://schemas.openxmlformats.org/officeDocument/2006/relationships/slide" Target="/ppt/slides/slide17.xml" Id="R4bf81a86a5fe46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897ec3f3a84a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aa4a5756a94b8c" /><Relationship Type="http://schemas.openxmlformats.org/officeDocument/2006/relationships/notesMaster" Target="/ppt/notesMasters/notesMaster1.xml" Id="Rf0eec4c409674c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e19d44fa2740c6" /><Relationship Type="http://schemas.openxmlformats.org/officeDocument/2006/relationships/notesMaster" Target="/ppt/notesMasters/notesMaster1.xml" Id="Rafd89375255c41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6788116ea44776" /><Relationship Type="http://schemas.openxmlformats.org/officeDocument/2006/relationships/notesMaster" Target="/ppt/notesMasters/notesMaster1.xml" Id="R91314e4dc37a4e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7e004cd0384db5" /><Relationship Type="http://schemas.openxmlformats.org/officeDocument/2006/relationships/notesMaster" Target="/ppt/notesMasters/notesMaster1.xml" Id="Re1ee749df26748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aa902180e649d7" /><Relationship Type="http://schemas.openxmlformats.org/officeDocument/2006/relationships/notesMaster" Target="/ppt/notesMasters/notesMaster1.xml" Id="R7abce399b3ef4d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1cf2c6c5ff41da" /><Relationship Type="http://schemas.openxmlformats.org/officeDocument/2006/relationships/notesMaster" Target="/ppt/notesMasters/notesMaster1.xml" Id="Raa47bfdd0a5148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1b93aa6d0249d9" /><Relationship Type="http://schemas.openxmlformats.org/officeDocument/2006/relationships/notesMaster" Target="/ppt/notesMasters/notesMaster1.xml" Id="R6a4d16f5180c4c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4304a71809418a" /><Relationship Type="http://schemas.openxmlformats.org/officeDocument/2006/relationships/notesMaster" Target="/ppt/notesMasters/notesMaster1.xml" Id="R80ec7decbc6a4e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f2d4f124a543d8" /><Relationship Type="http://schemas.openxmlformats.org/officeDocument/2006/relationships/notesMaster" Target="/ppt/notesMasters/notesMaster1.xml" Id="R671693207cec4e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dba15d755e4298" /><Relationship Type="http://schemas.openxmlformats.org/officeDocument/2006/relationships/notesMaster" Target="/ppt/notesMasters/notesMaster1.xml" Id="R931519fac5ef4e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809eddc8224948" /><Relationship Type="http://schemas.openxmlformats.org/officeDocument/2006/relationships/notesMaster" Target="/ppt/notesMasters/notesMaster1.xml" Id="R27b92d69bf4b4d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b506aeb6e44c3c" /><Relationship Type="http://schemas.openxmlformats.org/officeDocument/2006/relationships/notesMaster" Target="/ppt/notesMasters/notesMaster1.xml" Id="R57aabaa1f8fc48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2c9b8529984122" /><Relationship Type="http://schemas.openxmlformats.org/officeDocument/2006/relationships/notesMaster" Target="/ppt/notesMasters/notesMaster1.xml" Id="Rfeb04d1b94db4a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9beab3ef874fcd" /><Relationship Type="http://schemas.openxmlformats.org/officeDocument/2006/relationships/notesMaster" Target="/ppt/notesMasters/notesMaster1.xml" Id="Ree515208a31e47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8873f5fe3c4d1e" /><Relationship Type="http://schemas.openxmlformats.org/officeDocument/2006/relationships/notesMaster" Target="/ppt/notesMasters/notesMaster1.xml" Id="R881daa8367dd4b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3fc0acee974bc6" /><Relationship Type="http://schemas.openxmlformats.org/officeDocument/2006/relationships/notesMaster" Target="/ppt/notesMasters/notesMaster1.xml" Id="R7cca5759e647416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205716512244cf" /><Relationship Type="http://schemas.openxmlformats.org/officeDocument/2006/relationships/notesMaster" Target="/ppt/notesMasters/notesMaster1.xml" Id="R0bd9a13ef57a4f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Week 3 STARTER quiz first (Markdown Mash, 5 Qs on Week 2: UNION ALL, Auto Loader fit, managed connector, MERGE trap, explode). Then the hook: 'Who wants to run those COPY INTO cells by hand every morning at 6am?' What manual execution can't give: schedules, retries, dependency order, alerting, environments — that list IS the agenda. CI/CD is new in the May 2026 exam — older prep material has a blind spot exactly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Weeks 1–2 built a pipeline; today it runs itself, survives failures, and ships across environments. The CI/CD domain did not exist in older exams — this session is where the course earns its keep for anyone studying from stale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hierarchy live. The DAG is DECLARED, not coded: you state dependencies; the scheduler works out order and parallelism — independent branches run CONCURRENTLY. ADF mapping is clean here: job ≈ pipeline, task ≈ activity, trigger ≈ trigger.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Drill the exam's four by use case. The dashboard task surprises ADF folks — refreshing BI is a first-class DAG node, no webhook hacks. Choosing the RIGHT task type is itself an exam question: a pure SQL refresh should be a SQL task, not a notebook.</a:t>
            </a:r>
          </a:p>
          <a:p xmlns:a="http://schemas.openxmlformats.org/drawingml/2006/main"/>
          <a:p xmlns:a="http://schemas.openxmlformats.org/drawingml/2006/main">
            <a:r>
              <a:t>NEW: also name the %run distinction here — %run inlines another notebook into the SAME session (shared functions/variables); a job task runs it as an ISOLATED run with retries/monitoring. 'Reuse helpers' → %run; 'orchestrate with retries/schedule' → job tasks. The companion notebook has the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each to the failure or variation it solves. Verbatim outline: 'retries and conditional tasks such as branching and looping.' ADF activity policies and ForEach port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rule: known cadence + SLA → schedule. 'Whenever data shows up' → file arrival / table update. The polling trap: a 1-minute cron is NOT event-driven — it burns compute on empty runs and still adds latency. Free Edition: verify trigger menu in rehearsal.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same notebook serves dev and prod — parameterize the schema, never hardcode. Job parameter target_schema → widget of the same name. Task values pass SMALL results between tasks; big data goes through tables.</a:t>
            </a:r>
          </a:p>
          <a:p xmlns:a="http://schemas.openxmlformats.org/drawingml/2006/main"/>
          <a:p xmlns:a="http://schemas.openxmlformats.org/drawingml/2006/main">
            <a:r>
              <a:t>NEW: the task notebooks now DO this — week3_01 sets taskValues 'bronze_rows'; week3_02 reads it with taskValues.get (note debugValue for interactive runs). Point at Task 2's output during the demo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Domain 6 objectives live here: trends via run history; health via statuses and the DAG view. Diagnostic flow: notification → run history → matrix (which task?) → task page (error) → Spark UI if perf. Repair: fix the cause FIRST, then repair — only failed + downstream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 Edition forces serverless — for once the constraint IS the exam answer. Heuristic: no cluster-tuning expertise, spiky workloads, fast iteration → serverless. Very steady, tuned, high-volume → classic job clusters can win on cost (Week 4 nuance).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for data engineers: the asset being shipped is a PIPELINE — code + orchestration + config. Git folders version the code; bundles version everything else. ADF/Synapse folks: this is their ARM-template story, file-based and CLI-driven.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Procedural slide. THE exam trap: branch/commit/push live in the workspace UI, but the PULL REQUEST is created and merged IN THE PROVIDER (GitHub/GitLab/Azure DevOps) — the workspace links you out. Formerly 'Repos'; the guide uses both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real file from the course repo top to bottom. The associate exam tests STRUCTURE recognition and the promotion story, not advanced authoring. Formerly Databricks Asset Bundles (DABs) — exam says 'Declarative Automation Bundles (formerly DABs)'.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verbs, in order — make the room chant them. deploy PLACES resources; run EXECUTES them — distinct, testable steps. In CI: GitHub Actions runs the same verbs as a service principal on merge-to-main. Free Edition: CLI walkthrough/screenshots; objective is the verbs.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triage: transient → retries; deterministic-but-fixed → repair; data-availability → data-driven trigger; time-SLA → schedule. For CI/CD locate the verb's stage: checking (validate), placing (deploy), executing (run). Options mixing stages die immediately.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enrichment only: the May 4, 2026 outline does not name declarative pipelines. Use this to connect the pipeline task type to the current API. Current docs use from pyspark import pipelines as dp; legacy import dlt still runs. The engine infers order from table reads, and expectations apply warn/drop/fail policies with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briefing: learners run only the companion notebook. The job runs week3_01, week3_02, and optional week3_03. Require the exact task keys, two job parameters, paused schedule, then success → deterministic failure → fix + Repair run. The evidence is three run states plus the task value in Task 2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production story: Week 1 objects, Week 2 rerunnable transformations, Week 3 orchestration and promotion. Ask learners to say the trigger decision rule and validate → deploy → run without looking.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cd2dc5e4714bd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22ee5280cd42ee" /><Relationship Type="http://schemas.openxmlformats.org/officeDocument/2006/relationships/slideLayout" Target="/ppt/slideLayouts/slideLayout1.xml" Id="Rb6e08f5016694aa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e08f5016694aa9"/>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14b8ef7e3f4e64" /><Relationship Type="http://schemas.openxmlformats.org/officeDocument/2006/relationships/notesSlide" Target="/ppt/notesSlides/notesSlide1.xml" Id="R98deea4769a548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52f686c28d4e1c" /><Relationship Type="http://schemas.openxmlformats.org/officeDocument/2006/relationships/notesSlide" Target="/ppt/notesSlides/notesSlide2.xml" Id="R125c988c213744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8771b0467c4c07" /><Relationship Type="http://schemas.openxmlformats.org/officeDocument/2006/relationships/notesSlide" Target="/ppt/notesSlides/notesSlide3.xml" Id="R2b555825fb0c49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992f37649e34edf" /><Relationship Type="http://schemas.openxmlformats.org/officeDocument/2006/relationships/notesSlide" Target="/ppt/notesSlides/notesSlide4.xml" Id="R48905c82d6c146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4d60ff26884ea8" /><Relationship Type="http://schemas.openxmlformats.org/officeDocument/2006/relationships/notesSlide" Target="/ppt/notesSlides/notesSlide5.xml" Id="Rac05f6fddff74e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a0fc3980b848db" /><Relationship Type="http://schemas.openxmlformats.org/officeDocument/2006/relationships/notesSlide" Target="/ppt/notesSlides/notesSlide6.xml" Id="R73b369b6aa504a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f8476ab1124598" /><Relationship Type="http://schemas.openxmlformats.org/officeDocument/2006/relationships/notesSlide" Target="/ppt/notesSlides/notesSlide7.xml" Id="Re1135af36ece41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4984f1bbf64458" /><Relationship Type="http://schemas.openxmlformats.org/officeDocument/2006/relationships/notesSlide" Target="/ppt/notesSlides/notesSlide8.xml" Id="R76cf73363ba141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a3cb255f884e2c" /><Relationship Type="http://schemas.openxmlformats.org/officeDocument/2006/relationships/notesSlide" Target="/ppt/notesSlides/notesSlide9.xml" Id="Rdcda9e43c2c641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16d780876144aff" /><Relationship Type="http://schemas.openxmlformats.org/officeDocument/2006/relationships/notesSlide" Target="/ppt/notesSlides/notesSlide10.xml" Id="R01347ec40c2f41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a7b001fc2e4cef" /><Relationship Type="http://schemas.openxmlformats.org/officeDocument/2006/relationships/notesSlide" Target="/ppt/notesSlides/notesSlide11.xml" Id="R8d9c05f279604d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58d3d7804e4a43" /><Relationship Type="http://schemas.openxmlformats.org/officeDocument/2006/relationships/notesSlide" Target="/ppt/notesSlides/notesSlide12.xml" Id="Rd67079dbfa644a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a8a43ee28e404f" /><Relationship Type="http://schemas.openxmlformats.org/officeDocument/2006/relationships/notesSlide" Target="/ppt/notesSlides/notesSlide13.xml" Id="Rcc72e3a24f5c46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357a8c0e074958" /><Relationship Type="http://schemas.openxmlformats.org/officeDocument/2006/relationships/notesSlide" Target="/ppt/notesSlides/notesSlide14.xml" Id="Rc46073eb0a6241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4832e81fbd4cf2" /><Relationship Type="http://schemas.openxmlformats.org/officeDocument/2006/relationships/notesSlide" Target="/ppt/notesSlides/notesSlide15.xml" Id="Ra60cb3aca1cb40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fe648f7e4b4f20" /><Relationship Type="http://schemas.openxmlformats.org/officeDocument/2006/relationships/notesSlide" Target="/ppt/notesSlides/notesSlide16.xml" Id="R0dc5248c58a94f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0bd656dd4e4b28" /><Relationship Type="http://schemas.openxmlformats.org/officeDocument/2006/relationships/notesSlide" Target="/ppt/notesSlides/notesSlide17.xml" Id="Rbeaf9b2018f245d2" /></Relationships>
</file>

<file path=ppt/slides/slide1.xml><?xml version="1.0" encoding="utf-8"?>
<p:sld xmlns:p="http://schemas.openxmlformats.org/presentationml/2006/main">
  <p:cSld>
    <p:bg>
      <p:bgPr>
        <a:solidFill xmlns:a="http://schemas.openxmlformats.org/drawingml/2006/main">
          <a:srgbClr val="2C3E5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BE334E9-254D-4CF1-ACF1-4512F1F5DF95}"/>
              </a:ext>
            </a:extLst>
          </p:cNvPr>
          <p:cNvSpPr>
            <a:spLocks xmlns:a="http://schemas.openxmlformats.org/drawingml/2006/main" noGrp="1"/>
          </p:cNvSpPr>
          <p:nvPr/>
        </p:nvSpPr>
        <p:spPr>
          <a:xfrm xmlns:a="http://schemas.openxmlformats.org/drawingml/2006/main">
            <a:off x="3118104" y="91440"/>
            <a:ext cx="2377440" cy="2377440"/>
          </a:xfrm>
          <a:prstGeom xmlns:a="http://schemas.openxmlformats.org/drawingml/2006/main" prst="ellipse">
            <a:avLst/>
          </a:prstGeom>
          <a:ln xmlns:a="http://schemas.openxmlformats.org/drawingml/2006/main" w="12700">
            <a:solidFill>
              <a:srgbClr val="46637F"/>
            </a:solidFill>
            <a:prstDash val="solid"/>
          </a:ln>
        </p:spPr>
      </p:sp>
      <p:sp>
        <p:nvSpPr>
          <p:cNvPr id="3" name="Shape 1">
            <a:extLst xmlns:a="http://schemas.openxmlformats.org/drawingml/2006/main">
              <a:ext uri="{FF2B5EF4-FFF2-40B4-BE49-F238E27FC236}">
                <a16:creationId xmlns:a16="http://schemas.microsoft.com/office/drawing/2014/main" id="{CC8A5CB2-4F5E-4CA3-AF8E-74BB80BA10CE}"/>
              </a:ext>
            </a:extLst>
          </p:cNvPr>
          <p:cNvSpPr>
            <a:spLocks xmlns:a="http://schemas.openxmlformats.org/drawingml/2006/main" noGrp="1"/>
          </p:cNvSpPr>
          <p:nvPr/>
        </p:nvSpPr>
        <p:spPr>
          <a:xfrm xmlns:a="http://schemas.openxmlformats.org/drawingml/2006/main">
            <a:off x="3968496" y="3657600"/>
            <a:ext cx="1554480" cy="1554480"/>
          </a:xfrm>
          <a:prstGeom xmlns:a="http://schemas.openxmlformats.org/drawingml/2006/main" prst="ellipse">
            <a:avLst/>
          </a:prstGeom>
          <a:ln xmlns:a="http://schemas.openxmlformats.org/drawingml/2006/main" w="12700">
            <a:solidFill>
              <a:srgbClr val="46637F"/>
            </a:solidFill>
            <a:prstDash val="solid"/>
          </a:ln>
        </p:spPr>
      </p:sp>
      <p:sp>
        <p:nvSpPr>
          <p:cNvPr id="4" name="Shape 2">
            <a:extLst xmlns:a="http://schemas.openxmlformats.org/drawingml/2006/main">
              <a:ext uri="{FF2B5EF4-FFF2-40B4-BE49-F238E27FC236}">
                <a16:creationId xmlns:a16="http://schemas.microsoft.com/office/drawing/2014/main" id="{FA0DF208-6853-4F71-BFF2-C5D117B9B242}"/>
              </a:ext>
            </a:extLst>
          </p:cNvPr>
          <p:cNvSpPr>
            <a:spLocks xmlns:a="http://schemas.openxmlformats.org/drawingml/2006/main" noGrp="1"/>
          </p:cNvSpPr>
          <p:nvPr/>
        </p:nvSpPr>
        <p:spPr>
          <a:xfrm xmlns:a="http://schemas.openxmlformats.org/drawingml/2006/main">
            <a:off x="453542" y="4114800"/>
            <a:ext cx="502920" cy="502920"/>
          </a:xfrm>
          <a:prstGeom xmlns:a="http://schemas.openxmlformats.org/drawingml/2006/main" prst="ellipse">
            <a:avLst/>
          </a:prstGeom>
          <a:solidFill xmlns:a="http://schemas.openxmlformats.org/drawingml/2006/main">
            <a:srgbClr val="E31E24"/>
          </a:solidFill>
        </p:spPr>
      </p:sp>
      <p:sp>
        <p:nvSpPr>
          <p:cNvPr id="5" name="Shape 3">
            <a:extLst xmlns:a="http://schemas.openxmlformats.org/drawingml/2006/main">
              <a:ext uri="{FF2B5EF4-FFF2-40B4-BE49-F238E27FC236}">
                <a16:creationId xmlns:a16="http://schemas.microsoft.com/office/drawing/2014/main" id="{83BF32F6-6E47-4EA7-BE4B-E1D19F13CDDA}"/>
              </a:ext>
            </a:extLst>
          </p:cNvPr>
          <p:cNvSpPr>
            <a:spLocks xmlns:a="http://schemas.openxmlformats.org/drawingml/2006/main" noGrp="1"/>
          </p:cNvSpPr>
          <p:nvPr/>
        </p:nvSpPr>
        <p:spPr>
          <a:xfrm xmlns:a="http://schemas.openxmlformats.org/drawingml/2006/main">
            <a:off x="502920" y="1243584"/>
            <a:ext cx="1280160" cy="54864"/>
          </a:xfrm>
          <a:prstGeom xmlns:a="http://schemas.openxmlformats.org/drawingml/2006/main" prst="rect">
            <a:avLst/>
          </a:prstGeom>
          <a:solidFill xmlns:a="http://schemas.openxmlformats.org/drawingml/2006/main">
            <a:srgbClr val="E31E24"/>
          </a:solidFill>
        </p:spPr>
      </p:sp>
      <p:sp>
        <p:nvSpPr>
          <p:cNvPr id="6" name="Text 4">
            <a:extLst xmlns:a="http://schemas.openxmlformats.org/drawingml/2006/main">
              <a:ext uri="{FF2B5EF4-FFF2-40B4-BE49-F238E27FC236}">
                <a16:creationId xmlns:a16="http://schemas.microsoft.com/office/drawing/2014/main" id="{9BBF2F50-4EF9-4EFF-BF6B-CCB2AE24FE35}"/>
              </a:ext>
            </a:extLst>
          </p:cNvPr>
          <p:cNvSpPr>
            <a:spLocks xmlns:a="http://schemas.openxmlformats.org/drawingml/2006/main" noGrp="1"/>
          </p:cNvSpPr>
          <p:nvPr/>
        </p:nvSpPr>
        <p:spPr>
          <a:xfrm xmlns:a="http://schemas.openxmlformats.org/drawingml/2006/main">
            <a:off x="502920" y="384048"/>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31E24"/>
                </a:solidFill>
                <a:latin typeface="Arial"/>
                <a:ea typeface="Arial"/>
                <a:cs typeface="Arial"/>
              </a:rPr>
              <a:t>CREO TECHNOLOGIES</a:t>
            </a:r>
          </a:p>
        </p:txBody>
      </p:sp>
      <p:sp>
        <p:nvSpPr>
          <p:cNvPr id="7" name="Text 5">
            <a:extLst xmlns:a="http://schemas.openxmlformats.org/drawingml/2006/main">
              <a:ext uri="{FF2B5EF4-FFF2-40B4-BE49-F238E27FC236}">
                <a16:creationId xmlns:a16="http://schemas.microsoft.com/office/drawing/2014/main" id="{68FFAA4F-2C2D-4939-8B28-1C10007835A3}"/>
              </a:ext>
            </a:extLst>
          </p:cNvPr>
          <p:cNvSpPr>
            <a:spLocks xmlns:a="http://schemas.openxmlformats.org/drawingml/2006/main" noGrp="1"/>
          </p:cNvSpPr>
          <p:nvPr/>
        </p:nvSpPr>
        <p:spPr>
          <a:xfrm xmlns:a="http://schemas.openxmlformats.org/drawingml/2006/main">
            <a:off x="502920" y="640080"/>
            <a:ext cx="5029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AB7C4"/>
                </a:solidFill>
                <a:latin typeface="Arial"/>
                <a:ea typeface="Arial"/>
                <a:cs typeface="Arial"/>
              </a:rPr>
              <a:t>INSTRUCTOR-LED CERTIFICATION SERIES</a:t>
            </a:r>
          </a:p>
        </p:txBody>
      </p:sp>
      <p:sp>
        <p:nvSpPr>
          <p:cNvPr id="8" name="Text 6">
            <a:extLst xmlns:a="http://schemas.openxmlformats.org/drawingml/2006/main">
              <a:ext uri="{FF2B5EF4-FFF2-40B4-BE49-F238E27FC236}">
                <a16:creationId xmlns:a16="http://schemas.microsoft.com/office/drawing/2014/main" id="{FEAE2B92-A09B-4BBA-A897-AF0BE6C03F44}"/>
              </a:ext>
            </a:extLst>
          </p:cNvPr>
          <p:cNvSpPr>
            <a:spLocks xmlns:a="http://schemas.openxmlformats.org/drawingml/2006/main" noGrp="1"/>
          </p:cNvSpPr>
          <p:nvPr/>
        </p:nvSpPr>
        <p:spPr>
          <a:xfrm xmlns:a="http://schemas.openxmlformats.org/drawingml/2006/main">
            <a:off x="502920" y="1417320"/>
            <a:ext cx="51206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600"/>
              </a:lnSpc>
              <a:buNone/>
            </a:pPr>
            <a:r>
              <a:rPr sz="3000" b="1">
                <a:solidFill>
                  <a:srgbClr val="FFFFFF"/>
                </a:solidFill>
                <a:latin typeface="Arial"/>
                <a:ea typeface="Arial"/>
                <a:cs typeface="Arial"/>
              </a:rPr>
              <a:t>Databricks Certified</a:t>
            </a:r>
          </a:p>
          <a:p xmlns:a="http://schemas.openxmlformats.org/drawingml/2006/main">
            <a:pPr marL="0" indent="0">
              <a:lnSpc>
                <a:spcPts val="3600"/>
              </a:lnSpc>
              <a:buNone/>
            </a:pPr>
            <a:r>
              <a:rPr sz="3000" b="1">
                <a:solidFill>
                  <a:srgbClr val="FFFFFF"/>
                </a:solidFill>
                <a:latin typeface="Arial"/>
                <a:ea typeface="Arial"/>
                <a:cs typeface="Arial"/>
              </a:rPr>
              <a:t>Data Engineer Associate</a:t>
            </a:r>
          </a:p>
        </p:txBody>
      </p:sp>
      <p:sp>
        <p:nvSpPr>
          <p:cNvPr id="9" name="Text 7">
            <a:extLst xmlns:a="http://schemas.openxmlformats.org/drawingml/2006/main">
              <a:ext uri="{FF2B5EF4-FFF2-40B4-BE49-F238E27FC236}">
                <a16:creationId xmlns:a16="http://schemas.microsoft.com/office/drawing/2014/main" id="{EA22C6A1-DF25-4242-B5BD-12F01BDB3C70}"/>
              </a:ext>
            </a:extLst>
          </p:cNvPr>
          <p:cNvSpPr>
            <a:spLocks xmlns:a="http://schemas.openxmlformats.org/drawingml/2006/main" noGrp="1"/>
          </p:cNvSpPr>
          <p:nvPr/>
        </p:nvSpPr>
        <p:spPr>
          <a:xfrm xmlns:a="http://schemas.openxmlformats.org/drawingml/2006/main">
            <a:off x="502920" y="3017520"/>
            <a:ext cx="49377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250">
                <a:solidFill>
                  <a:srgbClr val="C9D4DE"/>
                </a:solidFill>
                <a:latin typeface="Arial"/>
                <a:ea typeface="Arial"/>
                <a:cs typeface="Arial"/>
              </a:rPr>
              <a:t>▸  Working with Lakeflow Jobs (~16%)</a:t>
            </a:r>
          </a:p>
          <a:p xmlns:a="http://schemas.openxmlformats.org/drawingml/2006/main">
            <a:pPr marL="0" indent="0">
              <a:lnSpc>
                <a:spcPts val="2100"/>
              </a:lnSpc>
              <a:buNone/>
            </a:pPr>
            <a:r>
              <a:rPr sz="1250">
                <a:solidFill>
                  <a:srgbClr val="C9D4DE"/>
                </a:solidFill>
                <a:latin typeface="Arial"/>
                <a:ea typeface="Arial"/>
                <a:cs typeface="Arial"/>
              </a:rPr>
              <a:t>▸  Implementing CI/CD (~10%) — NEW exam domain</a:t>
            </a:r>
          </a:p>
          <a:p xmlns:a="http://schemas.openxmlformats.org/drawingml/2006/main">
            <a:pPr marL="0" indent="0">
              <a:lnSpc>
                <a:spcPts val="2100"/>
              </a:lnSpc>
              <a:buNone/>
            </a:pPr>
            <a:r>
              <a:rPr sz="1250">
                <a:solidFill>
                  <a:srgbClr val="C9D4DE"/>
                </a:solidFill>
                <a:latin typeface="Arial"/>
                <a:ea typeface="Arial"/>
                <a:cs typeface="Arial"/>
              </a:rPr>
              <a:t>▸  Troubleshooting &amp; Monitoring — run history, repair</a:t>
            </a:r>
          </a:p>
        </p:txBody>
      </p:sp>
      <p:sp>
        <p:nvSpPr>
          <p:cNvPr id="10" name="Shape 8">
            <a:extLst xmlns:a="http://schemas.openxmlformats.org/drawingml/2006/main">
              <a:ext uri="{FF2B5EF4-FFF2-40B4-BE49-F238E27FC236}">
                <a16:creationId xmlns:a16="http://schemas.microsoft.com/office/drawing/2014/main" id="{4F216420-FCF7-4993-8B94-2C1127753642}"/>
              </a:ext>
            </a:extLst>
          </p:cNvPr>
          <p:cNvSpPr>
            <a:spLocks xmlns:a="http://schemas.openxmlformats.org/drawingml/2006/main" noGrp="1"/>
          </p:cNvSpPr>
          <p:nvPr/>
        </p:nvSpPr>
        <p:spPr>
          <a:xfrm xmlns:a="http://schemas.openxmlformats.org/drawingml/2006/main">
            <a:off x="5897880" y="0"/>
            <a:ext cx="3246120" cy="5143500"/>
          </a:xfrm>
          <a:prstGeom xmlns:a="http://schemas.openxmlformats.org/drawingml/2006/main" prst="rect">
            <a:avLst/>
          </a:prstGeom>
          <a:solidFill xmlns:a="http://schemas.openxmlformats.org/drawingml/2006/main">
            <a:srgbClr val="E31E24"/>
          </a:solidFill>
        </p:spPr>
      </p:sp>
      <p:sp>
        <p:nvSpPr>
          <p:cNvPr id="11" name="Text 9">
            <a:extLst xmlns:a="http://schemas.openxmlformats.org/drawingml/2006/main">
              <a:ext uri="{FF2B5EF4-FFF2-40B4-BE49-F238E27FC236}">
                <a16:creationId xmlns:a16="http://schemas.microsoft.com/office/drawing/2014/main" id="{C7E4A8D2-9407-492D-946A-0387C9F93B1B}"/>
              </a:ext>
            </a:extLst>
          </p:cNvPr>
          <p:cNvSpPr>
            <a:spLocks xmlns:a="http://schemas.openxmlformats.org/drawingml/2006/main" noGrp="1"/>
          </p:cNvSpPr>
          <p:nvPr/>
        </p:nvSpPr>
        <p:spPr>
          <a:xfrm xmlns:a="http://schemas.openxmlformats.org/drawingml/2006/main">
            <a:off x="6263640" y="777240"/>
            <a:ext cx="2560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Arial"/>
                <a:ea typeface="Arial"/>
                <a:cs typeface="Arial"/>
              </a:rPr>
              <a:t>WEEK</a:t>
            </a:r>
          </a:p>
        </p:txBody>
      </p:sp>
      <p:sp>
        <p:nvSpPr>
          <p:cNvPr id="12" name="Text 10">
            <a:extLst xmlns:a="http://schemas.openxmlformats.org/drawingml/2006/main">
              <a:ext uri="{FF2B5EF4-FFF2-40B4-BE49-F238E27FC236}">
                <a16:creationId xmlns:a16="http://schemas.microsoft.com/office/drawing/2014/main" id="{D18F9D9D-543F-4911-8641-8B07CA573E40}"/>
              </a:ext>
            </a:extLst>
          </p:cNvPr>
          <p:cNvSpPr>
            <a:spLocks xmlns:a="http://schemas.openxmlformats.org/drawingml/2006/main" noGrp="1"/>
          </p:cNvSpPr>
          <p:nvPr/>
        </p:nvSpPr>
        <p:spPr>
          <a:xfrm xmlns:a="http://schemas.openxmlformats.org/drawingml/2006/main">
            <a:off x="6199632" y="960120"/>
            <a:ext cx="265176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0" b="1">
                <a:solidFill>
                  <a:srgbClr val="FFFFFF"/>
                </a:solidFill>
                <a:latin typeface="Arial"/>
                <a:ea typeface="Arial"/>
                <a:cs typeface="Arial"/>
              </a:rPr>
              <a:t>3</a:t>
            </a:r>
          </a:p>
        </p:txBody>
      </p:sp>
      <p:sp>
        <p:nvSpPr>
          <p:cNvPr id="13" name="Text 11">
            <a:extLst xmlns:a="http://schemas.openxmlformats.org/drawingml/2006/main">
              <a:ext uri="{FF2B5EF4-FFF2-40B4-BE49-F238E27FC236}">
                <a16:creationId xmlns:a16="http://schemas.microsoft.com/office/drawing/2014/main" id="{9F96FDB7-E481-4D71-8678-920132EABE06}"/>
              </a:ext>
            </a:extLst>
          </p:cNvPr>
          <p:cNvSpPr>
            <a:spLocks xmlns:a="http://schemas.openxmlformats.org/drawingml/2006/main" noGrp="1"/>
          </p:cNvSpPr>
          <p:nvPr/>
        </p:nvSpPr>
        <p:spPr>
          <a:xfrm xmlns:a="http://schemas.openxmlformats.org/drawingml/2006/main">
            <a:off x="6263640" y="3017520"/>
            <a:ext cx="26060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pPr>
            <a:r>
              <a:rPr sz="1900" b="1">
                <a:solidFill>
                  <a:srgbClr val="FFFFFF"/>
                </a:solidFill>
                <a:latin typeface="Arial"/>
                <a:ea typeface="Arial"/>
                <a:cs typeface="Arial"/>
              </a:rPr>
              <a:t>Orchestration &amp; Delivery</a:t>
            </a:r>
          </a:p>
        </p:txBody>
      </p:sp>
      <p:sp>
        <p:nvSpPr>
          <p:cNvPr id="14" name="Text 12">
            <a:extLst xmlns:a="http://schemas.openxmlformats.org/drawingml/2006/main">
              <a:ext uri="{FF2B5EF4-FFF2-40B4-BE49-F238E27FC236}">
                <a16:creationId xmlns:a16="http://schemas.microsoft.com/office/drawing/2014/main" id="{B0C61AC0-2BC4-4D31-A059-D03790D8ADA1}"/>
              </a:ext>
            </a:extLst>
          </p:cNvPr>
          <p:cNvSpPr>
            <a:spLocks xmlns:a="http://schemas.openxmlformats.org/drawingml/2006/main" noGrp="1"/>
          </p:cNvSpPr>
          <p:nvPr/>
        </p:nvSpPr>
        <p:spPr>
          <a:xfrm xmlns:a="http://schemas.openxmlformats.org/drawingml/2006/main">
            <a:off x="6263640" y="4251960"/>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00">
                <a:solidFill>
                  <a:srgbClr val="FFD9DA"/>
                </a:solidFill>
                <a:latin typeface="Arial"/>
                <a:ea typeface="Arial"/>
                <a:cs typeface="Arial"/>
              </a:rPr>
              <a:t>Lakeflow Jobs · Git folders · Automation Bundles</a:t>
            </a:r>
          </a:p>
        </p:txBody>
      </p:sp>
    </p:spTree>
    <p:extLst>
      <p:ext uri="{BB962C8B-B14F-4D97-AF65-F5344CB8AC3E}">
        <p14:creationId xmlns:p14="http://schemas.microsoft.com/office/powerpoint/2010/main" val="6853948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58DA56-166D-48E1-A0CC-838F27DE2FB3}"/>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A QUARTER OF THE EXAM</a:t>
            </a:r>
          </a:p>
        </p:txBody>
      </p:sp>
      <p:sp>
        <p:nvSpPr>
          <p:cNvPr id="3" name="Text 1">
            <a:extLst xmlns:a="http://schemas.openxmlformats.org/drawingml/2006/main">
              <a:ext uri="{FF2B5EF4-FFF2-40B4-BE49-F238E27FC236}">
                <a16:creationId xmlns:a16="http://schemas.microsoft.com/office/drawing/2014/main" id="{6BDF0D29-D85D-4A43-B90D-120136C98150}"/>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From notebooks to production</a:t>
            </a:r>
          </a:p>
        </p:txBody>
      </p:sp>
      <p:sp>
        <p:nvSpPr>
          <p:cNvPr id="4" name="Text 2">
            <a:extLst xmlns:a="http://schemas.openxmlformats.org/drawingml/2006/main">
              <a:ext uri="{FF2B5EF4-FFF2-40B4-BE49-F238E27FC236}">
                <a16:creationId xmlns:a16="http://schemas.microsoft.com/office/drawing/2014/main" id="{B69772B7-3ECB-4B1F-B696-62E9BB920C80}"/>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1BD86AA3-6016-4BDE-B70C-66665D24F72D}"/>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2</a:t>
            </a:r>
          </a:p>
        </p:txBody>
      </p:sp>
      <p:sp>
        <p:nvSpPr>
          <p:cNvPr id="7" name="Text 4">
            <a:extLst xmlns:a="http://schemas.openxmlformats.org/drawingml/2006/main">
              <a:ext uri="{FF2B5EF4-FFF2-40B4-BE49-F238E27FC236}">
                <a16:creationId xmlns:a16="http://schemas.microsoft.com/office/drawing/2014/main" id="{AD427203-2BA7-41FC-8D88-14A233B5401C}"/>
              </a:ext>
            </a:extLst>
          </p:cNvPr>
          <p:cNvSpPr>
            <a:spLocks xmlns:a="http://schemas.openxmlformats.org/drawingml/2006/main" noGrp="1"/>
          </p:cNvSpPr>
          <p:nvPr/>
        </p:nvSpPr>
        <p:spPr>
          <a:xfrm xmlns:a="http://schemas.openxmlformats.org/drawingml/2006/main">
            <a:off x="502920" y="1417320"/>
            <a:ext cx="25298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800" b="1">
                <a:solidFill>
                  <a:srgbClr val="2C3E50"/>
                </a:solidFill>
                <a:latin typeface="Arial"/>
                <a:ea typeface="Arial"/>
                <a:cs typeface="Arial"/>
              </a:rPr>
              <a:t>~16%</a:t>
            </a:r>
          </a:p>
        </p:txBody>
      </p:sp>
      <p:sp>
        <p:nvSpPr>
          <p:cNvPr id="8" name="Text 5">
            <a:extLst xmlns:a="http://schemas.openxmlformats.org/drawingml/2006/main">
              <a:ext uri="{FF2B5EF4-FFF2-40B4-BE49-F238E27FC236}">
                <a16:creationId xmlns:a16="http://schemas.microsoft.com/office/drawing/2014/main" id="{BF59295D-71F2-4500-8642-1C4C1F179BDF}"/>
              </a:ext>
            </a:extLst>
          </p:cNvPr>
          <p:cNvSpPr>
            <a:spLocks xmlns:a="http://schemas.openxmlformats.org/drawingml/2006/main" noGrp="1"/>
          </p:cNvSpPr>
          <p:nvPr/>
        </p:nvSpPr>
        <p:spPr>
          <a:xfrm xmlns:a="http://schemas.openxmlformats.org/drawingml/2006/main">
            <a:off x="502920" y="2331720"/>
            <a:ext cx="2529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b="1">
                <a:solidFill>
                  <a:srgbClr val="7F8C8D"/>
                </a:solidFill>
                <a:latin typeface="Arial"/>
                <a:ea typeface="Arial"/>
                <a:cs typeface="Arial"/>
              </a:rPr>
              <a:t>LAKEFLOW JOBS</a:t>
            </a:r>
          </a:p>
        </p:txBody>
      </p:sp>
      <p:sp>
        <p:nvSpPr>
          <p:cNvPr id="9" name="Shape 6">
            <a:extLst xmlns:a="http://schemas.openxmlformats.org/drawingml/2006/main">
              <a:ext uri="{FF2B5EF4-FFF2-40B4-BE49-F238E27FC236}">
                <a16:creationId xmlns:a16="http://schemas.microsoft.com/office/drawing/2014/main" id="{F14B93B7-D2FB-4CD1-886D-C24B18664FD7}"/>
              </a:ext>
            </a:extLst>
          </p:cNvPr>
          <p:cNvSpPr>
            <a:spLocks xmlns:a="http://schemas.openxmlformats.org/drawingml/2006/main" noGrp="1"/>
          </p:cNvSpPr>
          <p:nvPr/>
        </p:nvSpPr>
        <p:spPr>
          <a:xfrm xmlns:a="http://schemas.openxmlformats.org/drawingml/2006/main">
            <a:off x="3124200" y="1554480"/>
            <a:ext cx="0" cy="1005840"/>
          </a:xfrm>
          <a:prstGeom xmlns:a="http://schemas.openxmlformats.org/drawingml/2006/main" prst="line">
            <a:avLst/>
          </a:prstGeom>
          <a:noFill xmlns:a="http://schemas.openxmlformats.org/drawingml/2006/main"/>
          <a:ln xmlns:a="http://schemas.openxmlformats.org/drawingml/2006/main" w="12700">
            <a:solidFill>
              <a:srgbClr val="D8DEE2"/>
            </a:solidFill>
            <a:prstDash val="solid"/>
          </a:ln>
        </p:spPr>
      </p:sp>
      <p:sp>
        <p:nvSpPr>
          <p:cNvPr id="10" name="Text 7">
            <a:extLst xmlns:a="http://schemas.openxmlformats.org/drawingml/2006/main">
              <a:ext uri="{FF2B5EF4-FFF2-40B4-BE49-F238E27FC236}">
                <a16:creationId xmlns:a16="http://schemas.microsoft.com/office/drawing/2014/main" id="{2F4F05C3-476A-4036-8AB8-19FDE24AEF7F}"/>
              </a:ext>
            </a:extLst>
          </p:cNvPr>
          <p:cNvSpPr>
            <a:spLocks xmlns:a="http://schemas.openxmlformats.org/drawingml/2006/main" noGrp="1"/>
          </p:cNvSpPr>
          <p:nvPr/>
        </p:nvSpPr>
        <p:spPr>
          <a:xfrm xmlns:a="http://schemas.openxmlformats.org/drawingml/2006/main">
            <a:off x="3215640" y="1417320"/>
            <a:ext cx="25298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800" b="1">
                <a:solidFill>
                  <a:srgbClr val="E31E24"/>
                </a:solidFill>
                <a:latin typeface="Arial"/>
                <a:ea typeface="Arial"/>
                <a:cs typeface="Arial"/>
              </a:rPr>
              <a:t>~10%</a:t>
            </a:r>
          </a:p>
        </p:txBody>
      </p:sp>
      <p:sp>
        <p:nvSpPr>
          <p:cNvPr id="11" name="Text 8">
            <a:extLst xmlns:a="http://schemas.openxmlformats.org/drawingml/2006/main">
              <a:ext uri="{FF2B5EF4-FFF2-40B4-BE49-F238E27FC236}">
                <a16:creationId xmlns:a16="http://schemas.microsoft.com/office/drawing/2014/main" id="{266C1F7B-E939-424F-B022-601EC98D8295}"/>
              </a:ext>
            </a:extLst>
          </p:cNvPr>
          <p:cNvSpPr>
            <a:spLocks xmlns:a="http://schemas.openxmlformats.org/drawingml/2006/main" noGrp="1"/>
          </p:cNvSpPr>
          <p:nvPr/>
        </p:nvSpPr>
        <p:spPr>
          <a:xfrm xmlns:a="http://schemas.openxmlformats.org/drawingml/2006/main">
            <a:off x="3215640" y="2331720"/>
            <a:ext cx="2529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b="1">
                <a:solidFill>
                  <a:srgbClr val="7F8C8D"/>
                </a:solidFill>
                <a:latin typeface="Arial"/>
                <a:ea typeface="Arial"/>
                <a:cs typeface="Arial"/>
              </a:rPr>
              <a:t>CI/CD — NEW DOMAIN</a:t>
            </a:r>
          </a:p>
        </p:txBody>
      </p:sp>
      <p:sp>
        <p:nvSpPr>
          <p:cNvPr id="12" name="Shape 9">
            <a:extLst xmlns:a="http://schemas.openxmlformats.org/drawingml/2006/main">
              <a:ext uri="{FF2B5EF4-FFF2-40B4-BE49-F238E27FC236}">
                <a16:creationId xmlns:a16="http://schemas.microsoft.com/office/drawing/2014/main" id="{B142F4CA-9C19-4EE1-A195-ADC0ED9447D9}"/>
              </a:ext>
            </a:extLst>
          </p:cNvPr>
          <p:cNvSpPr>
            <a:spLocks xmlns:a="http://schemas.openxmlformats.org/drawingml/2006/main" noGrp="1"/>
          </p:cNvSpPr>
          <p:nvPr/>
        </p:nvSpPr>
        <p:spPr>
          <a:xfrm xmlns:a="http://schemas.openxmlformats.org/drawingml/2006/main">
            <a:off x="5836920" y="1554480"/>
            <a:ext cx="0" cy="1005840"/>
          </a:xfrm>
          <a:prstGeom xmlns:a="http://schemas.openxmlformats.org/drawingml/2006/main" prst="line">
            <a:avLst/>
          </a:prstGeom>
          <a:noFill xmlns:a="http://schemas.openxmlformats.org/drawingml/2006/main"/>
          <a:ln xmlns:a="http://schemas.openxmlformats.org/drawingml/2006/main" w="12700">
            <a:solidFill>
              <a:srgbClr val="D8DEE2"/>
            </a:solidFill>
            <a:prstDash val="solid"/>
          </a:ln>
        </p:spPr>
      </p:sp>
      <p:sp>
        <p:nvSpPr>
          <p:cNvPr id="13" name="Text 10">
            <a:extLst xmlns:a="http://schemas.openxmlformats.org/drawingml/2006/main">
              <a:ext uri="{FF2B5EF4-FFF2-40B4-BE49-F238E27FC236}">
                <a16:creationId xmlns:a16="http://schemas.microsoft.com/office/drawing/2014/main" id="{C5D5D4C7-3E1A-4BF8-89EF-17B5F160362E}"/>
              </a:ext>
            </a:extLst>
          </p:cNvPr>
          <p:cNvSpPr>
            <a:spLocks xmlns:a="http://schemas.openxmlformats.org/drawingml/2006/main" noGrp="1"/>
          </p:cNvSpPr>
          <p:nvPr/>
        </p:nvSpPr>
        <p:spPr>
          <a:xfrm xmlns:a="http://schemas.openxmlformats.org/drawingml/2006/main">
            <a:off x="5928360" y="1417320"/>
            <a:ext cx="25298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800" b="1">
                <a:solidFill>
                  <a:srgbClr val="2C3E50"/>
                </a:solidFill>
                <a:latin typeface="Arial"/>
                <a:ea typeface="Arial"/>
                <a:cs typeface="Arial"/>
              </a:rPr>
              <a:t>+</a:t>
            </a:r>
          </a:p>
        </p:txBody>
      </p:sp>
      <p:sp>
        <p:nvSpPr>
          <p:cNvPr id="14" name="Text 11">
            <a:extLst xmlns:a="http://schemas.openxmlformats.org/drawingml/2006/main">
              <a:ext uri="{FF2B5EF4-FFF2-40B4-BE49-F238E27FC236}">
                <a16:creationId xmlns:a16="http://schemas.microsoft.com/office/drawing/2014/main" id="{14162D33-E6A3-4244-9DDE-D8861EE7D663}"/>
              </a:ext>
            </a:extLst>
          </p:cNvPr>
          <p:cNvSpPr>
            <a:spLocks xmlns:a="http://schemas.openxmlformats.org/drawingml/2006/main" noGrp="1"/>
          </p:cNvSpPr>
          <p:nvPr/>
        </p:nvSpPr>
        <p:spPr>
          <a:xfrm xmlns:a="http://schemas.openxmlformats.org/drawingml/2006/main">
            <a:off x="5928360" y="2331720"/>
            <a:ext cx="2529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b="1">
                <a:solidFill>
                  <a:srgbClr val="7F8C8D"/>
                </a:solidFill>
                <a:latin typeface="Arial"/>
                <a:ea typeface="Arial"/>
                <a:cs typeface="Arial"/>
              </a:rPr>
              <a:t>MONITORING OBJECTIVES (DOMAIN 6)</a:t>
            </a:r>
          </a:p>
        </p:txBody>
      </p:sp>
      <p:sp>
        <p:nvSpPr>
          <p:cNvPr id="15" name="Shape 12">
            <a:extLst xmlns:a="http://schemas.openxmlformats.org/drawingml/2006/main">
              <a:ext uri="{FF2B5EF4-FFF2-40B4-BE49-F238E27FC236}">
                <a16:creationId xmlns:a16="http://schemas.microsoft.com/office/drawing/2014/main" id="{FDB8BADB-F069-4FCF-BC98-D857862566A2}"/>
              </a:ext>
            </a:extLst>
          </p:cNvPr>
          <p:cNvSpPr>
            <a:spLocks xmlns:a="http://schemas.openxmlformats.org/drawingml/2006/main" noGrp="1"/>
          </p:cNvSpPr>
          <p:nvPr/>
        </p:nvSpPr>
        <p:spPr>
          <a:xfrm xmlns:a="http://schemas.openxmlformats.org/drawingml/2006/main">
            <a:off x="502920" y="3200400"/>
            <a:ext cx="8138160" cy="868680"/>
          </a:xfrm>
          <a:prstGeom xmlns:a="http://schemas.openxmlformats.org/drawingml/2006/main" prst="rect">
            <a:avLst/>
          </a:prstGeom>
          <a:solidFill xmlns:a="http://schemas.openxmlformats.org/drawingml/2006/main">
            <a:srgbClr val="FDF3F3"/>
          </a:solidFill>
        </p:spPr>
      </p:sp>
      <p:sp>
        <p:nvSpPr>
          <p:cNvPr id="16" name="Shape 13">
            <a:extLst xmlns:a="http://schemas.openxmlformats.org/drawingml/2006/main">
              <a:ext uri="{FF2B5EF4-FFF2-40B4-BE49-F238E27FC236}">
                <a16:creationId xmlns:a16="http://schemas.microsoft.com/office/drawing/2014/main" id="{BE32EDB2-DDB6-4684-9798-0C726FF9E6A7}"/>
              </a:ext>
            </a:extLst>
          </p:cNvPr>
          <p:cNvSpPr>
            <a:spLocks xmlns:a="http://schemas.openxmlformats.org/drawingml/2006/main" noGrp="1"/>
          </p:cNvSpPr>
          <p:nvPr/>
        </p:nvSpPr>
        <p:spPr>
          <a:xfrm xmlns:a="http://schemas.openxmlformats.org/drawingml/2006/main">
            <a:off x="502920" y="3200400"/>
            <a:ext cx="54864" cy="868680"/>
          </a:xfrm>
          <a:prstGeom xmlns:a="http://schemas.openxmlformats.org/drawingml/2006/main" prst="rect">
            <a:avLst/>
          </a:prstGeom>
          <a:solidFill xmlns:a="http://schemas.openxmlformats.org/drawingml/2006/main">
            <a:srgbClr val="E31E24"/>
          </a:solidFill>
        </p:spPr>
      </p:sp>
      <p:sp>
        <p:nvSpPr>
          <p:cNvPr id="17" name="Text 14">
            <a:extLst xmlns:a="http://schemas.openxmlformats.org/drawingml/2006/main">
              <a:ext uri="{FF2B5EF4-FFF2-40B4-BE49-F238E27FC236}">
                <a16:creationId xmlns:a16="http://schemas.microsoft.com/office/drawing/2014/main" id="{B76FAD8D-4ECE-40FB-A054-592B7C0CABB8}"/>
              </a:ext>
            </a:extLst>
          </p:cNvPr>
          <p:cNvSpPr>
            <a:spLocks xmlns:a="http://schemas.openxmlformats.org/drawingml/2006/main" noGrp="1"/>
          </p:cNvSpPr>
          <p:nvPr/>
        </p:nvSpPr>
        <p:spPr>
          <a:xfrm xmlns:a="http://schemas.openxmlformats.org/drawingml/2006/main">
            <a:off x="704088" y="3255264"/>
            <a:ext cx="7772400" cy="758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ONE STORYLINE   </a:t>
            </a:r>
            <a:r>
              <a:rPr sz="1100">
                <a:solidFill>
                  <a:srgbClr val="2C3E50"/>
                </a:solidFill>
                <a:latin typeface="Arial"/>
                <a:ea typeface="Arial"/>
                <a:cs typeface="Arial"/>
              </a:rPr>
              <a:t>BrewMart's pipeline → a scheduled 2-task job → a forced failure → a surgical repair → the same job declared as code and promoted dev → prod.</a:t>
            </a:r>
          </a:p>
        </p:txBody>
      </p:sp>
    </p:spTree>
    <p:extLst>
      <p:ext uri="{BB962C8B-B14F-4D97-AF65-F5344CB8AC3E}">
        <p14:creationId xmlns:p14="http://schemas.microsoft.com/office/powerpoint/2010/main" val="12048111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1AC1A1-1E7E-43A5-9C85-51FC60968DDD}"/>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THE ANCHOR</a:t>
            </a:r>
          </a:p>
        </p:txBody>
      </p:sp>
      <p:sp>
        <p:nvSpPr>
          <p:cNvPr id="3" name="Text 1">
            <a:extLst xmlns:a="http://schemas.openxmlformats.org/drawingml/2006/main">
              <a:ext uri="{FF2B5EF4-FFF2-40B4-BE49-F238E27FC236}">
                <a16:creationId xmlns:a16="http://schemas.microsoft.com/office/drawing/2014/main" id="{E2981CE1-9A2C-45D8-B4F4-5A23C3FDD1CF}"/>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Lakeflow Jobs: job → tasks → DAG</a:t>
            </a:r>
          </a:p>
        </p:txBody>
      </p:sp>
      <p:sp>
        <p:nvSpPr>
          <p:cNvPr id="4" name="Text 2">
            <a:extLst xmlns:a="http://schemas.openxmlformats.org/drawingml/2006/main">
              <a:ext uri="{FF2B5EF4-FFF2-40B4-BE49-F238E27FC236}">
                <a16:creationId xmlns:a16="http://schemas.microsoft.com/office/drawing/2014/main" id="{2F10695A-CE3A-4029-98D6-A2E7F1FAB177}"/>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E4E52FEE-C3E2-4BA5-8004-5CEDE1F24933}"/>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3</a:t>
            </a:r>
          </a:p>
        </p:txBody>
      </p:sp>
      <p:sp>
        <p:nvSpPr>
          <p:cNvPr id="7" name="Shape 4">
            <a:extLst xmlns:a="http://schemas.openxmlformats.org/drawingml/2006/main">
              <a:ext uri="{FF2B5EF4-FFF2-40B4-BE49-F238E27FC236}">
                <a16:creationId xmlns:a16="http://schemas.microsoft.com/office/drawing/2014/main" id="{3E57E44E-5350-48A2-B11D-5080318E3759}"/>
              </a:ext>
            </a:extLst>
          </p:cNvPr>
          <p:cNvSpPr>
            <a:spLocks xmlns:a="http://schemas.openxmlformats.org/drawingml/2006/main" noGrp="1"/>
          </p:cNvSpPr>
          <p:nvPr/>
        </p:nvSpPr>
        <p:spPr>
          <a:xfrm xmlns:a="http://schemas.openxmlformats.org/drawingml/2006/main">
            <a:off x="502920" y="1481328"/>
            <a:ext cx="91440" cy="91440"/>
          </a:xfrm>
          <a:prstGeom xmlns:a="http://schemas.openxmlformats.org/drawingml/2006/main" prst="rect">
            <a:avLst/>
          </a:prstGeom>
          <a:solidFill xmlns:a="http://schemas.openxmlformats.org/drawingml/2006/main">
            <a:srgbClr val="E31E24"/>
          </a:solidFill>
        </p:spPr>
      </p:sp>
      <p:sp>
        <p:nvSpPr>
          <p:cNvPr id="8" name="Text 5">
            <a:extLst xmlns:a="http://schemas.openxmlformats.org/drawingml/2006/main">
              <a:ext uri="{FF2B5EF4-FFF2-40B4-BE49-F238E27FC236}">
                <a16:creationId xmlns:a16="http://schemas.microsoft.com/office/drawing/2014/main" id="{A65C9A59-F78D-4499-9FE9-FFA0BC4452C9}"/>
              </a:ext>
            </a:extLst>
          </p:cNvPr>
          <p:cNvSpPr>
            <a:spLocks xmlns:a="http://schemas.openxmlformats.org/drawingml/2006/main" noGrp="1"/>
          </p:cNvSpPr>
          <p:nvPr/>
        </p:nvSpPr>
        <p:spPr>
          <a:xfrm xmlns:a="http://schemas.openxmlformats.org/drawingml/2006/main">
            <a:off x="722376" y="1380744"/>
            <a:ext cx="371246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16"/>
              </a:lnSpc>
              <a:buNone/>
            </a:pPr>
            <a:r>
              <a:rPr sz="1300" b="1">
                <a:solidFill>
                  <a:srgbClr val="2C3E50"/>
                </a:solidFill>
                <a:latin typeface="Arial"/>
                <a:ea typeface="Arial"/>
                <a:cs typeface="Arial"/>
              </a:rPr>
              <a:t>Job  </a:t>
            </a:r>
            <a:r>
              <a:rPr sz="1300">
                <a:solidFill>
                  <a:srgbClr val="55606B"/>
                </a:solidFill>
                <a:latin typeface="Arial"/>
                <a:ea typeface="Arial"/>
                <a:cs typeface="Arial"/>
              </a:rPr>
              <a:t>the unit of orchestration — trigger, compute, parameters, notifications, run history</a:t>
            </a:r>
          </a:p>
        </p:txBody>
      </p:sp>
      <p:sp>
        <p:nvSpPr>
          <p:cNvPr id="9" name="Shape 6">
            <a:extLst xmlns:a="http://schemas.openxmlformats.org/drawingml/2006/main">
              <a:ext uri="{FF2B5EF4-FFF2-40B4-BE49-F238E27FC236}">
                <a16:creationId xmlns:a16="http://schemas.microsoft.com/office/drawing/2014/main" id="{D2D27C25-BFB0-43B7-90D3-EA6A78840E2D}"/>
              </a:ext>
            </a:extLst>
          </p:cNvPr>
          <p:cNvSpPr>
            <a:spLocks xmlns:a="http://schemas.openxmlformats.org/drawingml/2006/main" noGrp="1"/>
          </p:cNvSpPr>
          <p:nvPr/>
        </p:nvSpPr>
        <p:spPr>
          <a:xfrm xmlns:a="http://schemas.openxmlformats.org/drawingml/2006/main">
            <a:off x="502920" y="2350008"/>
            <a:ext cx="91440" cy="91440"/>
          </a:xfrm>
          <a:prstGeom xmlns:a="http://schemas.openxmlformats.org/drawingml/2006/main" prst="rect">
            <a:avLst/>
          </a:prstGeom>
          <a:solidFill xmlns:a="http://schemas.openxmlformats.org/drawingml/2006/main">
            <a:srgbClr val="E31E24"/>
          </a:solidFill>
        </p:spPr>
      </p:sp>
      <p:sp>
        <p:nvSpPr>
          <p:cNvPr id="10" name="Text 7">
            <a:extLst xmlns:a="http://schemas.openxmlformats.org/drawingml/2006/main">
              <a:ext uri="{FF2B5EF4-FFF2-40B4-BE49-F238E27FC236}">
                <a16:creationId xmlns:a16="http://schemas.microsoft.com/office/drawing/2014/main" id="{85746706-3BE9-498D-B248-6C322FCAC1BE}"/>
              </a:ext>
            </a:extLst>
          </p:cNvPr>
          <p:cNvSpPr>
            <a:spLocks xmlns:a="http://schemas.openxmlformats.org/drawingml/2006/main" noGrp="1"/>
          </p:cNvSpPr>
          <p:nvPr/>
        </p:nvSpPr>
        <p:spPr>
          <a:xfrm xmlns:a="http://schemas.openxmlformats.org/drawingml/2006/main">
            <a:off x="722376" y="2249424"/>
            <a:ext cx="371246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16"/>
              </a:lnSpc>
              <a:buNone/>
            </a:pPr>
            <a:r>
              <a:rPr sz="1300" b="1">
                <a:solidFill>
                  <a:srgbClr val="2C3E50"/>
                </a:solidFill>
                <a:latin typeface="Arial"/>
                <a:ea typeface="Arial"/>
                <a:cs typeface="Arial"/>
              </a:rPr>
              <a:t>Tasks  </a:t>
            </a:r>
            <a:r>
              <a:rPr sz="1300">
                <a:solidFill>
                  <a:srgbClr val="55606B"/>
                </a:solidFill>
                <a:latin typeface="Arial"/>
                <a:ea typeface="Arial"/>
                <a:cs typeface="Arial"/>
              </a:rPr>
              <a:t>the boxes — each points at an asset</a:t>
            </a:r>
          </a:p>
        </p:txBody>
      </p:sp>
      <p:sp>
        <p:nvSpPr>
          <p:cNvPr id="11" name="Shape 8">
            <a:extLst xmlns:a="http://schemas.openxmlformats.org/drawingml/2006/main">
              <a:ext uri="{FF2B5EF4-FFF2-40B4-BE49-F238E27FC236}">
                <a16:creationId xmlns:a16="http://schemas.microsoft.com/office/drawing/2014/main" id="{D0F80E38-A91E-4F4E-B569-2204944F52AC}"/>
              </a:ext>
            </a:extLst>
          </p:cNvPr>
          <p:cNvSpPr>
            <a:spLocks xmlns:a="http://schemas.openxmlformats.org/drawingml/2006/main" noGrp="1"/>
          </p:cNvSpPr>
          <p:nvPr/>
        </p:nvSpPr>
        <p:spPr>
          <a:xfrm xmlns:a="http://schemas.openxmlformats.org/drawingml/2006/main">
            <a:off x="502920" y="3218688"/>
            <a:ext cx="91440" cy="91440"/>
          </a:xfrm>
          <a:prstGeom xmlns:a="http://schemas.openxmlformats.org/drawingml/2006/main" prst="rect">
            <a:avLst/>
          </a:prstGeom>
          <a:solidFill xmlns:a="http://schemas.openxmlformats.org/drawingml/2006/main">
            <a:srgbClr val="E31E24"/>
          </a:solidFill>
        </p:spPr>
      </p:sp>
      <p:sp>
        <p:nvSpPr>
          <p:cNvPr id="12" name="Text 9">
            <a:extLst xmlns:a="http://schemas.openxmlformats.org/drawingml/2006/main">
              <a:ext uri="{FF2B5EF4-FFF2-40B4-BE49-F238E27FC236}">
                <a16:creationId xmlns:a16="http://schemas.microsoft.com/office/drawing/2014/main" id="{A2ED8D6D-883C-4914-AC43-21303BAC37C9}"/>
              </a:ext>
            </a:extLst>
          </p:cNvPr>
          <p:cNvSpPr>
            <a:spLocks xmlns:a="http://schemas.openxmlformats.org/drawingml/2006/main" noGrp="1"/>
          </p:cNvSpPr>
          <p:nvPr/>
        </p:nvSpPr>
        <p:spPr>
          <a:xfrm xmlns:a="http://schemas.openxmlformats.org/drawingml/2006/main">
            <a:off x="722376" y="3118104"/>
            <a:ext cx="371246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16"/>
              </a:lnSpc>
              <a:buNone/>
            </a:pPr>
            <a:r>
              <a:rPr sz="1300" b="1">
                <a:solidFill>
                  <a:srgbClr val="2C3E50"/>
                </a:solidFill>
                <a:latin typeface="Arial"/>
                <a:ea typeface="Arial"/>
                <a:cs typeface="Arial"/>
              </a:rPr>
              <a:t>depends_on  </a:t>
            </a:r>
            <a:r>
              <a:rPr sz="1300">
                <a:solidFill>
                  <a:srgbClr val="55606B"/>
                </a:solidFill>
                <a:latin typeface="Arial"/>
                <a:ea typeface="Arial"/>
                <a:cs typeface="Arial"/>
              </a:rPr>
              <a:t>the arrows — independent tasks run in parallel</a:t>
            </a:r>
          </a:p>
        </p:txBody>
      </p:sp>
      <p:sp>
        <p:nvSpPr>
          <p:cNvPr id="13" name="Shape 10">
            <a:extLst xmlns:a="http://schemas.openxmlformats.org/drawingml/2006/main">
              <a:ext uri="{FF2B5EF4-FFF2-40B4-BE49-F238E27FC236}">
                <a16:creationId xmlns:a16="http://schemas.microsoft.com/office/drawing/2014/main" id="{2194E032-7A01-43E2-9B00-31AC321F4AE2}"/>
              </a:ext>
            </a:extLst>
          </p:cNvPr>
          <p:cNvSpPr>
            <a:spLocks xmlns:a="http://schemas.openxmlformats.org/drawingml/2006/main" noGrp="1"/>
          </p:cNvSpPr>
          <p:nvPr/>
        </p:nvSpPr>
        <p:spPr>
          <a:xfrm xmlns:a="http://schemas.openxmlformats.org/drawingml/2006/main">
            <a:off x="4754880" y="1298448"/>
            <a:ext cx="3886200" cy="3246120"/>
          </a:xfrm>
          <a:prstGeom xmlns:a="http://schemas.openxmlformats.org/drawingml/2006/main" prst="rect">
            <a:avLst/>
          </a:prstGeom>
          <a:solidFill xmlns:a="http://schemas.openxmlformats.org/drawingml/2006/main">
            <a:srgbClr val="ECF0F1"/>
          </a:solidFill>
        </p:spPr>
      </p:sp>
      <p:sp>
        <p:nvSpPr>
          <p:cNvPr id="14" name="Text 11">
            <a:extLst xmlns:a="http://schemas.openxmlformats.org/drawingml/2006/main">
              <a:ext uri="{FF2B5EF4-FFF2-40B4-BE49-F238E27FC236}">
                <a16:creationId xmlns:a16="http://schemas.microsoft.com/office/drawing/2014/main" id="{90B22E12-F0A5-4911-92F9-27B4896CC76D}"/>
              </a:ext>
            </a:extLst>
          </p:cNvPr>
          <p:cNvSpPr>
            <a:spLocks xmlns:a="http://schemas.openxmlformats.org/drawingml/2006/main" noGrp="1"/>
          </p:cNvSpPr>
          <p:nvPr/>
        </p:nvSpPr>
        <p:spPr>
          <a:xfrm xmlns:a="http://schemas.openxmlformats.org/drawingml/2006/main">
            <a:off x="4956048" y="1426464"/>
            <a:ext cx="34838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7F8C8D"/>
                </a:solidFill>
                <a:latin typeface="Arial"/>
                <a:ea typeface="Arial"/>
                <a:cs typeface="Arial"/>
              </a:rPr>
              <a:t>A 4-TASK DAG</a:t>
            </a:r>
          </a:p>
        </p:txBody>
      </p:sp>
      <p:sp>
        <p:nvSpPr>
          <p:cNvPr id="15" name="Shape 12">
            <a:extLst xmlns:a="http://schemas.openxmlformats.org/drawingml/2006/main">
              <a:ext uri="{FF2B5EF4-FFF2-40B4-BE49-F238E27FC236}">
                <a16:creationId xmlns:a16="http://schemas.microsoft.com/office/drawing/2014/main" id="{31B895D0-78C4-4279-AAC9-0791EBFCB1E9}"/>
              </a:ext>
            </a:extLst>
          </p:cNvPr>
          <p:cNvSpPr>
            <a:spLocks xmlns:a="http://schemas.openxmlformats.org/drawingml/2006/main" noGrp="1"/>
          </p:cNvSpPr>
          <p:nvPr/>
        </p:nvSpPr>
        <p:spPr>
          <a:xfrm xmlns:a="http://schemas.openxmlformats.org/drawingml/2006/main">
            <a:off x="5029200" y="1828800"/>
            <a:ext cx="1371600" cy="502920"/>
          </a:xfrm>
          <a:prstGeom xmlns:a="http://schemas.openxmlformats.org/drawingml/2006/main" prst="rect">
            <a:avLst/>
          </a:prstGeom>
          <a:solidFill xmlns:a="http://schemas.openxmlformats.org/drawingml/2006/main">
            <a:srgbClr val="2C3E50"/>
          </a:solidFill>
        </p:spPr>
      </p:sp>
      <p:sp>
        <p:nvSpPr>
          <p:cNvPr id="16" name="Text 13">
            <a:extLst xmlns:a="http://schemas.openxmlformats.org/drawingml/2006/main">
              <a:ext uri="{FF2B5EF4-FFF2-40B4-BE49-F238E27FC236}">
                <a16:creationId xmlns:a16="http://schemas.microsoft.com/office/drawing/2014/main" id="{BDE31E02-BFA7-41CB-B115-6A62078B7935}"/>
              </a:ext>
            </a:extLst>
          </p:cNvPr>
          <p:cNvSpPr>
            <a:spLocks xmlns:a="http://schemas.openxmlformats.org/drawingml/2006/main" noGrp="1"/>
          </p:cNvSpPr>
          <p:nvPr/>
        </p:nvSpPr>
        <p:spPr>
          <a:xfrm xmlns:a="http://schemas.openxmlformats.org/drawingml/2006/main">
            <a:off x="5029200" y="1828800"/>
            <a:ext cx="1371600"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00" b="1">
                <a:solidFill>
                  <a:srgbClr val="FFFFFF"/>
                </a:solidFill>
                <a:latin typeface="Arial"/>
                <a:ea typeface="Arial"/>
                <a:cs typeface="Arial"/>
              </a:rPr>
              <a:t>ingest</a:t>
            </a:r>
          </a:p>
        </p:txBody>
      </p:sp>
      <p:sp>
        <p:nvSpPr>
          <p:cNvPr id="17" name="Shape 14">
            <a:extLst xmlns:a="http://schemas.openxmlformats.org/drawingml/2006/main">
              <a:ext uri="{FF2B5EF4-FFF2-40B4-BE49-F238E27FC236}">
                <a16:creationId xmlns:a16="http://schemas.microsoft.com/office/drawing/2014/main" id="{7A85D747-6043-4E12-B30C-569C0F3FDA57}"/>
              </a:ext>
            </a:extLst>
          </p:cNvPr>
          <p:cNvSpPr>
            <a:spLocks xmlns:a="http://schemas.openxmlformats.org/drawingml/2006/main" noGrp="1"/>
          </p:cNvSpPr>
          <p:nvPr/>
        </p:nvSpPr>
        <p:spPr>
          <a:xfrm xmlns:a="http://schemas.openxmlformats.org/drawingml/2006/main">
            <a:off x="6858000" y="1481328"/>
            <a:ext cx="1371600" cy="502920"/>
          </a:xfrm>
          <a:prstGeom xmlns:a="http://schemas.openxmlformats.org/drawingml/2006/main" prst="rect">
            <a:avLst/>
          </a:prstGeom>
          <a:solidFill xmlns:a="http://schemas.openxmlformats.org/drawingml/2006/main">
            <a:srgbClr val="2C3E50"/>
          </a:solidFill>
        </p:spPr>
      </p:sp>
      <p:sp>
        <p:nvSpPr>
          <p:cNvPr id="18" name="Text 15">
            <a:extLst xmlns:a="http://schemas.openxmlformats.org/drawingml/2006/main">
              <a:ext uri="{FF2B5EF4-FFF2-40B4-BE49-F238E27FC236}">
                <a16:creationId xmlns:a16="http://schemas.microsoft.com/office/drawing/2014/main" id="{20E2A548-FA11-4EE4-9C87-C3AE75553D00}"/>
              </a:ext>
            </a:extLst>
          </p:cNvPr>
          <p:cNvSpPr>
            <a:spLocks xmlns:a="http://schemas.openxmlformats.org/drawingml/2006/main" noGrp="1"/>
          </p:cNvSpPr>
          <p:nvPr/>
        </p:nvSpPr>
        <p:spPr>
          <a:xfrm xmlns:a="http://schemas.openxmlformats.org/drawingml/2006/main">
            <a:off x="6858000" y="1481328"/>
            <a:ext cx="1371600"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00" b="1">
                <a:solidFill>
                  <a:srgbClr val="FFFFFF"/>
                </a:solidFill>
                <a:latin typeface="Arial"/>
                <a:ea typeface="Arial"/>
                <a:cs typeface="Arial"/>
              </a:rPr>
              <a:t>silver</a:t>
            </a:r>
          </a:p>
        </p:txBody>
      </p:sp>
      <p:sp>
        <p:nvSpPr>
          <p:cNvPr id="19" name="Shape 16">
            <a:extLst xmlns:a="http://schemas.openxmlformats.org/drawingml/2006/main">
              <a:ext uri="{FF2B5EF4-FFF2-40B4-BE49-F238E27FC236}">
                <a16:creationId xmlns:a16="http://schemas.microsoft.com/office/drawing/2014/main" id="{3B99544C-85D2-43F9-877C-8D234BEF47E2}"/>
              </a:ext>
            </a:extLst>
          </p:cNvPr>
          <p:cNvSpPr>
            <a:spLocks xmlns:a="http://schemas.openxmlformats.org/drawingml/2006/main" noGrp="1"/>
          </p:cNvSpPr>
          <p:nvPr/>
        </p:nvSpPr>
        <p:spPr>
          <a:xfrm xmlns:a="http://schemas.openxmlformats.org/drawingml/2006/main">
            <a:off x="6858000" y="2212848"/>
            <a:ext cx="1371600" cy="502920"/>
          </a:xfrm>
          <a:prstGeom xmlns:a="http://schemas.openxmlformats.org/drawingml/2006/main" prst="rect">
            <a:avLst/>
          </a:prstGeom>
          <a:solidFill xmlns:a="http://schemas.openxmlformats.org/drawingml/2006/main">
            <a:srgbClr val="3D5166"/>
          </a:solidFill>
        </p:spPr>
      </p:sp>
      <p:sp>
        <p:nvSpPr>
          <p:cNvPr id="20" name="Text 17">
            <a:extLst xmlns:a="http://schemas.openxmlformats.org/drawingml/2006/main">
              <a:ext uri="{FF2B5EF4-FFF2-40B4-BE49-F238E27FC236}">
                <a16:creationId xmlns:a16="http://schemas.microsoft.com/office/drawing/2014/main" id="{C130A097-D1D2-447E-B530-248456C5CE39}"/>
              </a:ext>
            </a:extLst>
          </p:cNvPr>
          <p:cNvSpPr>
            <a:spLocks xmlns:a="http://schemas.openxmlformats.org/drawingml/2006/main" noGrp="1"/>
          </p:cNvSpPr>
          <p:nvPr/>
        </p:nvSpPr>
        <p:spPr>
          <a:xfrm xmlns:a="http://schemas.openxmlformats.org/drawingml/2006/main">
            <a:off x="6858000" y="2212848"/>
            <a:ext cx="1371600"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00" b="1">
                <a:solidFill>
                  <a:srgbClr val="FFFFFF"/>
                </a:solidFill>
                <a:latin typeface="Arial"/>
                <a:ea typeface="Arial"/>
                <a:cs typeface="Arial"/>
              </a:rPr>
              <a:t>audit log</a:t>
            </a:r>
          </a:p>
        </p:txBody>
      </p:sp>
      <p:sp>
        <p:nvSpPr>
          <p:cNvPr id="21" name="Shape 18">
            <a:extLst xmlns:a="http://schemas.openxmlformats.org/drawingml/2006/main">
              <a:ext uri="{FF2B5EF4-FFF2-40B4-BE49-F238E27FC236}">
                <a16:creationId xmlns:a16="http://schemas.microsoft.com/office/drawing/2014/main" id="{38CC6341-20CA-453F-91D1-3AE991591AB4}"/>
              </a:ext>
            </a:extLst>
          </p:cNvPr>
          <p:cNvSpPr>
            <a:spLocks xmlns:a="http://schemas.openxmlformats.org/drawingml/2006/main" noGrp="1"/>
          </p:cNvSpPr>
          <p:nvPr/>
        </p:nvSpPr>
        <p:spPr>
          <a:xfrm xmlns:a="http://schemas.openxmlformats.org/drawingml/2006/main">
            <a:off x="6858000" y="3246120"/>
            <a:ext cx="1371600" cy="502920"/>
          </a:xfrm>
          <a:prstGeom xmlns:a="http://schemas.openxmlformats.org/drawingml/2006/main" prst="rect">
            <a:avLst/>
          </a:prstGeom>
          <a:solidFill xmlns:a="http://schemas.openxmlformats.org/drawingml/2006/main">
            <a:srgbClr val="E31E24"/>
          </a:solidFill>
        </p:spPr>
      </p:sp>
      <p:sp>
        <p:nvSpPr>
          <p:cNvPr id="22" name="Text 19">
            <a:extLst xmlns:a="http://schemas.openxmlformats.org/drawingml/2006/main">
              <a:ext uri="{FF2B5EF4-FFF2-40B4-BE49-F238E27FC236}">
                <a16:creationId xmlns:a16="http://schemas.microsoft.com/office/drawing/2014/main" id="{540F811B-CB11-4297-8F27-479222800C27}"/>
              </a:ext>
            </a:extLst>
          </p:cNvPr>
          <p:cNvSpPr>
            <a:spLocks xmlns:a="http://schemas.openxmlformats.org/drawingml/2006/main" noGrp="1"/>
          </p:cNvSpPr>
          <p:nvPr/>
        </p:nvSpPr>
        <p:spPr>
          <a:xfrm xmlns:a="http://schemas.openxmlformats.org/drawingml/2006/main">
            <a:off x="6858000" y="3246120"/>
            <a:ext cx="1371600"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00" b="1">
                <a:solidFill>
                  <a:srgbClr val="FFFFFF"/>
                </a:solidFill>
                <a:latin typeface="Arial"/>
                <a:ea typeface="Arial"/>
                <a:cs typeface="Arial"/>
              </a:rPr>
              <a:t>dashboard</a:t>
            </a:r>
          </a:p>
        </p:txBody>
      </p:sp>
      <p:sp>
        <p:nvSpPr>
          <p:cNvPr id="23" name="Text 20">
            <a:extLst xmlns:a="http://schemas.openxmlformats.org/drawingml/2006/main">
              <a:ext uri="{FF2B5EF4-FFF2-40B4-BE49-F238E27FC236}">
                <a16:creationId xmlns:a16="http://schemas.microsoft.com/office/drawing/2014/main" id="{F6358575-D40C-4778-9FC2-0B87734D727E}"/>
              </a:ext>
            </a:extLst>
          </p:cNvPr>
          <p:cNvSpPr>
            <a:spLocks xmlns:a="http://schemas.openxmlformats.org/drawingml/2006/main" noGrp="1"/>
          </p:cNvSpPr>
          <p:nvPr/>
        </p:nvSpPr>
        <p:spPr>
          <a:xfrm xmlns:a="http://schemas.openxmlformats.org/drawingml/2006/main">
            <a:off x="6419088" y="1572768"/>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E31E24"/>
                </a:solidFill>
              </a:rPr>
              <a:t>→</a:t>
            </a:r>
          </a:p>
        </p:txBody>
      </p:sp>
      <p:sp>
        <p:nvSpPr>
          <p:cNvPr id="24" name="Text 21">
            <a:extLst xmlns:a="http://schemas.openxmlformats.org/drawingml/2006/main">
              <a:ext uri="{FF2B5EF4-FFF2-40B4-BE49-F238E27FC236}">
                <a16:creationId xmlns:a16="http://schemas.microsoft.com/office/drawing/2014/main" id="{4C29D5F0-E516-4391-A1EA-2795E20B285F}"/>
              </a:ext>
            </a:extLst>
          </p:cNvPr>
          <p:cNvSpPr>
            <a:spLocks xmlns:a="http://schemas.openxmlformats.org/drawingml/2006/main" noGrp="1"/>
          </p:cNvSpPr>
          <p:nvPr/>
        </p:nvSpPr>
        <p:spPr>
          <a:xfrm xmlns:a="http://schemas.openxmlformats.org/drawingml/2006/main">
            <a:off x="6419088" y="2286000"/>
            <a:ext cx="411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E31E24"/>
                </a:solidFill>
              </a:rPr>
              <a:t>→</a:t>
            </a:r>
          </a:p>
        </p:txBody>
      </p:sp>
      <p:sp>
        <p:nvSpPr>
          <p:cNvPr id="25" name="Text 22">
            <a:extLst xmlns:a="http://schemas.openxmlformats.org/drawingml/2006/main">
              <a:ext uri="{FF2B5EF4-FFF2-40B4-BE49-F238E27FC236}">
                <a16:creationId xmlns:a16="http://schemas.microsoft.com/office/drawing/2014/main" id="{6FDAE05F-CB08-4CB8-9BF2-6B943A1CE19D}"/>
              </a:ext>
            </a:extLst>
          </p:cNvPr>
          <p:cNvSpPr>
            <a:spLocks xmlns:a="http://schemas.openxmlformats.org/drawingml/2006/main" noGrp="1"/>
          </p:cNvSpPr>
          <p:nvPr/>
        </p:nvSpPr>
        <p:spPr>
          <a:xfrm xmlns:a="http://schemas.openxmlformats.org/drawingml/2006/main">
            <a:off x="7452360" y="2724912"/>
            <a:ext cx="3657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E31E24"/>
                </a:solidFill>
              </a:rPr>
              <a:t>↓</a:t>
            </a:r>
          </a:p>
        </p:txBody>
      </p:sp>
      <p:sp>
        <p:nvSpPr>
          <p:cNvPr id="26" name="Text 23">
            <a:extLst xmlns:a="http://schemas.openxmlformats.org/drawingml/2006/main">
              <a:ext uri="{FF2B5EF4-FFF2-40B4-BE49-F238E27FC236}">
                <a16:creationId xmlns:a16="http://schemas.microsoft.com/office/drawing/2014/main" id="{44C6C5AA-C47D-4B61-A75B-865EB715E048}"/>
              </a:ext>
            </a:extLst>
          </p:cNvPr>
          <p:cNvSpPr>
            <a:spLocks xmlns:a="http://schemas.openxmlformats.org/drawingml/2006/main" noGrp="1"/>
          </p:cNvSpPr>
          <p:nvPr/>
        </p:nvSpPr>
        <p:spPr>
          <a:xfrm xmlns:a="http://schemas.openxmlformats.org/drawingml/2006/main">
            <a:off x="4983480" y="3931920"/>
            <a:ext cx="34747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i="1">
                <a:solidFill>
                  <a:srgbClr val="7F8C8D"/>
                </a:solidFill>
                <a:latin typeface="Arial"/>
                <a:ea typeface="Arial"/>
                <a:cs typeface="Arial"/>
              </a:rPr>
              <a:t>silver + audit run IN PARALLEL — no edge between them</a:t>
            </a:r>
          </a:p>
        </p:txBody>
      </p:sp>
    </p:spTree>
    <p:extLst>
      <p:ext uri="{BB962C8B-B14F-4D97-AF65-F5344CB8AC3E}">
        <p14:creationId xmlns:p14="http://schemas.microsoft.com/office/powerpoint/2010/main" val="860079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899E38-845E-4582-B92B-85CBC24C5B69}"/>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VERBATIM LIST</a:t>
            </a:r>
          </a:p>
        </p:txBody>
      </p:sp>
      <p:sp>
        <p:nvSpPr>
          <p:cNvPr id="3" name="Text 1">
            <a:extLst xmlns:a="http://schemas.openxmlformats.org/drawingml/2006/main">
              <a:ext uri="{FF2B5EF4-FFF2-40B4-BE49-F238E27FC236}">
                <a16:creationId xmlns:a16="http://schemas.microsoft.com/office/drawing/2014/main" id="{6AB84D64-69B0-4890-8800-C6260C2610A9}"/>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Task types: what a box can be</a:t>
            </a:r>
          </a:p>
        </p:txBody>
      </p:sp>
      <p:sp>
        <p:nvSpPr>
          <p:cNvPr id="4" name="Text 2">
            <a:extLst xmlns:a="http://schemas.openxmlformats.org/drawingml/2006/main">
              <a:ext uri="{FF2B5EF4-FFF2-40B4-BE49-F238E27FC236}">
                <a16:creationId xmlns:a16="http://schemas.microsoft.com/office/drawing/2014/main" id="{9622EFE0-074C-4953-8A71-D233A3E2DA8A}"/>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5619E180-5427-4A0C-BCCE-3739F6034224}"/>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4</a:t>
            </a:r>
          </a:p>
        </p:txBody>
      </p:sp>
      <p:sp>
        <p:nvSpPr>
          <p:cNvPr id="7" name="Shape 4">
            <a:extLst xmlns:a="http://schemas.openxmlformats.org/drawingml/2006/main">
              <a:ext uri="{FF2B5EF4-FFF2-40B4-BE49-F238E27FC236}">
                <a16:creationId xmlns:a16="http://schemas.microsoft.com/office/drawing/2014/main" id="{77A2A7CD-3713-4999-A7AC-E748492D17CC}"/>
              </a:ext>
            </a:extLst>
          </p:cNvPr>
          <p:cNvSpPr>
            <a:spLocks xmlns:a="http://schemas.openxmlformats.org/drawingml/2006/main" noGrp="1"/>
          </p:cNvSpPr>
          <p:nvPr/>
        </p:nvSpPr>
        <p:spPr>
          <a:xfrm xmlns:a="http://schemas.openxmlformats.org/drawingml/2006/main">
            <a:off x="502920" y="1325880"/>
            <a:ext cx="3954780" cy="1207008"/>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8" name="Shape 5">
            <a:extLst xmlns:a="http://schemas.openxmlformats.org/drawingml/2006/main">
              <a:ext uri="{FF2B5EF4-FFF2-40B4-BE49-F238E27FC236}">
                <a16:creationId xmlns:a16="http://schemas.microsoft.com/office/drawing/2014/main" id="{BD9B600E-EE21-4529-9799-66B8D079D987}"/>
              </a:ext>
            </a:extLst>
          </p:cNvPr>
          <p:cNvSpPr>
            <a:spLocks xmlns:a="http://schemas.openxmlformats.org/drawingml/2006/main" noGrp="1"/>
          </p:cNvSpPr>
          <p:nvPr/>
        </p:nvSpPr>
        <p:spPr>
          <a:xfrm xmlns:a="http://schemas.openxmlformats.org/drawingml/2006/main">
            <a:off x="502920" y="1325880"/>
            <a:ext cx="64008" cy="1207008"/>
          </a:xfrm>
          <a:prstGeom xmlns:a="http://schemas.openxmlformats.org/drawingml/2006/main" prst="rect">
            <a:avLst/>
          </a:prstGeom>
          <a:solidFill xmlns:a="http://schemas.openxmlformats.org/drawingml/2006/main">
            <a:srgbClr val="E31E24"/>
          </a:solidFill>
        </p:spPr>
      </p:sp>
      <p:sp>
        <p:nvSpPr>
          <p:cNvPr id="9" name="Text 6">
            <a:extLst xmlns:a="http://schemas.openxmlformats.org/drawingml/2006/main">
              <a:ext uri="{FF2B5EF4-FFF2-40B4-BE49-F238E27FC236}">
                <a16:creationId xmlns:a16="http://schemas.microsoft.com/office/drawing/2014/main" id="{AF69FB40-ABFF-4EBA-A288-CD6737EEA2D5}"/>
              </a:ext>
            </a:extLst>
          </p:cNvPr>
          <p:cNvSpPr>
            <a:spLocks xmlns:a="http://schemas.openxmlformats.org/drawingml/2006/main" noGrp="1"/>
          </p:cNvSpPr>
          <p:nvPr/>
        </p:nvSpPr>
        <p:spPr>
          <a:xfrm xmlns:a="http://schemas.openxmlformats.org/drawingml/2006/main">
            <a:off x="68580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1</a:t>
            </a:r>
          </a:p>
        </p:txBody>
      </p:sp>
      <p:sp>
        <p:nvSpPr>
          <p:cNvPr id="10" name="Text 7">
            <a:extLst xmlns:a="http://schemas.openxmlformats.org/drawingml/2006/main">
              <a:ext uri="{FF2B5EF4-FFF2-40B4-BE49-F238E27FC236}">
                <a16:creationId xmlns:a16="http://schemas.microsoft.com/office/drawing/2014/main" id="{076D2164-3F3B-4359-BDE3-8F64CE6B7F8D}"/>
              </a:ext>
            </a:extLst>
          </p:cNvPr>
          <p:cNvSpPr>
            <a:spLocks xmlns:a="http://schemas.openxmlformats.org/drawingml/2006/main" noGrp="1"/>
          </p:cNvSpPr>
          <p:nvPr/>
        </p:nvSpPr>
        <p:spPr>
          <a:xfrm xmlns:a="http://schemas.openxmlformats.org/drawingml/2006/main">
            <a:off x="68580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Notebook task</a:t>
            </a:r>
          </a:p>
        </p:txBody>
      </p:sp>
      <p:sp>
        <p:nvSpPr>
          <p:cNvPr id="11" name="Text 8">
            <a:extLst xmlns:a="http://schemas.openxmlformats.org/drawingml/2006/main">
              <a:ext uri="{FF2B5EF4-FFF2-40B4-BE49-F238E27FC236}">
                <a16:creationId xmlns:a16="http://schemas.microsoft.com/office/drawing/2014/main" id="{CEBBB5B0-FC9B-47A4-9046-DE5283EA7F9C}"/>
              </a:ext>
            </a:extLst>
          </p:cNvPr>
          <p:cNvSpPr>
            <a:spLocks xmlns:a="http://schemas.openxmlformats.org/drawingml/2006/main" noGrp="1"/>
          </p:cNvSpPr>
          <p:nvPr/>
        </p:nvSpPr>
        <p:spPr>
          <a:xfrm xmlns:a="http://schemas.openxmlformats.org/drawingml/2006/main">
            <a:off x="685800" y="2093976"/>
            <a:ext cx="360730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Transformation logic in Python/SQL — the workhorse.</a:t>
            </a:r>
          </a:p>
        </p:txBody>
      </p:sp>
      <p:sp>
        <p:nvSpPr>
          <p:cNvPr id="12" name="Shape 9">
            <a:extLst xmlns:a="http://schemas.openxmlformats.org/drawingml/2006/main">
              <a:ext uri="{FF2B5EF4-FFF2-40B4-BE49-F238E27FC236}">
                <a16:creationId xmlns:a16="http://schemas.microsoft.com/office/drawing/2014/main" id="{ACC7311F-5FC8-4B92-8118-AD35218DA3F5}"/>
              </a:ext>
            </a:extLst>
          </p:cNvPr>
          <p:cNvSpPr>
            <a:spLocks xmlns:a="http://schemas.openxmlformats.org/drawingml/2006/main" noGrp="1"/>
          </p:cNvSpPr>
          <p:nvPr/>
        </p:nvSpPr>
        <p:spPr>
          <a:xfrm xmlns:a="http://schemas.openxmlformats.org/drawingml/2006/main">
            <a:off x="4686300" y="1325880"/>
            <a:ext cx="3954780" cy="1207008"/>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3" name="Shape 10">
            <a:extLst xmlns:a="http://schemas.openxmlformats.org/drawingml/2006/main">
              <a:ext uri="{FF2B5EF4-FFF2-40B4-BE49-F238E27FC236}">
                <a16:creationId xmlns:a16="http://schemas.microsoft.com/office/drawing/2014/main" id="{F3F1AAED-EE12-4D07-8718-5E5071395A00}"/>
              </a:ext>
            </a:extLst>
          </p:cNvPr>
          <p:cNvSpPr>
            <a:spLocks xmlns:a="http://schemas.openxmlformats.org/drawingml/2006/main" noGrp="1"/>
          </p:cNvSpPr>
          <p:nvPr/>
        </p:nvSpPr>
        <p:spPr>
          <a:xfrm xmlns:a="http://schemas.openxmlformats.org/drawingml/2006/main">
            <a:off x="4686300" y="1325880"/>
            <a:ext cx="64008" cy="1207008"/>
          </a:xfrm>
          <a:prstGeom xmlns:a="http://schemas.openxmlformats.org/drawingml/2006/main" prst="rect">
            <a:avLst/>
          </a:prstGeom>
          <a:solidFill xmlns:a="http://schemas.openxmlformats.org/drawingml/2006/main">
            <a:srgbClr val="E31E24"/>
          </a:solidFill>
        </p:spPr>
      </p:sp>
      <p:sp>
        <p:nvSpPr>
          <p:cNvPr id="14" name="Text 11">
            <a:extLst xmlns:a="http://schemas.openxmlformats.org/drawingml/2006/main">
              <a:ext uri="{FF2B5EF4-FFF2-40B4-BE49-F238E27FC236}">
                <a16:creationId xmlns:a16="http://schemas.microsoft.com/office/drawing/2014/main" id="{51629078-125B-4004-8B71-CA8B54FCDCD7}"/>
              </a:ext>
            </a:extLst>
          </p:cNvPr>
          <p:cNvSpPr>
            <a:spLocks xmlns:a="http://schemas.openxmlformats.org/drawingml/2006/main" noGrp="1"/>
          </p:cNvSpPr>
          <p:nvPr/>
        </p:nvSpPr>
        <p:spPr>
          <a:xfrm xmlns:a="http://schemas.openxmlformats.org/drawingml/2006/main">
            <a:off x="486918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2</a:t>
            </a:r>
          </a:p>
        </p:txBody>
      </p:sp>
      <p:sp>
        <p:nvSpPr>
          <p:cNvPr id="15" name="Text 12">
            <a:extLst xmlns:a="http://schemas.openxmlformats.org/drawingml/2006/main">
              <a:ext uri="{FF2B5EF4-FFF2-40B4-BE49-F238E27FC236}">
                <a16:creationId xmlns:a16="http://schemas.microsoft.com/office/drawing/2014/main" id="{431FC346-BD13-4953-87C3-DA89E2AA339C}"/>
              </a:ext>
            </a:extLst>
          </p:cNvPr>
          <p:cNvSpPr>
            <a:spLocks xmlns:a="http://schemas.openxmlformats.org/drawingml/2006/main" noGrp="1"/>
          </p:cNvSpPr>
          <p:nvPr/>
        </p:nvSpPr>
        <p:spPr>
          <a:xfrm xmlns:a="http://schemas.openxmlformats.org/drawingml/2006/main">
            <a:off x="486918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SQL task</a:t>
            </a:r>
          </a:p>
        </p:txBody>
      </p:sp>
      <p:sp>
        <p:nvSpPr>
          <p:cNvPr id="16" name="Text 13">
            <a:extLst xmlns:a="http://schemas.openxmlformats.org/drawingml/2006/main">
              <a:ext uri="{FF2B5EF4-FFF2-40B4-BE49-F238E27FC236}">
                <a16:creationId xmlns:a16="http://schemas.microsoft.com/office/drawing/2014/main" id="{70141FD4-5902-4A10-91D1-1CFC02F30570}"/>
              </a:ext>
            </a:extLst>
          </p:cNvPr>
          <p:cNvSpPr>
            <a:spLocks xmlns:a="http://schemas.openxmlformats.org/drawingml/2006/main" noGrp="1"/>
          </p:cNvSpPr>
          <p:nvPr/>
        </p:nvSpPr>
        <p:spPr>
          <a:xfrm xmlns:a="http://schemas.openxmlformats.org/drawingml/2006/main">
            <a:off x="4869180" y="2093976"/>
            <a:ext cx="360730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Query, file, or alert on a SQL warehouse — warehouse-bound work.</a:t>
            </a:r>
          </a:p>
        </p:txBody>
      </p:sp>
      <p:sp>
        <p:nvSpPr>
          <p:cNvPr id="17" name="Shape 14">
            <a:extLst xmlns:a="http://schemas.openxmlformats.org/drawingml/2006/main">
              <a:ext uri="{FF2B5EF4-FFF2-40B4-BE49-F238E27FC236}">
                <a16:creationId xmlns:a16="http://schemas.microsoft.com/office/drawing/2014/main" id="{09B45941-4913-46A7-8DC8-61A50D0953A2}"/>
              </a:ext>
            </a:extLst>
          </p:cNvPr>
          <p:cNvSpPr>
            <a:spLocks xmlns:a="http://schemas.openxmlformats.org/drawingml/2006/main" noGrp="1"/>
          </p:cNvSpPr>
          <p:nvPr/>
        </p:nvSpPr>
        <p:spPr>
          <a:xfrm xmlns:a="http://schemas.openxmlformats.org/drawingml/2006/main">
            <a:off x="502920" y="2761488"/>
            <a:ext cx="3954780" cy="1207008"/>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8" name="Shape 15">
            <a:extLst xmlns:a="http://schemas.openxmlformats.org/drawingml/2006/main">
              <a:ext uri="{FF2B5EF4-FFF2-40B4-BE49-F238E27FC236}">
                <a16:creationId xmlns:a16="http://schemas.microsoft.com/office/drawing/2014/main" id="{503F383D-D349-4185-BFCF-4339D342BF3B}"/>
              </a:ext>
            </a:extLst>
          </p:cNvPr>
          <p:cNvSpPr>
            <a:spLocks xmlns:a="http://schemas.openxmlformats.org/drawingml/2006/main" noGrp="1"/>
          </p:cNvSpPr>
          <p:nvPr/>
        </p:nvSpPr>
        <p:spPr>
          <a:xfrm xmlns:a="http://schemas.openxmlformats.org/drawingml/2006/main">
            <a:off x="502920" y="2761488"/>
            <a:ext cx="64008" cy="1207008"/>
          </a:xfrm>
          <a:prstGeom xmlns:a="http://schemas.openxmlformats.org/drawingml/2006/main" prst="rect">
            <a:avLst/>
          </a:prstGeom>
          <a:solidFill xmlns:a="http://schemas.openxmlformats.org/drawingml/2006/main">
            <a:srgbClr val="E31E24"/>
          </a:solidFill>
        </p:spPr>
      </p:sp>
      <p:sp>
        <p:nvSpPr>
          <p:cNvPr id="19" name="Text 16">
            <a:extLst xmlns:a="http://schemas.openxmlformats.org/drawingml/2006/main">
              <a:ext uri="{FF2B5EF4-FFF2-40B4-BE49-F238E27FC236}">
                <a16:creationId xmlns:a16="http://schemas.microsoft.com/office/drawing/2014/main" id="{BD334911-5864-4FA0-B9AD-96F2D5C7DD64}"/>
              </a:ext>
            </a:extLst>
          </p:cNvPr>
          <p:cNvSpPr>
            <a:spLocks xmlns:a="http://schemas.openxmlformats.org/drawingml/2006/main" noGrp="1"/>
          </p:cNvSpPr>
          <p:nvPr/>
        </p:nvSpPr>
        <p:spPr>
          <a:xfrm xmlns:a="http://schemas.openxmlformats.org/drawingml/2006/main">
            <a:off x="685800" y="2871216"/>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3</a:t>
            </a:r>
          </a:p>
        </p:txBody>
      </p:sp>
      <p:sp>
        <p:nvSpPr>
          <p:cNvPr id="20" name="Text 17">
            <a:extLst xmlns:a="http://schemas.openxmlformats.org/drawingml/2006/main">
              <a:ext uri="{FF2B5EF4-FFF2-40B4-BE49-F238E27FC236}">
                <a16:creationId xmlns:a16="http://schemas.microsoft.com/office/drawing/2014/main" id="{82D4FA41-357A-4ABF-A3E5-1EA1FBEFC682}"/>
              </a:ext>
            </a:extLst>
          </p:cNvPr>
          <p:cNvSpPr>
            <a:spLocks xmlns:a="http://schemas.openxmlformats.org/drawingml/2006/main" noGrp="1"/>
          </p:cNvSpPr>
          <p:nvPr/>
        </p:nvSpPr>
        <p:spPr>
          <a:xfrm xmlns:a="http://schemas.openxmlformats.org/drawingml/2006/main">
            <a:off x="685800" y="3182112"/>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Dashboard task</a:t>
            </a:r>
          </a:p>
        </p:txBody>
      </p:sp>
      <p:sp>
        <p:nvSpPr>
          <p:cNvPr id="21" name="Text 18">
            <a:extLst xmlns:a="http://schemas.openxmlformats.org/drawingml/2006/main">
              <a:ext uri="{FF2B5EF4-FFF2-40B4-BE49-F238E27FC236}">
                <a16:creationId xmlns:a16="http://schemas.microsoft.com/office/drawing/2014/main" id="{03C7814B-2A09-4513-98EB-9EF4087001D6}"/>
              </a:ext>
            </a:extLst>
          </p:cNvPr>
          <p:cNvSpPr>
            <a:spLocks xmlns:a="http://schemas.openxmlformats.org/drawingml/2006/main" noGrp="1"/>
          </p:cNvSpPr>
          <p:nvPr/>
        </p:nvSpPr>
        <p:spPr>
          <a:xfrm xmlns:a="http://schemas.openxmlformats.org/drawingml/2006/main">
            <a:off x="685800" y="3529584"/>
            <a:ext cx="360730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Refresh a dashboard after the load — BI freshness as a DAG node.</a:t>
            </a:r>
          </a:p>
        </p:txBody>
      </p:sp>
      <p:sp>
        <p:nvSpPr>
          <p:cNvPr id="22" name="Shape 19">
            <a:extLst xmlns:a="http://schemas.openxmlformats.org/drawingml/2006/main">
              <a:ext uri="{FF2B5EF4-FFF2-40B4-BE49-F238E27FC236}">
                <a16:creationId xmlns:a16="http://schemas.microsoft.com/office/drawing/2014/main" id="{F8234DED-6080-4706-A2D5-03DAF299102A}"/>
              </a:ext>
            </a:extLst>
          </p:cNvPr>
          <p:cNvSpPr>
            <a:spLocks xmlns:a="http://schemas.openxmlformats.org/drawingml/2006/main" noGrp="1"/>
          </p:cNvSpPr>
          <p:nvPr/>
        </p:nvSpPr>
        <p:spPr>
          <a:xfrm xmlns:a="http://schemas.openxmlformats.org/drawingml/2006/main">
            <a:off x="4686300" y="2761488"/>
            <a:ext cx="3954780" cy="1207008"/>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23" name="Shape 20">
            <a:extLst xmlns:a="http://schemas.openxmlformats.org/drawingml/2006/main">
              <a:ext uri="{FF2B5EF4-FFF2-40B4-BE49-F238E27FC236}">
                <a16:creationId xmlns:a16="http://schemas.microsoft.com/office/drawing/2014/main" id="{33100784-AEA6-4FBE-9BBF-2F12E53EABB7}"/>
              </a:ext>
            </a:extLst>
          </p:cNvPr>
          <p:cNvSpPr>
            <a:spLocks xmlns:a="http://schemas.openxmlformats.org/drawingml/2006/main" noGrp="1"/>
          </p:cNvSpPr>
          <p:nvPr/>
        </p:nvSpPr>
        <p:spPr>
          <a:xfrm xmlns:a="http://schemas.openxmlformats.org/drawingml/2006/main">
            <a:off x="4686300" y="2761488"/>
            <a:ext cx="64008" cy="1207008"/>
          </a:xfrm>
          <a:prstGeom xmlns:a="http://schemas.openxmlformats.org/drawingml/2006/main" prst="rect">
            <a:avLst/>
          </a:prstGeom>
          <a:solidFill xmlns:a="http://schemas.openxmlformats.org/drawingml/2006/main">
            <a:srgbClr val="E31E24"/>
          </a:solidFill>
        </p:spPr>
      </p:sp>
      <p:sp>
        <p:nvSpPr>
          <p:cNvPr id="24" name="Text 21">
            <a:extLst xmlns:a="http://schemas.openxmlformats.org/drawingml/2006/main">
              <a:ext uri="{FF2B5EF4-FFF2-40B4-BE49-F238E27FC236}">
                <a16:creationId xmlns:a16="http://schemas.microsoft.com/office/drawing/2014/main" id="{1E38C3FC-A88E-4508-A856-E25FD56F3B44}"/>
              </a:ext>
            </a:extLst>
          </p:cNvPr>
          <p:cNvSpPr>
            <a:spLocks xmlns:a="http://schemas.openxmlformats.org/drawingml/2006/main" noGrp="1"/>
          </p:cNvSpPr>
          <p:nvPr/>
        </p:nvSpPr>
        <p:spPr>
          <a:xfrm xmlns:a="http://schemas.openxmlformats.org/drawingml/2006/main">
            <a:off x="4869180" y="2871216"/>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4</a:t>
            </a:r>
          </a:p>
        </p:txBody>
      </p:sp>
      <p:sp>
        <p:nvSpPr>
          <p:cNvPr id="25" name="Text 22">
            <a:extLst xmlns:a="http://schemas.openxmlformats.org/drawingml/2006/main">
              <a:ext uri="{FF2B5EF4-FFF2-40B4-BE49-F238E27FC236}">
                <a16:creationId xmlns:a16="http://schemas.microsoft.com/office/drawing/2014/main" id="{3D2690A4-6FF5-433E-8A9F-062DA1374797}"/>
              </a:ext>
            </a:extLst>
          </p:cNvPr>
          <p:cNvSpPr>
            <a:spLocks xmlns:a="http://schemas.openxmlformats.org/drawingml/2006/main" noGrp="1"/>
          </p:cNvSpPr>
          <p:nvPr/>
        </p:nvSpPr>
        <p:spPr>
          <a:xfrm xmlns:a="http://schemas.openxmlformats.org/drawingml/2006/main">
            <a:off x="4869180" y="3182112"/>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Pipeline task</a:t>
            </a:r>
          </a:p>
        </p:txBody>
      </p:sp>
      <p:sp>
        <p:nvSpPr>
          <p:cNvPr id="26" name="Text 23">
            <a:extLst xmlns:a="http://schemas.openxmlformats.org/drawingml/2006/main">
              <a:ext uri="{FF2B5EF4-FFF2-40B4-BE49-F238E27FC236}">
                <a16:creationId xmlns:a16="http://schemas.microsoft.com/office/drawing/2014/main" id="{85AB54B3-DB66-4B52-A668-A2ADFECA2ECE}"/>
              </a:ext>
            </a:extLst>
          </p:cNvPr>
          <p:cNvSpPr>
            <a:spLocks xmlns:a="http://schemas.openxmlformats.org/drawingml/2006/main" noGrp="1"/>
          </p:cNvSpPr>
          <p:nvPr/>
        </p:nvSpPr>
        <p:spPr>
          <a:xfrm xmlns:a="http://schemas.openxmlformats.org/drawingml/2006/main">
            <a:off x="4869180" y="3529584"/>
            <a:ext cx="3607308" cy="338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Run a Lakeflow Spark Declarative Pipeline inside the bigger DAG.</a:t>
            </a:r>
          </a:p>
        </p:txBody>
      </p:sp>
      <p:sp>
        <p:nvSpPr>
          <p:cNvPr id="27" name="Shape 24">
            <a:extLst xmlns:a="http://schemas.openxmlformats.org/drawingml/2006/main">
              <a:ext uri="{FF2B5EF4-FFF2-40B4-BE49-F238E27FC236}">
                <a16:creationId xmlns:a16="http://schemas.microsoft.com/office/drawing/2014/main" id="{BC62F6A9-E58B-42DE-8901-0CF5B01A8994}"/>
              </a:ext>
            </a:extLst>
          </p:cNvPr>
          <p:cNvSpPr>
            <a:spLocks xmlns:a="http://schemas.openxmlformats.org/drawingml/2006/main" noGrp="1"/>
          </p:cNvSpPr>
          <p:nvPr/>
        </p:nvSpPr>
        <p:spPr>
          <a:xfrm xmlns:a="http://schemas.openxmlformats.org/drawingml/2006/main">
            <a:off x="502920" y="3931920"/>
            <a:ext cx="8138160" cy="713232"/>
          </a:xfrm>
          <a:prstGeom xmlns:a="http://schemas.openxmlformats.org/drawingml/2006/main" prst="rect">
            <a:avLst/>
          </a:prstGeom>
          <a:solidFill xmlns:a="http://schemas.openxmlformats.org/drawingml/2006/main">
            <a:srgbClr val="FDF3F3"/>
          </a:solidFill>
        </p:spPr>
      </p:sp>
      <p:sp>
        <p:nvSpPr>
          <p:cNvPr id="28" name="Shape 25">
            <a:extLst xmlns:a="http://schemas.openxmlformats.org/drawingml/2006/main">
              <a:ext uri="{FF2B5EF4-FFF2-40B4-BE49-F238E27FC236}">
                <a16:creationId xmlns:a16="http://schemas.microsoft.com/office/drawing/2014/main" id="{4F814508-3467-4BC8-B80E-0D58E7F202B0}"/>
              </a:ext>
            </a:extLst>
          </p:cNvPr>
          <p:cNvSpPr>
            <a:spLocks xmlns:a="http://schemas.openxmlformats.org/drawingml/2006/main" noGrp="1"/>
          </p:cNvSpPr>
          <p:nvPr/>
        </p:nvSpPr>
        <p:spPr>
          <a:xfrm xmlns:a="http://schemas.openxmlformats.org/drawingml/2006/main">
            <a:off x="502920" y="3931920"/>
            <a:ext cx="54864" cy="713232"/>
          </a:xfrm>
          <a:prstGeom xmlns:a="http://schemas.openxmlformats.org/drawingml/2006/main" prst="rect">
            <a:avLst/>
          </a:prstGeom>
          <a:solidFill xmlns:a="http://schemas.openxmlformats.org/drawingml/2006/main">
            <a:srgbClr val="E31E24"/>
          </a:solidFill>
        </p:spPr>
      </p:sp>
      <p:sp>
        <p:nvSpPr>
          <p:cNvPr id="29" name="Text 26">
            <a:extLst xmlns:a="http://schemas.openxmlformats.org/drawingml/2006/main">
              <a:ext uri="{FF2B5EF4-FFF2-40B4-BE49-F238E27FC236}">
                <a16:creationId xmlns:a16="http://schemas.microsoft.com/office/drawing/2014/main" id="{893FD8E7-E1DA-4C5E-ACD1-256C1CF9AB36}"/>
              </a:ext>
            </a:extLst>
          </p:cNvPr>
          <p:cNvSpPr>
            <a:spLocks xmlns:a="http://schemas.openxmlformats.org/drawingml/2006/main" noGrp="1"/>
          </p:cNvSpPr>
          <p:nvPr/>
        </p:nvSpPr>
        <p:spPr>
          <a:xfrm xmlns:a="http://schemas.openxmlformats.org/drawingml/2006/main">
            <a:off x="704088" y="3986784"/>
            <a:ext cx="77724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ALSO RECOGNIZE ON SIGHT   </a:t>
            </a:r>
            <a:r>
              <a:rPr sz="1100">
                <a:solidFill>
                  <a:srgbClr val="2C3E50"/>
                </a:solidFill>
                <a:latin typeface="Arial"/>
                <a:ea typeface="Arial"/>
                <a:cs typeface="Arial"/>
              </a:rPr>
              <a:t>Python script / wheel · JAR · dbt · run-job (job calls job — the modularization pattern) · if/else · for-each. The exam names the four above; the rest appear as plausible options.</a:t>
            </a:r>
          </a:p>
        </p:txBody>
      </p:sp>
    </p:spTree>
    <p:extLst>
      <p:ext uri="{BB962C8B-B14F-4D97-AF65-F5344CB8AC3E}">
        <p14:creationId xmlns:p14="http://schemas.microsoft.com/office/powerpoint/2010/main" val="6653165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061278-059C-4083-B355-B3ABED6EC666}"/>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VERBATIM OBJECTIVE</a:t>
            </a:r>
          </a:p>
        </p:txBody>
      </p:sp>
      <p:sp>
        <p:nvSpPr>
          <p:cNvPr id="3" name="Text 1">
            <a:extLst xmlns:a="http://schemas.openxmlformats.org/drawingml/2006/main">
              <a:ext uri="{FF2B5EF4-FFF2-40B4-BE49-F238E27FC236}">
                <a16:creationId xmlns:a16="http://schemas.microsoft.com/office/drawing/2014/main" id="{78E5D2BF-AEF6-44A9-9792-6DED87CF59A0}"/>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Control flow: retries, run-if, branch, loop</a:t>
            </a:r>
          </a:p>
        </p:txBody>
      </p:sp>
      <p:sp>
        <p:nvSpPr>
          <p:cNvPr id="4" name="Text 2">
            <a:extLst xmlns:a="http://schemas.openxmlformats.org/drawingml/2006/main">
              <a:ext uri="{FF2B5EF4-FFF2-40B4-BE49-F238E27FC236}">
                <a16:creationId xmlns:a16="http://schemas.microsoft.com/office/drawing/2014/main" id="{9F16D3A4-DCA4-493D-96E9-8166D0B4EDDD}"/>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14C85D37-C95A-4C2E-A421-215A6DC3E0DE}"/>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5</a:t>
            </a:r>
          </a:p>
        </p:txBody>
      </p:sp>
      <p:sp>
        <p:nvSpPr>
          <p:cNvPr id="7" name="Shape 4">
            <a:extLst xmlns:a="http://schemas.openxmlformats.org/drawingml/2006/main">
              <a:ext uri="{FF2B5EF4-FFF2-40B4-BE49-F238E27FC236}">
                <a16:creationId xmlns:a16="http://schemas.microsoft.com/office/drawing/2014/main" id="{4A27E9CC-BBBE-47AC-A53A-718C6C639069}"/>
              </a:ext>
            </a:extLst>
          </p:cNvPr>
          <p:cNvSpPr>
            <a:spLocks xmlns:a="http://schemas.openxmlformats.org/drawingml/2006/main" noGrp="1"/>
          </p:cNvSpPr>
          <p:nvPr/>
        </p:nvSpPr>
        <p:spPr>
          <a:xfrm xmlns:a="http://schemas.openxmlformats.org/drawingml/2006/main">
            <a:off x="502920" y="132588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8" name="Shape 5">
            <a:extLst xmlns:a="http://schemas.openxmlformats.org/drawingml/2006/main">
              <a:ext uri="{FF2B5EF4-FFF2-40B4-BE49-F238E27FC236}">
                <a16:creationId xmlns:a16="http://schemas.microsoft.com/office/drawing/2014/main" id="{DE1CC4F5-52CC-449A-A0CD-D4E6516558F3}"/>
              </a:ext>
            </a:extLst>
          </p:cNvPr>
          <p:cNvSpPr>
            <a:spLocks xmlns:a="http://schemas.openxmlformats.org/drawingml/2006/main" noGrp="1"/>
          </p:cNvSpPr>
          <p:nvPr/>
        </p:nvSpPr>
        <p:spPr>
          <a:xfrm xmlns:a="http://schemas.openxmlformats.org/drawingml/2006/main">
            <a:off x="502920" y="1325880"/>
            <a:ext cx="64008" cy="1325880"/>
          </a:xfrm>
          <a:prstGeom xmlns:a="http://schemas.openxmlformats.org/drawingml/2006/main" prst="rect">
            <a:avLst/>
          </a:prstGeom>
          <a:solidFill xmlns:a="http://schemas.openxmlformats.org/drawingml/2006/main">
            <a:srgbClr val="E31E24"/>
          </a:solidFill>
        </p:spPr>
      </p:sp>
      <p:sp>
        <p:nvSpPr>
          <p:cNvPr id="9" name="Text 6">
            <a:extLst xmlns:a="http://schemas.openxmlformats.org/drawingml/2006/main">
              <a:ext uri="{FF2B5EF4-FFF2-40B4-BE49-F238E27FC236}">
                <a16:creationId xmlns:a16="http://schemas.microsoft.com/office/drawing/2014/main" id="{B3744F6E-B552-41A4-8055-B6C444B3408D}"/>
              </a:ext>
            </a:extLst>
          </p:cNvPr>
          <p:cNvSpPr>
            <a:spLocks xmlns:a="http://schemas.openxmlformats.org/drawingml/2006/main" noGrp="1"/>
          </p:cNvSpPr>
          <p:nvPr/>
        </p:nvSpPr>
        <p:spPr>
          <a:xfrm xmlns:a="http://schemas.openxmlformats.org/drawingml/2006/main">
            <a:off x="68580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a:t>
            </a:r>
          </a:p>
        </p:txBody>
      </p:sp>
      <p:sp>
        <p:nvSpPr>
          <p:cNvPr id="10" name="Text 7">
            <a:extLst xmlns:a="http://schemas.openxmlformats.org/drawingml/2006/main">
              <a:ext uri="{FF2B5EF4-FFF2-40B4-BE49-F238E27FC236}">
                <a16:creationId xmlns:a16="http://schemas.microsoft.com/office/drawing/2014/main" id="{1433ADDE-56F1-477D-B6CA-C7E0FFBD6F0B}"/>
              </a:ext>
            </a:extLst>
          </p:cNvPr>
          <p:cNvSpPr>
            <a:spLocks xmlns:a="http://schemas.openxmlformats.org/drawingml/2006/main" noGrp="1"/>
          </p:cNvSpPr>
          <p:nvPr/>
        </p:nvSpPr>
        <p:spPr>
          <a:xfrm xmlns:a="http://schemas.openxmlformats.org/drawingml/2006/main">
            <a:off x="68580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Retries</a:t>
            </a:r>
          </a:p>
        </p:txBody>
      </p:sp>
      <p:sp>
        <p:nvSpPr>
          <p:cNvPr id="11" name="Text 8">
            <a:extLst xmlns:a="http://schemas.openxmlformats.org/drawingml/2006/main">
              <a:ext uri="{FF2B5EF4-FFF2-40B4-BE49-F238E27FC236}">
                <a16:creationId xmlns:a16="http://schemas.microsoft.com/office/drawing/2014/main" id="{D86336F9-6E74-4341-9ED6-CC2C703E2291}"/>
              </a:ext>
            </a:extLst>
          </p:cNvPr>
          <p:cNvSpPr>
            <a:spLocks xmlns:a="http://schemas.openxmlformats.org/drawingml/2006/main" noGrp="1"/>
          </p:cNvSpPr>
          <p:nvPr/>
        </p:nvSpPr>
        <p:spPr>
          <a:xfrm xmlns:a="http://schemas.openxmlformats.org/drawingml/2006/main">
            <a:off x="685800" y="209397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Per-task max retries + interval. Fixes TRANSIENT failures — flaky APIs, network blips. Cannot fix a bug.</a:t>
            </a:r>
          </a:p>
        </p:txBody>
      </p:sp>
      <p:sp>
        <p:nvSpPr>
          <p:cNvPr id="12" name="Shape 9">
            <a:extLst xmlns:a="http://schemas.openxmlformats.org/drawingml/2006/main">
              <a:ext uri="{FF2B5EF4-FFF2-40B4-BE49-F238E27FC236}">
                <a16:creationId xmlns:a16="http://schemas.microsoft.com/office/drawing/2014/main" id="{E8105745-4703-4770-AE4A-C67CE2539E82}"/>
              </a:ext>
            </a:extLst>
          </p:cNvPr>
          <p:cNvSpPr>
            <a:spLocks xmlns:a="http://schemas.openxmlformats.org/drawingml/2006/main" noGrp="1"/>
          </p:cNvSpPr>
          <p:nvPr/>
        </p:nvSpPr>
        <p:spPr>
          <a:xfrm xmlns:a="http://schemas.openxmlformats.org/drawingml/2006/main">
            <a:off x="4686300" y="132588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3" name="Shape 10">
            <a:extLst xmlns:a="http://schemas.openxmlformats.org/drawingml/2006/main">
              <a:ext uri="{FF2B5EF4-FFF2-40B4-BE49-F238E27FC236}">
                <a16:creationId xmlns:a16="http://schemas.microsoft.com/office/drawing/2014/main" id="{7FA960DA-9B0D-42EF-B52B-22ED3BD5838E}"/>
              </a:ext>
            </a:extLst>
          </p:cNvPr>
          <p:cNvSpPr>
            <a:spLocks xmlns:a="http://schemas.openxmlformats.org/drawingml/2006/main" noGrp="1"/>
          </p:cNvSpPr>
          <p:nvPr/>
        </p:nvSpPr>
        <p:spPr>
          <a:xfrm xmlns:a="http://schemas.openxmlformats.org/drawingml/2006/main">
            <a:off x="4686300" y="1325880"/>
            <a:ext cx="64008" cy="1325880"/>
          </a:xfrm>
          <a:prstGeom xmlns:a="http://schemas.openxmlformats.org/drawingml/2006/main" prst="rect">
            <a:avLst/>
          </a:prstGeom>
          <a:solidFill xmlns:a="http://schemas.openxmlformats.org/drawingml/2006/main">
            <a:srgbClr val="E31E24"/>
          </a:solidFill>
        </p:spPr>
      </p:sp>
      <p:sp>
        <p:nvSpPr>
          <p:cNvPr id="14" name="Text 11">
            <a:extLst xmlns:a="http://schemas.openxmlformats.org/drawingml/2006/main">
              <a:ext uri="{FF2B5EF4-FFF2-40B4-BE49-F238E27FC236}">
                <a16:creationId xmlns:a16="http://schemas.microsoft.com/office/drawing/2014/main" id="{7E96F2B5-6DC6-4E87-BACC-E989B150FD48}"/>
              </a:ext>
            </a:extLst>
          </p:cNvPr>
          <p:cNvSpPr>
            <a:spLocks xmlns:a="http://schemas.openxmlformats.org/drawingml/2006/main" noGrp="1"/>
          </p:cNvSpPr>
          <p:nvPr/>
        </p:nvSpPr>
        <p:spPr>
          <a:xfrm xmlns:a="http://schemas.openxmlformats.org/drawingml/2006/main">
            <a:off x="486918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a:t>
            </a:r>
          </a:p>
        </p:txBody>
      </p:sp>
      <p:sp>
        <p:nvSpPr>
          <p:cNvPr id="15" name="Text 12">
            <a:extLst xmlns:a="http://schemas.openxmlformats.org/drawingml/2006/main">
              <a:ext uri="{FF2B5EF4-FFF2-40B4-BE49-F238E27FC236}">
                <a16:creationId xmlns:a16="http://schemas.microsoft.com/office/drawing/2014/main" id="{DFBB1A83-81FD-415C-8B69-1191E9132938}"/>
              </a:ext>
            </a:extLst>
          </p:cNvPr>
          <p:cNvSpPr>
            <a:spLocks xmlns:a="http://schemas.openxmlformats.org/drawingml/2006/main" noGrp="1"/>
          </p:cNvSpPr>
          <p:nvPr/>
        </p:nvSpPr>
        <p:spPr>
          <a:xfrm xmlns:a="http://schemas.openxmlformats.org/drawingml/2006/main">
            <a:off x="486918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Run-if conditions</a:t>
            </a:r>
          </a:p>
        </p:txBody>
      </p:sp>
      <p:sp>
        <p:nvSpPr>
          <p:cNvPr id="16" name="Text 13">
            <a:extLst xmlns:a="http://schemas.openxmlformats.org/drawingml/2006/main">
              <a:ext uri="{FF2B5EF4-FFF2-40B4-BE49-F238E27FC236}">
                <a16:creationId xmlns:a16="http://schemas.microsoft.com/office/drawing/2014/main" id="{8F40434A-A0A1-4FBE-A42D-3D0F5F0132CC}"/>
              </a:ext>
            </a:extLst>
          </p:cNvPr>
          <p:cNvSpPr>
            <a:spLocks xmlns:a="http://schemas.openxmlformats.org/drawingml/2006/main" noGrp="1"/>
          </p:cNvSpPr>
          <p:nvPr/>
        </p:nvSpPr>
        <p:spPr>
          <a:xfrm xmlns:a="http://schemas.openxmlformats.org/drawingml/2006/main">
            <a:off x="4869180" y="209397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Run when dependencies succeed / fail / all done. The 'always send the status email' pattern.</a:t>
            </a:r>
          </a:p>
        </p:txBody>
      </p:sp>
      <p:sp>
        <p:nvSpPr>
          <p:cNvPr id="17" name="Shape 14">
            <a:extLst xmlns:a="http://schemas.openxmlformats.org/drawingml/2006/main">
              <a:ext uri="{FF2B5EF4-FFF2-40B4-BE49-F238E27FC236}">
                <a16:creationId xmlns:a16="http://schemas.microsoft.com/office/drawing/2014/main" id="{CF259796-7501-45EA-A123-D6DDA4A5FBD7}"/>
              </a:ext>
            </a:extLst>
          </p:cNvPr>
          <p:cNvSpPr>
            <a:spLocks xmlns:a="http://schemas.openxmlformats.org/drawingml/2006/main" noGrp="1"/>
          </p:cNvSpPr>
          <p:nvPr/>
        </p:nvSpPr>
        <p:spPr>
          <a:xfrm xmlns:a="http://schemas.openxmlformats.org/drawingml/2006/main">
            <a:off x="502920" y="288036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8" name="Shape 15">
            <a:extLst xmlns:a="http://schemas.openxmlformats.org/drawingml/2006/main">
              <a:ext uri="{FF2B5EF4-FFF2-40B4-BE49-F238E27FC236}">
                <a16:creationId xmlns:a16="http://schemas.microsoft.com/office/drawing/2014/main" id="{F01EA2F8-C953-4327-B36F-7DEDDCCD6529}"/>
              </a:ext>
            </a:extLst>
          </p:cNvPr>
          <p:cNvSpPr>
            <a:spLocks xmlns:a="http://schemas.openxmlformats.org/drawingml/2006/main" noGrp="1"/>
          </p:cNvSpPr>
          <p:nvPr/>
        </p:nvSpPr>
        <p:spPr>
          <a:xfrm xmlns:a="http://schemas.openxmlformats.org/drawingml/2006/main">
            <a:off x="502920" y="2880360"/>
            <a:ext cx="64008" cy="1325880"/>
          </a:xfrm>
          <a:prstGeom xmlns:a="http://schemas.openxmlformats.org/drawingml/2006/main" prst="rect">
            <a:avLst/>
          </a:prstGeom>
          <a:solidFill xmlns:a="http://schemas.openxmlformats.org/drawingml/2006/main">
            <a:srgbClr val="E31E24"/>
          </a:solidFill>
        </p:spPr>
      </p:sp>
      <p:sp>
        <p:nvSpPr>
          <p:cNvPr id="19" name="Text 16">
            <a:extLst xmlns:a="http://schemas.openxmlformats.org/drawingml/2006/main">
              <a:ext uri="{FF2B5EF4-FFF2-40B4-BE49-F238E27FC236}">
                <a16:creationId xmlns:a16="http://schemas.microsoft.com/office/drawing/2014/main" id="{0AE9C1E4-D51E-4327-B884-8890DBE1C7FC}"/>
              </a:ext>
            </a:extLst>
          </p:cNvPr>
          <p:cNvSpPr>
            <a:spLocks xmlns:a="http://schemas.openxmlformats.org/drawingml/2006/main" noGrp="1"/>
          </p:cNvSpPr>
          <p:nvPr/>
        </p:nvSpPr>
        <p:spPr>
          <a:xfrm xmlns:a="http://schemas.openxmlformats.org/drawingml/2006/main">
            <a:off x="685800" y="299008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a:t>
            </a:r>
          </a:p>
        </p:txBody>
      </p:sp>
      <p:sp>
        <p:nvSpPr>
          <p:cNvPr id="20" name="Text 17">
            <a:extLst xmlns:a="http://schemas.openxmlformats.org/drawingml/2006/main">
              <a:ext uri="{FF2B5EF4-FFF2-40B4-BE49-F238E27FC236}">
                <a16:creationId xmlns:a16="http://schemas.microsoft.com/office/drawing/2014/main" id="{DBEB6CD2-B524-4FF0-9BCC-9AB727E7CBF5}"/>
              </a:ext>
            </a:extLst>
          </p:cNvPr>
          <p:cNvSpPr>
            <a:spLocks xmlns:a="http://schemas.openxmlformats.org/drawingml/2006/main" noGrp="1"/>
          </p:cNvSpPr>
          <p:nvPr/>
        </p:nvSpPr>
        <p:spPr>
          <a:xfrm xmlns:a="http://schemas.openxmlformats.org/drawingml/2006/main">
            <a:off x="685800" y="330098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If / else task</a:t>
            </a:r>
          </a:p>
        </p:txBody>
      </p:sp>
      <p:sp>
        <p:nvSpPr>
          <p:cNvPr id="21" name="Text 18">
            <a:extLst xmlns:a="http://schemas.openxmlformats.org/drawingml/2006/main">
              <a:ext uri="{FF2B5EF4-FFF2-40B4-BE49-F238E27FC236}">
                <a16:creationId xmlns:a16="http://schemas.microsoft.com/office/drawing/2014/main" id="{A6B95FDD-9905-4E50-8258-7C36B0711EFB}"/>
              </a:ext>
            </a:extLst>
          </p:cNvPr>
          <p:cNvSpPr>
            <a:spLocks xmlns:a="http://schemas.openxmlformats.org/drawingml/2006/main" noGrp="1"/>
          </p:cNvSpPr>
          <p:nvPr/>
        </p:nvSpPr>
        <p:spPr>
          <a:xfrm xmlns:a="http://schemas.openxmlformats.org/drawingml/2006/main">
            <a:off x="685800" y="364845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Branch the DAG on a boolean — 'full rebuild on the 1st, incremental otherwise.'</a:t>
            </a:r>
          </a:p>
        </p:txBody>
      </p:sp>
      <p:sp>
        <p:nvSpPr>
          <p:cNvPr id="22" name="Shape 19">
            <a:extLst xmlns:a="http://schemas.openxmlformats.org/drawingml/2006/main">
              <a:ext uri="{FF2B5EF4-FFF2-40B4-BE49-F238E27FC236}">
                <a16:creationId xmlns:a16="http://schemas.microsoft.com/office/drawing/2014/main" id="{245122C9-3E6A-47E8-B0FB-BA9EE393BAC1}"/>
              </a:ext>
            </a:extLst>
          </p:cNvPr>
          <p:cNvSpPr>
            <a:spLocks xmlns:a="http://schemas.openxmlformats.org/drawingml/2006/main" noGrp="1"/>
          </p:cNvSpPr>
          <p:nvPr/>
        </p:nvSpPr>
        <p:spPr>
          <a:xfrm xmlns:a="http://schemas.openxmlformats.org/drawingml/2006/main">
            <a:off x="4686300" y="288036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23" name="Shape 20">
            <a:extLst xmlns:a="http://schemas.openxmlformats.org/drawingml/2006/main">
              <a:ext uri="{FF2B5EF4-FFF2-40B4-BE49-F238E27FC236}">
                <a16:creationId xmlns:a16="http://schemas.microsoft.com/office/drawing/2014/main" id="{6C91B6D5-DF3A-459A-8295-F0E64B10E2E2}"/>
              </a:ext>
            </a:extLst>
          </p:cNvPr>
          <p:cNvSpPr>
            <a:spLocks xmlns:a="http://schemas.openxmlformats.org/drawingml/2006/main" noGrp="1"/>
          </p:cNvSpPr>
          <p:nvPr/>
        </p:nvSpPr>
        <p:spPr>
          <a:xfrm xmlns:a="http://schemas.openxmlformats.org/drawingml/2006/main">
            <a:off x="4686300" y="2880360"/>
            <a:ext cx="64008" cy="1325880"/>
          </a:xfrm>
          <a:prstGeom xmlns:a="http://schemas.openxmlformats.org/drawingml/2006/main" prst="rect">
            <a:avLst/>
          </a:prstGeom>
          <a:solidFill xmlns:a="http://schemas.openxmlformats.org/drawingml/2006/main">
            <a:srgbClr val="E31E24"/>
          </a:solidFill>
        </p:spPr>
      </p:sp>
      <p:sp>
        <p:nvSpPr>
          <p:cNvPr id="24" name="Text 21">
            <a:extLst xmlns:a="http://schemas.openxmlformats.org/drawingml/2006/main">
              <a:ext uri="{FF2B5EF4-FFF2-40B4-BE49-F238E27FC236}">
                <a16:creationId xmlns:a16="http://schemas.microsoft.com/office/drawing/2014/main" id="{EA22FD74-6449-4A1B-89C0-1A6FE1324085}"/>
              </a:ext>
            </a:extLst>
          </p:cNvPr>
          <p:cNvSpPr>
            <a:spLocks xmlns:a="http://schemas.openxmlformats.org/drawingml/2006/main" noGrp="1"/>
          </p:cNvSpPr>
          <p:nvPr/>
        </p:nvSpPr>
        <p:spPr>
          <a:xfrm xmlns:a="http://schemas.openxmlformats.org/drawingml/2006/main">
            <a:off x="4869180" y="299008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a:t>
            </a:r>
          </a:p>
        </p:txBody>
      </p:sp>
      <p:sp>
        <p:nvSpPr>
          <p:cNvPr id="25" name="Text 22">
            <a:extLst xmlns:a="http://schemas.openxmlformats.org/drawingml/2006/main">
              <a:ext uri="{FF2B5EF4-FFF2-40B4-BE49-F238E27FC236}">
                <a16:creationId xmlns:a16="http://schemas.microsoft.com/office/drawing/2014/main" id="{8F18B98A-43A0-4007-B7B2-1B9DCF592E63}"/>
              </a:ext>
            </a:extLst>
          </p:cNvPr>
          <p:cNvSpPr>
            <a:spLocks xmlns:a="http://schemas.openxmlformats.org/drawingml/2006/main" noGrp="1"/>
          </p:cNvSpPr>
          <p:nvPr/>
        </p:nvSpPr>
        <p:spPr>
          <a:xfrm xmlns:a="http://schemas.openxmlformats.org/drawingml/2006/main">
            <a:off x="4869180" y="330098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For-each task</a:t>
            </a:r>
          </a:p>
        </p:txBody>
      </p:sp>
      <p:sp>
        <p:nvSpPr>
          <p:cNvPr id="26" name="Text 23">
            <a:extLst xmlns:a="http://schemas.openxmlformats.org/drawingml/2006/main">
              <a:ext uri="{FF2B5EF4-FFF2-40B4-BE49-F238E27FC236}">
                <a16:creationId xmlns:a16="http://schemas.microsoft.com/office/drawing/2014/main" id="{B1617D17-922C-49EA-B6CF-5D83A041FADF}"/>
              </a:ext>
            </a:extLst>
          </p:cNvPr>
          <p:cNvSpPr>
            <a:spLocks xmlns:a="http://schemas.openxmlformats.org/drawingml/2006/main" noGrp="1"/>
          </p:cNvSpPr>
          <p:nvPr/>
        </p:nvSpPr>
        <p:spPr>
          <a:xfrm xmlns:a="http://schemas.openxmlformats.org/drawingml/2006/main">
            <a:off x="4869180" y="364845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Loop a task over a list with controlled concurrency — 'same logic, 12 regions, 4 at a time.'</a:t>
            </a:r>
          </a:p>
        </p:txBody>
      </p:sp>
      <p:sp>
        <p:nvSpPr>
          <p:cNvPr id="27" name="Shape 24">
            <a:extLst xmlns:a="http://schemas.openxmlformats.org/drawingml/2006/main">
              <a:ext uri="{FF2B5EF4-FFF2-40B4-BE49-F238E27FC236}">
                <a16:creationId xmlns:a16="http://schemas.microsoft.com/office/drawing/2014/main" id="{FC8EC5E1-82E3-462E-86CF-C7D37D403983}"/>
              </a:ext>
            </a:extLst>
          </p:cNvPr>
          <p:cNvSpPr>
            <a:spLocks xmlns:a="http://schemas.openxmlformats.org/drawingml/2006/main" noGrp="1"/>
          </p:cNvSpPr>
          <p:nvPr/>
        </p:nvSpPr>
        <p:spPr>
          <a:xfrm xmlns:a="http://schemas.openxmlformats.org/drawingml/2006/main">
            <a:off x="502920" y="4160520"/>
            <a:ext cx="8138160" cy="530352"/>
          </a:xfrm>
          <a:prstGeom xmlns:a="http://schemas.openxmlformats.org/drawingml/2006/main" prst="rect">
            <a:avLst/>
          </a:prstGeom>
          <a:solidFill xmlns:a="http://schemas.openxmlformats.org/drawingml/2006/main">
            <a:srgbClr val="FDF3F3"/>
          </a:solidFill>
        </p:spPr>
      </p:sp>
      <p:sp>
        <p:nvSpPr>
          <p:cNvPr id="28" name="Shape 25">
            <a:extLst xmlns:a="http://schemas.openxmlformats.org/drawingml/2006/main">
              <a:ext uri="{FF2B5EF4-FFF2-40B4-BE49-F238E27FC236}">
                <a16:creationId xmlns:a16="http://schemas.microsoft.com/office/drawing/2014/main" id="{53ABA99B-1906-4E5A-8DD4-A5D562B415F8}"/>
              </a:ext>
            </a:extLst>
          </p:cNvPr>
          <p:cNvSpPr>
            <a:spLocks xmlns:a="http://schemas.openxmlformats.org/drawingml/2006/main" noGrp="1"/>
          </p:cNvSpPr>
          <p:nvPr/>
        </p:nvSpPr>
        <p:spPr>
          <a:xfrm xmlns:a="http://schemas.openxmlformats.org/drawingml/2006/main">
            <a:off x="502920" y="4160520"/>
            <a:ext cx="54864" cy="530352"/>
          </a:xfrm>
          <a:prstGeom xmlns:a="http://schemas.openxmlformats.org/drawingml/2006/main" prst="rect">
            <a:avLst/>
          </a:prstGeom>
          <a:solidFill xmlns:a="http://schemas.openxmlformats.org/drawingml/2006/main">
            <a:srgbClr val="E31E24"/>
          </a:solidFill>
        </p:spPr>
      </p:sp>
      <p:sp>
        <p:nvSpPr>
          <p:cNvPr id="29" name="Text 26">
            <a:extLst xmlns:a="http://schemas.openxmlformats.org/drawingml/2006/main">
              <a:ext uri="{FF2B5EF4-FFF2-40B4-BE49-F238E27FC236}">
                <a16:creationId xmlns:a16="http://schemas.microsoft.com/office/drawing/2014/main" id="{AB727AA3-E437-4C12-98EF-242367CC1A5B}"/>
              </a:ext>
            </a:extLst>
          </p:cNvPr>
          <p:cNvSpPr>
            <a:spLocks xmlns:a="http://schemas.openxmlformats.org/drawingml/2006/main" noGrp="1"/>
          </p:cNvSpPr>
          <p:nvPr/>
        </p:nvSpPr>
        <p:spPr>
          <a:xfrm xmlns:a="http://schemas.openxmlformats.org/drawingml/2006/main">
            <a:off x="704088" y="4215384"/>
            <a:ext cx="77724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TRAP   </a:t>
            </a:r>
            <a:r>
              <a:rPr sz="1100">
                <a:solidFill>
                  <a:srgbClr val="2C3E50"/>
                </a:solidFill>
                <a:latin typeface="Arial"/>
                <a:ea typeface="Arial"/>
                <a:cs typeface="Arial"/>
              </a:rPr>
              <a:t>“Retries fix everything.” Transient only — a deterministic bug fails all retries. That's what fix-then-repair is for.</a:t>
            </a:r>
          </a:p>
        </p:txBody>
      </p:sp>
    </p:spTree>
    <p:extLst>
      <p:ext uri="{BB962C8B-B14F-4D97-AF65-F5344CB8AC3E}">
        <p14:creationId xmlns:p14="http://schemas.microsoft.com/office/powerpoint/2010/main" val="1041926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AC4ACC-DE36-4E2F-8704-47D751528A44}"/>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TWO VERBATIM OBJECTIVES</a:t>
            </a:r>
          </a:p>
        </p:txBody>
      </p:sp>
      <p:sp>
        <p:nvSpPr>
          <p:cNvPr id="3" name="Text 1">
            <a:extLst xmlns:a="http://schemas.openxmlformats.org/drawingml/2006/main">
              <a:ext uri="{FF2B5EF4-FFF2-40B4-BE49-F238E27FC236}">
                <a16:creationId xmlns:a16="http://schemas.microsoft.com/office/drawing/2014/main" id="{51321A58-7662-4EC1-8E63-787A3AECFA18}"/>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Triggers: time-based vs. data-driven</a:t>
            </a:r>
          </a:p>
        </p:txBody>
      </p:sp>
      <p:sp>
        <p:nvSpPr>
          <p:cNvPr id="4" name="Text 2">
            <a:extLst xmlns:a="http://schemas.openxmlformats.org/drawingml/2006/main">
              <a:ext uri="{FF2B5EF4-FFF2-40B4-BE49-F238E27FC236}">
                <a16:creationId xmlns:a16="http://schemas.microsoft.com/office/drawing/2014/main" id="{6A504133-5F48-4F84-9B1F-23BD205F158D}"/>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83303E23-041C-4C1D-9174-C07EE35DCDBB}"/>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6</a:t>
            </a:r>
          </a:p>
        </p:txBody>
      </p:sp>
      <p:graphicFrame>
        <p:nvGraphicFramePr>
          <p:cNvPr id="16" name="Table 0"/>
          <p:cNvGraphicFramePr/>
          <p:nvPr/>
        </p:nvGraphicFramePr>
        <p:xfrm>
          <a:off xmlns:a="http://schemas.openxmlformats.org/drawingml/2006/main" x="502920" y="1325880"/>
          <a:ext xmlns:a="http://schemas.openxmlformats.org/drawingml/2006/main" cx="8138160" cy="914400"/>
        </p:xfrm>
        <a:graphic xmlns:a="http://schemas.openxmlformats.org/drawingml/2006/main">
          <a:graphicData uri="http://schemas.openxmlformats.org/drawingml/2006/table">
            <a:tbl>
              <a:tblPr/>
              <a:tblGrid>
                <a:gridCol w="1691640"/>
                <a:gridCol w="1325880"/>
                <a:gridCol w="2377440"/>
                <a:gridCol w="2743200"/>
              </a:tblGrid>
              <a:tr h="457200">
                <a:tc>
                  <a:txBody>
                    <a:bodyPr/>
                    <a:lstStyle/>
                    <a:p>
                      <a:pPr marL="0" indent="0">
                        <a:buNone/>
                      </a:pPr>
                      <a:r>
                        <a:rPr sz="1100" b="1">
                          <a:solidFill>
                            <a:srgbClr val="FFFFFF"/>
                          </a:solidFill>
                          <a:latin typeface="Arial"/>
                          <a:ea typeface="Arial"/>
                          <a:cs typeface="Arial"/>
                        </a:rPr>
                        <a:t>Trigger</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c>
                  <a:txBody>
                    <a:bodyPr/>
                    <a:lstStyle/>
                    <a:p>
                      <a:pPr marL="0" indent="0">
                        <a:buNone/>
                      </a:pPr>
                      <a:r>
                        <a:rPr sz="1100" b="1">
                          <a:solidFill>
                            <a:srgbClr val="FFFFFF"/>
                          </a:solidFill>
                          <a:latin typeface="Arial"/>
                          <a:ea typeface="Arial"/>
                          <a:cs typeface="Arial"/>
                        </a:rPr>
                        <a:t>Category</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c>
                  <a:txBody>
                    <a:bodyPr/>
                    <a:lstStyle/>
                    <a:p>
                      <a:pPr marL="0" indent="0">
                        <a:buNone/>
                      </a:pPr>
                      <a:r>
                        <a:rPr sz="1100" b="1">
                          <a:solidFill>
                            <a:srgbClr val="FFFFFF"/>
                          </a:solidFill>
                          <a:latin typeface="Arial"/>
                          <a:ea typeface="Arial"/>
                          <a:cs typeface="Arial"/>
                        </a:rPr>
                        <a:t>Fires when…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c>
                  <a:txBody>
                    <a:bodyPr/>
                    <a:lstStyle/>
                    <a:p>
                      <a:pPr marL="0" indent="0">
                        <a:buNone/>
                      </a:pPr>
                      <a:r>
                        <a:rPr sz="1100" b="1">
                          <a:solidFill>
                            <a:srgbClr val="FFFFFF"/>
                          </a:solidFill>
                          <a:latin typeface="Arial"/>
                          <a:ea typeface="Arial"/>
                          <a:cs typeface="Arial"/>
                        </a:rPr>
                        <a:t>Stem keywords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r>
              <a:tr h="457200">
                <a:tc>
                  <a:txBody>
                    <a:bodyPr/>
                    <a:lstStyle/>
                    <a:p>
                      <a:pPr marL="0" indent="0">
                        <a:buNone/>
                      </a:pPr>
                      <a:r>
                        <a:rPr sz="1050">
                          <a:solidFill>
                            <a:srgbClr val="2C3E50"/>
                          </a:solidFill>
                          <a:latin typeface="Arial"/>
                          <a:ea typeface="Arial"/>
                          <a:cs typeface="Arial"/>
                        </a:rPr>
                        <a:t>Scheduled (cron)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Time-based</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The clock says so</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“daily at 02:00” · SLA language</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r>
              <a:tr h="457200">
                <a:tc>
                  <a:txBody>
                    <a:bodyPr/>
                    <a:lstStyle/>
                    <a:p>
                      <a:pPr marL="0" indent="0">
                        <a:buNone/>
                      </a:pPr>
                      <a:r>
                        <a:rPr sz="1050">
                          <a:solidFill>
                            <a:srgbClr val="2C3E50"/>
                          </a:solidFill>
                          <a:latin typeface="Arial"/>
                          <a:ea typeface="Arial"/>
                          <a:cs typeface="Arial"/>
                        </a:rPr>
                        <a:t>File arrival</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Data-driven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New files land in a location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“unpredictable times” · “polling finds nothing”</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r>
              <a:tr h="457200">
                <a:tc>
                  <a:txBody>
                    <a:bodyPr/>
                    <a:lstStyle/>
                    <a:p>
                      <a:pPr marL="0" indent="0">
                        <a:buNone/>
                      </a:pPr>
                      <a:r>
                        <a:rPr sz="1050">
                          <a:solidFill>
                            <a:srgbClr val="2C3E50"/>
                          </a:solidFill>
                          <a:latin typeface="Arial"/>
                          <a:ea typeface="Arial"/>
                          <a:cs typeface="Arial"/>
                        </a:rPr>
                        <a:t>Table update</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Data-driven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Monitored Delta table gets commits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“whenever the silver table changes”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r>
              <a:tr h="457200">
                <a:tc>
                  <a:txBody>
                    <a:bodyPr/>
                    <a:lstStyle/>
                    <a:p>
                      <a:pPr marL="0" indent="0">
                        <a:buNone/>
                      </a:pPr>
                      <a:r>
                        <a:rPr sz="1050">
                          <a:solidFill>
                            <a:srgbClr val="2C3E50"/>
                          </a:solidFill>
                          <a:latin typeface="Arial"/>
                          <a:ea typeface="Arial"/>
                          <a:cs typeface="Arial"/>
                        </a:rPr>
                        <a:t>Continuous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Always-on</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Job restarts as it finishes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streaming-style workloads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r>
            </a:tbl>
          </a:graphicData>
        </a:graphic>
      </p:graphicFrame>
      <p:sp>
        <p:nvSpPr>
          <p:cNvPr id="8" name="Shape 4">
            <a:extLst xmlns:a="http://schemas.openxmlformats.org/drawingml/2006/main">
              <a:ext uri="{FF2B5EF4-FFF2-40B4-BE49-F238E27FC236}">
                <a16:creationId xmlns:a16="http://schemas.microsoft.com/office/drawing/2014/main" id="{B8D249C7-A089-4C1D-876A-EEFB9BC4FC0C}"/>
              </a:ext>
            </a:extLst>
          </p:cNvPr>
          <p:cNvSpPr>
            <a:spLocks xmlns:a="http://schemas.openxmlformats.org/drawingml/2006/main" noGrp="1"/>
          </p:cNvSpPr>
          <p:nvPr/>
        </p:nvSpPr>
        <p:spPr>
          <a:xfrm xmlns:a="http://schemas.openxmlformats.org/drawingml/2006/main">
            <a:off x="502920" y="4069080"/>
            <a:ext cx="8138160" cy="566928"/>
          </a:xfrm>
          <a:prstGeom xmlns:a="http://schemas.openxmlformats.org/drawingml/2006/main" prst="rect">
            <a:avLst/>
          </a:prstGeom>
          <a:solidFill xmlns:a="http://schemas.openxmlformats.org/drawingml/2006/main">
            <a:srgbClr val="FDF3F3"/>
          </a:solidFill>
        </p:spPr>
      </p:sp>
      <p:sp>
        <p:nvSpPr>
          <p:cNvPr id="9" name="Shape 5">
            <a:extLst xmlns:a="http://schemas.openxmlformats.org/drawingml/2006/main">
              <a:ext uri="{FF2B5EF4-FFF2-40B4-BE49-F238E27FC236}">
                <a16:creationId xmlns:a16="http://schemas.microsoft.com/office/drawing/2014/main" id="{F91072BC-9614-4595-A41B-A7AC38F957CD}"/>
              </a:ext>
            </a:extLst>
          </p:cNvPr>
          <p:cNvSpPr>
            <a:spLocks xmlns:a="http://schemas.openxmlformats.org/drawingml/2006/main" noGrp="1"/>
          </p:cNvSpPr>
          <p:nvPr/>
        </p:nvSpPr>
        <p:spPr>
          <a:xfrm xmlns:a="http://schemas.openxmlformats.org/drawingml/2006/main">
            <a:off x="502920" y="4069080"/>
            <a:ext cx="54864" cy="566928"/>
          </a:xfrm>
          <a:prstGeom xmlns:a="http://schemas.openxmlformats.org/drawingml/2006/main" prst="rect">
            <a:avLst/>
          </a:prstGeom>
          <a:solidFill xmlns:a="http://schemas.openxmlformats.org/drawingml/2006/main">
            <a:srgbClr val="E31E24"/>
          </a:solidFill>
        </p:spPr>
      </p:sp>
      <p:sp>
        <p:nvSpPr>
          <p:cNvPr id="10" name="Text 6">
            <a:extLst xmlns:a="http://schemas.openxmlformats.org/drawingml/2006/main">
              <a:ext uri="{FF2B5EF4-FFF2-40B4-BE49-F238E27FC236}">
                <a16:creationId xmlns:a16="http://schemas.microsoft.com/office/drawing/2014/main" id="{3237F049-D158-4D20-AEF4-629FC882AD9E}"/>
              </a:ext>
            </a:extLst>
          </p:cNvPr>
          <p:cNvSpPr>
            <a:spLocks xmlns:a="http://schemas.openxmlformats.org/drawingml/2006/main" noGrp="1"/>
          </p:cNvSpPr>
          <p:nvPr/>
        </p:nvSpPr>
        <p:spPr>
          <a:xfrm xmlns:a="http://schemas.openxmlformats.org/drawingml/2006/main">
            <a:off x="704088" y="4123944"/>
            <a:ext cx="7772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EXAM ANSWER SHAPE   </a:t>
            </a:r>
            <a:r>
              <a:rPr sz="1100">
                <a:solidFill>
                  <a:srgbClr val="2C3E50"/>
                </a:solidFill>
                <a:latin typeface="Arial"/>
                <a:ea typeface="Arial"/>
                <a:cs typeface="Arial"/>
              </a:rPr>
              <a:t>Files land sporadically 1–5am, hourly poll mostly finds nothing → FILE ARRIVAL: less compute, lower latency, no empty runs.</a:t>
            </a:r>
          </a:p>
        </p:txBody>
      </p:sp>
    </p:spTree>
    <p:extLst>
      <p:ext uri="{BB962C8B-B14F-4D97-AF65-F5344CB8AC3E}">
        <p14:creationId xmlns:p14="http://schemas.microsoft.com/office/powerpoint/2010/main" val="371350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A64A9A7-53C0-411C-8128-1E56F7DE87C5}"/>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THE CONTRACT</a:t>
            </a:r>
          </a:p>
        </p:txBody>
      </p:sp>
      <p:sp>
        <p:nvSpPr>
          <p:cNvPr id="3" name="Text 1">
            <a:extLst xmlns:a="http://schemas.openxmlformats.org/drawingml/2006/main">
              <a:ext uri="{FF2B5EF4-FFF2-40B4-BE49-F238E27FC236}">
                <a16:creationId xmlns:a16="http://schemas.microsoft.com/office/drawing/2014/main" id="{89558EDE-6F2D-4631-8B47-7328659C06A8}"/>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Parameters: jobs talk to notebooks via widgets</a:t>
            </a:r>
          </a:p>
        </p:txBody>
      </p:sp>
      <p:sp>
        <p:nvSpPr>
          <p:cNvPr id="4" name="Text 2">
            <a:extLst xmlns:a="http://schemas.openxmlformats.org/drawingml/2006/main">
              <a:ext uri="{FF2B5EF4-FFF2-40B4-BE49-F238E27FC236}">
                <a16:creationId xmlns:a16="http://schemas.microsoft.com/office/drawing/2014/main" id="{0C1A0FB2-1A92-4101-B2A4-25DF3E1D07F2}"/>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B4ECB1F2-372C-48C9-BCEC-92AC77EFE858}"/>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7</a:t>
            </a:r>
          </a:p>
        </p:txBody>
      </p:sp>
      <p:sp>
        <p:nvSpPr>
          <p:cNvPr id="7" name="Shape 4">
            <a:extLst xmlns:a="http://schemas.openxmlformats.org/drawingml/2006/main">
              <a:ext uri="{FF2B5EF4-FFF2-40B4-BE49-F238E27FC236}">
                <a16:creationId xmlns:a16="http://schemas.microsoft.com/office/drawing/2014/main" id="{8870B2FF-A6A0-4247-B3E6-786761DCCBA5}"/>
              </a:ext>
            </a:extLst>
          </p:cNvPr>
          <p:cNvSpPr>
            <a:spLocks xmlns:a="http://schemas.openxmlformats.org/drawingml/2006/main" noGrp="1"/>
          </p:cNvSpPr>
          <p:nvPr/>
        </p:nvSpPr>
        <p:spPr>
          <a:xfrm xmlns:a="http://schemas.openxmlformats.org/drawingml/2006/main">
            <a:off x="502920" y="1325880"/>
            <a:ext cx="4983480" cy="3017520"/>
          </a:xfrm>
          <a:prstGeom xmlns:a="http://schemas.openxmlformats.org/drawingml/2006/main" prst="rect">
            <a:avLst/>
          </a:prstGeom>
          <a:solidFill xmlns:a="http://schemas.openxmlformats.org/drawingml/2006/main">
            <a:srgbClr val="263545"/>
          </a:solidFill>
        </p:spPr>
      </p:sp>
      <p:sp>
        <p:nvSpPr>
          <p:cNvPr id="8" name="Shape 5">
            <a:extLst xmlns:a="http://schemas.openxmlformats.org/drawingml/2006/main">
              <a:ext uri="{FF2B5EF4-FFF2-40B4-BE49-F238E27FC236}">
                <a16:creationId xmlns:a16="http://schemas.microsoft.com/office/drawing/2014/main" id="{449B97DB-BA78-47F1-B7D1-88C1A78BD257}"/>
              </a:ext>
            </a:extLst>
          </p:cNvPr>
          <p:cNvSpPr>
            <a:spLocks xmlns:a="http://schemas.openxmlformats.org/drawingml/2006/main" noGrp="1"/>
          </p:cNvSpPr>
          <p:nvPr/>
        </p:nvSpPr>
        <p:spPr>
          <a:xfrm xmlns:a="http://schemas.openxmlformats.org/drawingml/2006/main">
            <a:off x="502920" y="1325880"/>
            <a:ext cx="4983480" cy="274320"/>
          </a:xfrm>
          <a:prstGeom xmlns:a="http://schemas.openxmlformats.org/drawingml/2006/main" prst="rect">
            <a:avLst/>
          </a:prstGeom>
          <a:solidFill xmlns:a="http://schemas.openxmlformats.org/drawingml/2006/main">
            <a:srgbClr val="2C3E50"/>
          </a:solidFill>
        </p:spPr>
      </p:sp>
      <p:sp>
        <p:nvSpPr>
          <p:cNvPr id="9" name="Shape 6">
            <a:extLst xmlns:a="http://schemas.openxmlformats.org/drawingml/2006/main">
              <a:ext uri="{FF2B5EF4-FFF2-40B4-BE49-F238E27FC236}">
                <a16:creationId xmlns:a16="http://schemas.microsoft.com/office/drawing/2014/main" id="{9A51F378-F10D-4A59-BE64-FBC72F2A2454}"/>
              </a:ext>
            </a:extLst>
          </p:cNvPr>
          <p:cNvSpPr>
            <a:spLocks xmlns:a="http://schemas.openxmlformats.org/drawingml/2006/main" noGrp="1"/>
          </p:cNvSpPr>
          <p:nvPr/>
        </p:nvSpPr>
        <p:spPr>
          <a:xfrm xmlns:a="http://schemas.openxmlformats.org/drawingml/2006/main">
            <a:off x="630936" y="1417320"/>
            <a:ext cx="91440" cy="91440"/>
          </a:xfrm>
          <a:prstGeom xmlns:a="http://schemas.openxmlformats.org/drawingml/2006/main" prst="ellipse">
            <a:avLst/>
          </a:prstGeom>
          <a:solidFill xmlns:a="http://schemas.openxmlformats.org/drawingml/2006/main">
            <a:srgbClr val="E31E24"/>
          </a:solidFill>
        </p:spPr>
      </p:sp>
      <p:sp>
        <p:nvSpPr>
          <p:cNvPr id="10" name="Text 7">
            <a:extLst xmlns:a="http://schemas.openxmlformats.org/drawingml/2006/main">
              <a:ext uri="{FF2B5EF4-FFF2-40B4-BE49-F238E27FC236}">
                <a16:creationId xmlns:a16="http://schemas.microsoft.com/office/drawing/2014/main" id="{79EA4AAF-CF41-4632-81B9-37274CC52784}"/>
              </a:ext>
            </a:extLst>
          </p:cNvPr>
          <p:cNvSpPr>
            <a:spLocks xmlns:a="http://schemas.openxmlformats.org/drawingml/2006/main" noGrp="1"/>
          </p:cNvSpPr>
          <p:nvPr/>
        </p:nvSpPr>
        <p:spPr>
          <a:xfrm xmlns:a="http://schemas.openxmlformats.org/drawingml/2006/main">
            <a:off x="813816" y="1344168"/>
            <a:ext cx="4526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AAB7C4"/>
                </a:solidFill>
                <a:latin typeface="Consolas"/>
                <a:ea typeface="Consolas"/>
                <a:cs typeface="Consolas"/>
              </a:rPr>
              <a:t>parameters.py</a:t>
            </a:r>
          </a:p>
        </p:txBody>
      </p:sp>
      <p:sp>
        <p:nvSpPr>
          <p:cNvPr id="11" name="Text 8">
            <a:extLst xmlns:a="http://schemas.openxmlformats.org/drawingml/2006/main">
              <a:ext uri="{FF2B5EF4-FFF2-40B4-BE49-F238E27FC236}">
                <a16:creationId xmlns:a16="http://schemas.microsoft.com/office/drawing/2014/main" id="{29D5A827-04F4-40B8-A3BA-1CD64D7D6615}"/>
              </a:ext>
            </a:extLst>
          </p:cNvPr>
          <p:cNvSpPr>
            <a:spLocks xmlns:a="http://schemas.openxmlformats.org/drawingml/2006/main" noGrp="1"/>
          </p:cNvSpPr>
          <p:nvPr/>
        </p:nvSpPr>
        <p:spPr>
          <a:xfrm xmlns:a="http://schemas.openxmlformats.org/drawingml/2006/main">
            <a:off x="704088" y="1691640"/>
            <a:ext cx="4599432" cy="2542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50"/>
              </a:lnSpc>
              <a:buNone/>
            </a:pPr>
            <a:r>
              <a:rPr sz="1050">
                <a:solidFill>
                  <a:srgbClr val="8FA3B5"/>
                </a:solidFill>
                <a:latin typeface="Consolas"/>
                <a:ea typeface="Consolas"/>
                <a:cs typeface="Consolas"/>
              </a:rPr>
              <a:t># job parameter 'target_schema' arrives as a widget</a:t>
            </a:r>
          </a:p>
          <a:p xmlns:a="http://schemas.openxmlformats.org/drawingml/2006/main">
            <a:pPr marL="0" indent="0">
              <a:lnSpc>
                <a:spcPts val="1450"/>
              </a:lnSpc>
              <a:buNone/>
            </a:pPr>
            <a:r>
              <a:rPr sz="1050">
                <a:solidFill>
                  <a:srgbClr val="EAF0F4"/>
                </a:solidFill>
                <a:latin typeface="Consolas"/>
                <a:ea typeface="Consolas"/>
                <a:cs typeface="Consolas"/>
              </a:rPr>
              <a:t>dbutils.widgets.text('target_schema', 'lab1_dev')</a:t>
            </a:r>
          </a:p>
          <a:p xmlns:a="http://schemas.openxmlformats.org/drawingml/2006/main">
            <a:pPr marL="0" indent="0">
              <a:lnSpc>
                <a:spcPts val="1450"/>
              </a:lnSpc>
              <a:buNone/>
            </a:pPr>
            <a:r>
              <a:rPr sz="1050">
                <a:solidFill>
                  <a:srgbClr val="EAF0F4"/>
                </a:solidFill>
                <a:latin typeface="Consolas"/>
                <a:ea typeface="Consolas"/>
                <a:cs typeface="Consolas"/>
              </a:rPr>
              <a:t>schema = dbutils.widgets.get('target_schema')</a:t>
            </a:r>
          </a:p>
          <a:p xmlns:a="http://schemas.openxmlformats.org/drawingml/2006/main">
            <a:pPr marL="0" indent="0">
              <a:lnSpc>
                <a:spcPts val="1450"/>
              </a:lnSpc>
              <a:buNone/>
            </a:pPr>
            <a:r>
              <a:rPr sz="1050">
                <a:solidFill>
                  <a:srgbClr val="EAF0F4"/>
                </a:solidFill>
                <a:latin typeface="Consolas"/>
                <a:ea typeface="Consolas"/>
                <a:cs typeface="Consolas"/>
              </a:rPr>
              <a:t> </a:t>
            </a:r>
          </a:p>
          <a:p xmlns:a="http://schemas.openxmlformats.org/drawingml/2006/main">
            <a:pPr marL="0" indent="0">
              <a:lnSpc>
                <a:spcPts val="1450"/>
              </a:lnSpc>
              <a:buNone/>
            </a:pPr>
            <a:r>
              <a:rPr sz="1050">
                <a:solidFill>
                  <a:srgbClr val="8FA3B5"/>
                </a:solidFill>
                <a:latin typeface="Consolas"/>
                <a:ea typeface="Consolas"/>
                <a:cs typeface="Consolas"/>
              </a:rPr>
              <a:t># pass a value to a downstream task</a:t>
            </a:r>
          </a:p>
          <a:p xmlns:a="http://schemas.openxmlformats.org/drawingml/2006/main">
            <a:pPr marL="0" indent="0">
              <a:lnSpc>
                <a:spcPts val="1450"/>
              </a:lnSpc>
              <a:buNone/>
            </a:pPr>
            <a:r>
              <a:rPr sz="1050">
                <a:solidFill>
                  <a:srgbClr val="EAF0F4"/>
                </a:solidFill>
                <a:latin typeface="Consolas"/>
                <a:ea typeface="Consolas"/>
                <a:cs typeface="Consolas"/>
              </a:rPr>
              <a:t>dbutils.jobs.taskValues.set('rows', 23)</a:t>
            </a:r>
          </a:p>
          <a:p xmlns:a="http://schemas.openxmlformats.org/drawingml/2006/main">
            <a:pPr marL="0" indent="0">
              <a:lnSpc>
                <a:spcPts val="1450"/>
              </a:lnSpc>
              <a:buNone/>
            </a:pPr>
            <a:r>
              <a:rPr sz="1050">
                <a:solidFill>
                  <a:srgbClr val="8FA3B5"/>
                </a:solidFill>
                <a:latin typeface="Consolas"/>
                <a:ea typeface="Consolas"/>
                <a:cs typeface="Consolas"/>
              </a:rPr>
              <a:t># downstream task reads it</a:t>
            </a:r>
          </a:p>
          <a:p xmlns:a="http://schemas.openxmlformats.org/drawingml/2006/main">
            <a:pPr marL="0" indent="0">
              <a:lnSpc>
                <a:spcPts val="1450"/>
              </a:lnSpc>
              <a:buNone/>
            </a:pPr>
            <a:r>
              <a:rPr sz="1050">
                <a:solidFill>
                  <a:srgbClr val="EAF0F4"/>
                </a:solidFill>
                <a:latin typeface="Consolas"/>
                <a:ea typeface="Consolas"/>
                <a:cs typeface="Consolas"/>
              </a:rPr>
              <a:t>n = dbutils.jobs.taskValues.get(</a:t>
            </a:r>
          </a:p>
          <a:p xmlns:a="http://schemas.openxmlformats.org/drawingml/2006/main">
            <a:pPr marL="0" indent="0">
              <a:lnSpc>
                <a:spcPts val="1450"/>
              </a:lnSpc>
              <a:buNone/>
            </a:pPr>
            <a:r>
              <a:rPr sz="1050">
                <a:solidFill>
                  <a:srgbClr val="EAF0F4"/>
                </a:solidFill>
                <a:latin typeface="Consolas"/>
                <a:ea typeface="Consolas"/>
                <a:cs typeface="Consolas"/>
              </a:rPr>
              <a:t>      taskKey='ingest', key='rows')</a:t>
            </a:r>
          </a:p>
        </p:txBody>
      </p:sp>
      <p:sp>
        <p:nvSpPr>
          <p:cNvPr id="12" name="Shape 9">
            <a:extLst xmlns:a="http://schemas.openxmlformats.org/drawingml/2006/main">
              <a:ext uri="{FF2B5EF4-FFF2-40B4-BE49-F238E27FC236}">
                <a16:creationId xmlns:a16="http://schemas.microsoft.com/office/drawing/2014/main" id="{281610DB-22B3-493F-B30B-A3DD82EBDB65}"/>
              </a:ext>
            </a:extLst>
          </p:cNvPr>
          <p:cNvSpPr>
            <a:spLocks xmlns:a="http://schemas.openxmlformats.org/drawingml/2006/main" noGrp="1"/>
          </p:cNvSpPr>
          <p:nvPr/>
        </p:nvSpPr>
        <p:spPr>
          <a:xfrm xmlns:a="http://schemas.openxmlformats.org/drawingml/2006/main">
            <a:off x="5760720" y="1527048"/>
            <a:ext cx="91440" cy="91440"/>
          </a:xfrm>
          <a:prstGeom xmlns:a="http://schemas.openxmlformats.org/drawingml/2006/main" prst="rect">
            <a:avLst/>
          </a:prstGeom>
          <a:solidFill xmlns:a="http://schemas.openxmlformats.org/drawingml/2006/main">
            <a:srgbClr val="E31E24"/>
          </a:solidFill>
        </p:spPr>
      </p:sp>
      <p:sp>
        <p:nvSpPr>
          <p:cNvPr id="13" name="Text 10">
            <a:extLst xmlns:a="http://schemas.openxmlformats.org/drawingml/2006/main">
              <a:ext uri="{FF2B5EF4-FFF2-40B4-BE49-F238E27FC236}">
                <a16:creationId xmlns:a16="http://schemas.microsoft.com/office/drawing/2014/main" id="{BB7E2A67-E2E1-4047-B3D4-4D5ED8B9D296}"/>
              </a:ext>
            </a:extLst>
          </p:cNvPr>
          <p:cNvSpPr>
            <a:spLocks xmlns:a="http://schemas.openxmlformats.org/drawingml/2006/main" noGrp="1"/>
          </p:cNvSpPr>
          <p:nvPr/>
        </p:nvSpPr>
        <p:spPr>
          <a:xfrm xmlns:a="http://schemas.openxmlformats.org/drawingml/2006/main">
            <a:off x="5980176" y="1426464"/>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Job parameters  </a:t>
            </a:r>
            <a:r>
              <a:rPr sz="1150">
                <a:solidFill>
                  <a:srgbClr val="55606B"/>
                </a:solidFill>
                <a:latin typeface="Arial"/>
                <a:ea typeface="Arial"/>
                <a:cs typeface="Arial"/>
              </a:rPr>
              <a:t>config, set on the job, pushed to all tasks</a:t>
            </a:r>
          </a:p>
        </p:txBody>
      </p:sp>
      <p:sp>
        <p:nvSpPr>
          <p:cNvPr id="14" name="Shape 11">
            <a:extLst xmlns:a="http://schemas.openxmlformats.org/drawingml/2006/main">
              <a:ext uri="{FF2B5EF4-FFF2-40B4-BE49-F238E27FC236}">
                <a16:creationId xmlns:a16="http://schemas.microsoft.com/office/drawing/2014/main" id="{71B69FC6-0CFF-494C-B81A-774100732286}"/>
              </a:ext>
            </a:extLst>
          </p:cNvPr>
          <p:cNvSpPr>
            <a:spLocks xmlns:a="http://schemas.openxmlformats.org/drawingml/2006/main" noGrp="1"/>
          </p:cNvSpPr>
          <p:nvPr/>
        </p:nvSpPr>
        <p:spPr>
          <a:xfrm xmlns:a="http://schemas.openxmlformats.org/drawingml/2006/main">
            <a:off x="5760720" y="2295144"/>
            <a:ext cx="91440" cy="91440"/>
          </a:xfrm>
          <a:prstGeom xmlns:a="http://schemas.openxmlformats.org/drawingml/2006/main" prst="rect">
            <a:avLst/>
          </a:prstGeom>
          <a:solidFill xmlns:a="http://schemas.openxmlformats.org/drawingml/2006/main">
            <a:srgbClr val="E31E24"/>
          </a:solidFill>
        </p:spPr>
      </p:sp>
      <p:sp>
        <p:nvSpPr>
          <p:cNvPr id="15" name="Text 12">
            <a:extLst xmlns:a="http://schemas.openxmlformats.org/drawingml/2006/main">
              <a:ext uri="{FF2B5EF4-FFF2-40B4-BE49-F238E27FC236}">
                <a16:creationId xmlns:a16="http://schemas.microsoft.com/office/drawing/2014/main" id="{93DB5953-86E6-4A15-8C8B-5AC83351151A}"/>
              </a:ext>
            </a:extLst>
          </p:cNvPr>
          <p:cNvSpPr>
            <a:spLocks xmlns:a="http://schemas.openxmlformats.org/drawingml/2006/main" noGrp="1"/>
          </p:cNvSpPr>
          <p:nvPr/>
        </p:nvSpPr>
        <p:spPr>
          <a:xfrm xmlns:a="http://schemas.openxmlformats.org/drawingml/2006/main">
            <a:off x="5980176" y="2194560"/>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Widgets  </a:t>
            </a:r>
            <a:r>
              <a:rPr sz="1150">
                <a:solidFill>
                  <a:srgbClr val="55606B"/>
                </a:solidFill>
                <a:latin typeface="Arial"/>
                <a:ea typeface="Arial"/>
                <a:cs typeface="Arial"/>
              </a:rPr>
              <a:t>how notebook tasks receive them</a:t>
            </a:r>
          </a:p>
        </p:txBody>
      </p:sp>
      <p:sp>
        <p:nvSpPr>
          <p:cNvPr id="16" name="Shape 13">
            <a:extLst xmlns:a="http://schemas.openxmlformats.org/drawingml/2006/main">
              <a:ext uri="{FF2B5EF4-FFF2-40B4-BE49-F238E27FC236}">
                <a16:creationId xmlns:a16="http://schemas.microsoft.com/office/drawing/2014/main" id="{802C7303-551C-4549-8623-952AA2C29CB3}"/>
              </a:ext>
            </a:extLst>
          </p:cNvPr>
          <p:cNvSpPr>
            <a:spLocks xmlns:a="http://schemas.openxmlformats.org/drawingml/2006/main" noGrp="1"/>
          </p:cNvSpPr>
          <p:nvPr/>
        </p:nvSpPr>
        <p:spPr>
          <a:xfrm xmlns:a="http://schemas.openxmlformats.org/drawingml/2006/main">
            <a:off x="5760720" y="3063240"/>
            <a:ext cx="91440" cy="91440"/>
          </a:xfrm>
          <a:prstGeom xmlns:a="http://schemas.openxmlformats.org/drawingml/2006/main" prst="rect">
            <a:avLst/>
          </a:prstGeom>
          <a:solidFill xmlns:a="http://schemas.openxmlformats.org/drawingml/2006/main">
            <a:srgbClr val="E31E24"/>
          </a:solidFill>
        </p:spPr>
      </p:sp>
      <p:sp>
        <p:nvSpPr>
          <p:cNvPr id="17" name="Text 14">
            <a:extLst xmlns:a="http://schemas.openxmlformats.org/drawingml/2006/main">
              <a:ext uri="{FF2B5EF4-FFF2-40B4-BE49-F238E27FC236}">
                <a16:creationId xmlns:a16="http://schemas.microsoft.com/office/drawing/2014/main" id="{44439193-6A9A-40E5-926D-326ECE93B3BB}"/>
              </a:ext>
            </a:extLst>
          </p:cNvPr>
          <p:cNvSpPr>
            <a:spLocks xmlns:a="http://schemas.openxmlformats.org/drawingml/2006/main" noGrp="1"/>
          </p:cNvSpPr>
          <p:nvPr/>
        </p:nvSpPr>
        <p:spPr>
          <a:xfrm xmlns:a="http://schemas.openxmlformats.org/drawingml/2006/main">
            <a:off x="5980176" y="2962656"/>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Task values  </a:t>
            </a:r>
            <a:r>
              <a:rPr sz="1150">
                <a:solidFill>
                  <a:srgbClr val="55606B"/>
                </a:solidFill>
                <a:latin typeface="Arial"/>
                <a:ea typeface="Arial"/>
                <a:cs typeface="Arial"/>
              </a:rPr>
              <a:t>runtime data BETWEEN tasks</a:t>
            </a:r>
          </a:p>
        </p:txBody>
      </p:sp>
      <p:sp>
        <p:nvSpPr>
          <p:cNvPr id="18" name="Shape 15">
            <a:extLst xmlns:a="http://schemas.openxmlformats.org/drawingml/2006/main">
              <a:ext uri="{FF2B5EF4-FFF2-40B4-BE49-F238E27FC236}">
                <a16:creationId xmlns:a16="http://schemas.microsoft.com/office/drawing/2014/main" id="{46E2CAE7-C1FB-4E1F-B486-DDB126F55B3B}"/>
              </a:ext>
            </a:extLst>
          </p:cNvPr>
          <p:cNvSpPr>
            <a:spLocks xmlns:a="http://schemas.openxmlformats.org/drawingml/2006/main" noGrp="1"/>
          </p:cNvSpPr>
          <p:nvPr/>
        </p:nvSpPr>
        <p:spPr>
          <a:xfrm xmlns:a="http://schemas.openxmlformats.org/drawingml/2006/main">
            <a:off x="5760720" y="3831336"/>
            <a:ext cx="91440" cy="91440"/>
          </a:xfrm>
          <a:prstGeom xmlns:a="http://schemas.openxmlformats.org/drawingml/2006/main" prst="rect">
            <a:avLst/>
          </a:prstGeom>
          <a:solidFill xmlns:a="http://schemas.openxmlformats.org/drawingml/2006/main">
            <a:srgbClr val="E31E24"/>
          </a:solidFill>
        </p:spPr>
      </p:sp>
      <p:sp>
        <p:nvSpPr>
          <p:cNvPr id="19" name="Text 16">
            <a:extLst xmlns:a="http://schemas.openxmlformats.org/drawingml/2006/main">
              <a:ext uri="{FF2B5EF4-FFF2-40B4-BE49-F238E27FC236}">
                <a16:creationId xmlns:a16="http://schemas.microsoft.com/office/drawing/2014/main" id="{140C6536-5EC9-4381-8CC9-2CC84FE303F9}"/>
              </a:ext>
            </a:extLst>
          </p:cNvPr>
          <p:cNvSpPr>
            <a:spLocks xmlns:a="http://schemas.openxmlformats.org/drawingml/2006/main" noGrp="1"/>
          </p:cNvSpPr>
          <p:nvPr/>
        </p:nvSpPr>
        <p:spPr>
          <a:xfrm xmlns:a="http://schemas.openxmlformats.org/drawingml/2006/main">
            <a:off x="5980176" y="3730752"/>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References  </a:t>
            </a:r>
            <a:r>
              <a:rPr sz="1150">
                <a:solidFill>
                  <a:srgbClr val="55606B"/>
                </a:solidFill>
                <a:latin typeface="Arial"/>
                <a:ea typeface="Arial"/>
                <a:cs typeface="Arial"/>
              </a:rPr>
              <a:t>{{job.parameters.x}} · {{tasks.t.values.y}}</a:t>
            </a:r>
          </a:p>
        </p:txBody>
      </p:sp>
    </p:spTree>
    <p:extLst>
      <p:ext uri="{BB962C8B-B14F-4D97-AF65-F5344CB8AC3E}">
        <p14:creationId xmlns:p14="http://schemas.microsoft.com/office/powerpoint/2010/main" val="5989266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F68F29-4980-4CDC-8BCE-4399FBAED2C2}"/>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DOMAINS 4 &amp; 6</a:t>
            </a:r>
          </a:p>
        </p:txBody>
      </p:sp>
      <p:sp>
        <p:nvSpPr>
          <p:cNvPr id="3" name="Text 1">
            <a:extLst xmlns:a="http://schemas.openxmlformats.org/drawingml/2006/main">
              <a:ext uri="{FF2B5EF4-FFF2-40B4-BE49-F238E27FC236}">
                <a16:creationId xmlns:a16="http://schemas.microsoft.com/office/drawing/2014/main" id="{FE729F8F-A0E1-4B4A-85A7-30CF044B8D12}"/>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Run history, the matrix, and repair run</a:t>
            </a:r>
          </a:p>
        </p:txBody>
      </p:sp>
      <p:sp>
        <p:nvSpPr>
          <p:cNvPr id="4" name="Text 2">
            <a:extLst xmlns:a="http://schemas.openxmlformats.org/drawingml/2006/main">
              <a:ext uri="{FF2B5EF4-FFF2-40B4-BE49-F238E27FC236}">
                <a16:creationId xmlns:a16="http://schemas.microsoft.com/office/drawing/2014/main" id="{0B54502E-0186-4FC6-94FC-5AC0B7BF4684}"/>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14FD178F-FBC1-4199-BAEB-3EC49A41B09B}"/>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8</a:t>
            </a:r>
          </a:p>
        </p:txBody>
      </p:sp>
      <p:sp>
        <p:nvSpPr>
          <p:cNvPr id="7" name="Shape 4">
            <a:extLst xmlns:a="http://schemas.openxmlformats.org/drawingml/2006/main">
              <a:ext uri="{FF2B5EF4-FFF2-40B4-BE49-F238E27FC236}">
                <a16:creationId xmlns:a16="http://schemas.microsoft.com/office/drawing/2014/main" id="{2EDDFB1A-3E46-4A6C-8A5F-3FA9AFD2A92F}"/>
              </a:ext>
            </a:extLst>
          </p:cNvPr>
          <p:cNvSpPr>
            <a:spLocks xmlns:a="http://schemas.openxmlformats.org/drawingml/2006/main" noGrp="1"/>
          </p:cNvSpPr>
          <p:nvPr/>
        </p:nvSpPr>
        <p:spPr>
          <a:xfrm xmlns:a="http://schemas.openxmlformats.org/drawingml/2006/main">
            <a:off x="502920" y="1435608"/>
            <a:ext cx="91440" cy="91440"/>
          </a:xfrm>
          <a:prstGeom xmlns:a="http://schemas.openxmlformats.org/drawingml/2006/main" prst="rect">
            <a:avLst/>
          </a:prstGeom>
          <a:solidFill xmlns:a="http://schemas.openxmlformats.org/drawingml/2006/main">
            <a:srgbClr val="E31E24"/>
          </a:solidFill>
        </p:spPr>
      </p:sp>
      <p:sp>
        <p:nvSpPr>
          <p:cNvPr id="8" name="Text 5">
            <a:extLst xmlns:a="http://schemas.openxmlformats.org/drawingml/2006/main">
              <a:ext uri="{FF2B5EF4-FFF2-40B4-BE49-F238E27FC236}">
                <a16:creationId xmlns:a16="http://schemas.microsoft.com/office/drawing/2014/main" id="{01CBD4F7-5181-4FA4-93A0-653721671980}"/>
              </a:ext>
            </a:extLst>
          </p:cNvPr>
          <p:cNvSpPr>
            <a:spLocks xmlns:a="http://schemas.openxmlformats.org/drawingml/2006/main" noGrp="1"/>
          </p:cNvSpPr>
          <p:nvPr/>
        </p:nvSpPr>
        <p:spPr>
          <a:xfrm xmlns:a="http://schemas.openxmlformats.org/drawingml/2006/main">
            <a:off x="722376" y="1335024"/>
            <a:ext cx="42611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4"/>
              </a:lnSpc>
              <a:buNone/>
            </a:pPr>
            <a:r>
              <a:rPr sz="1200" b="1">
                <a:solidFill>
                  <a:srgbClr val="2C3E50"/>
                </a:solidFill>
                <a:latin typeface="Arial"/>
                <a:ea typeface="Arial"/>
                <a:cs typeface="Arial"/>
              </a:rPr>
              <a:t>Run history  </a:t>
            </a:r>
            <a:r>
              <a:rPr sz="1200">
                <a:solidFill>
                  <a:srgbClr val="55606B"/>
                </a:solidFill>
                <a:latin typeface="Arial"/>
                <a:ea typeface="Arial"/>
                <a:cs typeface="Arial"/>
              </a:rPr>
              <a:t>status, duration, trigger per run — TREND evidence</a:t>
            </a:r>
          </a:p>
        </p:txBody>
      </p:sp>
      <p:sp>
        <p:nvSpPr>
          <p:cNvPr id="9" name="Shape 6">
            <a:extLst xmlns:a="http://schemas.openxmlformats.org/drawingml/2006/main">
              <a:ext uri="{FF2B5EF4-FFF2-40B4-BE49-F238E27FC236}">
                <a16:creationId xmlns:a16="http://schemas.microsoft.com/office/drawing/2014/main" id="{98FCEDD0-E07B-4909-9308-B41776AC2227}"/>
              </a:ext>
            </a:extLst>
          </p:cNvPr>
          <p:cNvSpPr>
            <a:spLocks xmlns:a="http://schemas.openxmlformats.org/drawingml/2006/main" noGrp="1"/>
          </p:cNvSpPr>
          <p:nvPr/>
        </p:nvSpPr>
        <p:spPr>
          <a:xfrm xmlns:a="http://schemas.openxmlformats.org/drawingml/2006/main">
            <a:off x="502920" y="2167128"/>
            <a:ext cx="91440" cy="91440"/>
          </a:xfrm>
          <a:prstGeom xmlns:a="http://schemas.openxmlformats.org/drawingml/2006/main" prst="rect">
            <a:avLst/>
          </a:prstGeom>
          <a:solidFill xmlns:a="http://schemas.openxmlformats.org/drawingml/2006/main">
            <a:srgbClr val="E31E24"/>
          </a:solidFill>
        </p:spPr>
      </p:sp>
      <p:sp>
        <p:nvSpPr>
          <p:cNvPr id="10" name="Text 7">
            <a:extLst xmlns:a="http://schemas.openxmlformats.org/drawingml/2006/main">
              <a:ext uri="{FF2B5EF4-FFF2-40B4-BE49-F238E27FC236}">
                <a16:creationId xmlns:a16="http://schemas.microsoft.com/office/drawing/2014/main" id="{D1D0FECB-340C-43C2-AE44-AB7B461D7ECF}"/>
              </a:ext>
            </a:extLst>
          </p:cNvPr>
          <p:cNvSpPr>
            <a:spLocks xmlns:a="http://schemas.openxmlformats.org/drawingml/2006/main" noGrp="1"/>
          </p:cNvSpPr>
          <p:nvPr/>
        </p:nvSpPr>
        <p:spPr>
          <a:xfrm xmlns:a="http://schemas.openxmlformats.org/drawingml/2006/main">
            <a:off x="722376" y="2066544"/>
            <a:ext cx="42611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4"/>
              </a:lnSpc>
              <a:buNone/>
            </a:pPr>
            <a:r>
              <a:rPr sz="1200" b="1">
                <a:solidFill>
                  <a:srgbClr val="2C3E50"/>
                </a:solidFill>
                <a:latin typeface="Arial"/>
                <a:ea typeface="Arial"/>
                <a:cs typeface="Arial"/>
              </a:rPr>
              <a:t>Matrix view  </a:t>
            </a:r>
            <a:r>
              <a:rPr sz="1200">
                <a:solidFill>
                  <a:srgbClr val="55606B"/>
                </a:solidFill>
                <a:latin typeface="Arial"/>
                <a:ea typeface="Arial"/>
                <a:cs typeface="Arial"/>
              </a:rPr>
              <a:t>runs × tasks grid — spot the degrading task</a:t>
            </a:r>
          </a:p>
        </p:txBody>
      </p:sp>
      <p:sp>
        <p:nvSpPr>
          <p:cNvPr id="11" name="Shape 8">
            <a:extLst xmlns:a="http://schemas.openxmlformats.org/drawingml/2006/main">
              <a:ext uri="{FF2B5EF4-FFF2-40B4-BE49-F238E27FC236}">
                <a16:creationId xmlns:a16="http://schemas.microsoft.com/office/drawing/2014/main" id="{AF0A46C4-4382-443D-A1E1-6A7038740CA0}"/>
              </a:ext>
            </a:extLst>
          </p:cNvPr>
          <p:cNvSpPr>
            <a:spLocks xmlns:a="http://schemas.openxmlformats.org/drawingml/2006/main" noGrp="1"/>
          </p:cNvSpPr>
          <p:nvPr/>
        </p:nvSpPr>
        <p:spPr>
          <a:xfrm xmlns:a="http://schemas.openxmlformats.org/drawingml/2006/main">
            <a:off x="502920" y="2898648"/>
            <a:ext cx="91440" cy="91440"/>
          </a:xfrm>
          <a:prstGeom xmlns:a="http://schemas.openxmlformats.org/drawingml/2006/main" prst="rect">
            <a:avLst/>
          </a:prstGeom>
          <a:solidFill xmlns:a="http://schemas.openxmlformats.org/drawingml/2006/main">
            <a:srgbClr val="E31E24"/>
          </a:solidFill>
        </p:spPr>
      </p:sp>
      <p:sp>
        <p:nvSpPr>
          <p:cNvPr id="12" name="Text 9">
            <a:extLst xmlns:a="http://schemas.openxmlformats.org/drawingml/2006/main">
              <a:ext uri="{FF2B5EF4-FFF2-40B4-BE49-F238E27FC236}">
                <a16:creationId xmlns:a16="http://schemas.microsoft.com/office/drawing/2014/main" id="{F67D0A33-13C7-4AA3-8618-FE0D88F91F8A}"/>
              </a:ext>
            </a:extLst>
          </p:cNvPr>
          <p:cNvSpPr>
            <a:spLocks xmlns:a="http://schemas.openxmlformats.org/drawingml/2006/main" noGrp="1"/>
          </p:cNvSpPr>
          <p:nvPr/>
        </p:nvSpPr>
        <p:spPr>
          <a:xfrm xmlns:a="http://schemas.openxmlformats.org/drawingml/2006/main">
            <a:off x="722376" y="2798064"/>
            <a:ext cx="42611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4"/>
              </a:lnSpc>
              <a:buNone/>
            </a:pPr>
            <a:r>
              <a:rPr sz="1200" b="1">
                <a:solidFill>
                  <a:srgbClr val="2C3E50"/>
                </a:solidFill>
                <a:latin typeface="Arial"/>
                <a:ea typeface="Arial"/>
                <a:cs typeface="Arial"/>
              </a:rPr>
              <a:t>upstream-failed  </a:t>
            </a:r>
            <a:r>
              <a:rPr sz="1200">
                <a:solidFill>
                  <a:srgbClr val="55606B"/>
                </a:solidFill>
                <a:latin typeface="Arial"/>
                <a:ea typeface="Arial"/>
                <a:cs typeface="Arial"/>
              </a:rPr>
              <a:t>the task didn't fail; its dependency did</a:t>
            </a:r>
          </a:p>
        </p:txBody>
      </p:sp>
      <p:sp>
        <p:nvSpPr>
          <p:cNvPr id="13" name="Shape 10">
            <a:extLst xmlns:a="http://schemas.openxmlformats.org/drawingml/2006/main">
              <a:ext uri="{FF2B5EF4-FFF2-40B4-BE49-F238E27FC236}">
                <a16:creationId xmlns:a16="http://schemas.microsoft.com/office/drawing/2014/main" id="{5EC01C37-149B-421B-85D3-51F14F9E20C0}"/>
              </a:ext>
            </a:extLst>
          </p:cNvPr>
          <p:cNvSpPr>
            <a:spLocks xmlns:a="http://schemas.openxmlformats.org/drawingml/2006/main" noGrp="1"/>
          </p:cNvSpPr>
          <p:nvPr/>
        </p:nvSpPr>
        <p:spPr>
          <a:xfrm xmlns:a="http://schemas.openxmlformats.org/drawingml/2006/main">
            <a:off x="502920" y="3630168"/>
            <a:ext cx="91440" cy="91440"/>
          </a:xfrm>
          <a:prstGeom xmlns:a="http://schemas.openxmlformats.org/drawingml/2006/main" prst="rect">
            <a:avLst/>
          </a:prstGeom>
          <a:solidFill xmlns:a="http://schemas.openxmlformats.org/drawingml/2006/main">
            <a:srgbClr val="E31E24"/>
          </a:solidFill>
        </p:spPr>
      </p:sp>
      <p:sp>
        <p:nvSpPr>
          <p:cNvPr id="14" name="Text 11">
            <a:extLst xmlns:a="http://schemas.openxmlformats.org/drawingml/2006/main">
              <a:ext uri="{FF2B5EF4-FFF2-40B4-BE49-F238E27FC236}">
                <a16:creationId xmlns:a16="http://schemas.microsoft.com/office/drawing/2014/main" id="{0BE8FE29-36C0-4991-83BF-AF70E525CF19}"/>
              </a:ext>
            </a:extLst>
          </p:cNvPr>
          <p:cNvSpPr>
            <a:spLocks xmlns:a="http://schemas.openxmlformats.org/drawingml/2006/main" noGrp="1"/>
          </p:cNvSpPr>
          <p:nvPr/>
        </p:nvSpPr>
        <p:spPr>
          <a:xfrm xmlns:a="http://schemas.openxmlformats.org/drawingml/2006/main">
            <a:off x="722376" y="3529584"/>
            <a:ext cx="42611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84"/>
              </a:lnSpc>
              <a:buNone/>
            </a:pPr>
            <a:r>
              <a:rPr sz="1200" b="1">
                <a:solidFill>
                  <a:srgbClr val="2C3E50"/>
                </a:solidFill>
                <a:latin typeface="Arial"/>
                <a:ea typeface="Arial"/>
                <a:cs typeface="Arial"/>
              </a:rPr>
              <a:t>Repair run  </a:t>
            </a:r>
            <a:r>
              <a:rPr sz="1200">
                <a:solidFill>
                  <a:srgbClr val="55606B"/>
                </a:solidFill>
                <a:latin typeface="Arial"/>
                <a:ea typeface="Arial"/>
                <a:cs typeface="Arial"/>
              </a:rPr>
              <a:t>re-executes failed + downstream ONLY — green tasks are never recomputed</a:t>
            </a:r>
          </a:p>
        </p:txBody>
      </p:sp>
      <p:sp>
        <p:nvSpPr>
          <p:cNvPr id="15" name="Shape 12">
            <a:extLst xmlns:a="http://schemas.openxmlformats.org/drawingml/2006/main">
              <a:ext uri="{FF2B5EF4-FFF2-40B4-BE49-F238E27FC236}">
                <a16:creationId xmlns:a16="http://schemas.microsoft.com/office/drawing/2014/main" id="{A477D6CF-AA1A-45A9-BC3B-7595DC15BC5C}"/>
              </a:ext>
            </a:extLst>
          </p:cNvPr>
          <p:cNvSpPr>
            <a:spLocks xmlns:a="http://schemas.openxmlformats.org/drawingml/2006/main" noGrp="1"/>
          </p:cNvSpPr>
          <p:nvPr/>
        </p:nvSpPr>
        <p:spPr>
          <a:xfrm xmlns:a="http://schemas.openxmlformats.org/drawingml/2006/main">
            <a:off x="5257800" y="1298448"/>
            <a:ext cx="3383280" cy="3246120"/>
          </a:xfrm>
          <a:prstGeom xmlns:a="http://schemas.openxmlformats.org/drawingml/2006/main" prst="rect">
            <a:avLst/>
          </a:prstGeom>
          <a:solidFill xmlns:a="http://schemas.openxmlformats.org/drawingml/2006/main">
            <a:srgbClr val="ECF0F1"/>
          </a:solidFill>
        </p:spPr>
      </p:sp>
      <p:sp>
        <p:nvSpPr>
          <p:cNvPr id="16" name="Text 13">
            <a:extLst xmlns:a="http://schemas.openxmlformats.org/drawingml/2006/main">
              <a:ext uri="{FF2B5EF4-FFF2-40B4-BE49-F238E27FC236}">
                <a16:creationId xmlns:a16="http://schemas.microsoft.com/office/drawing/2014/main" id="{1FCA98E4-1888-410E-A78C-6C3929906DFB}"/>
              </a:ext>
            </a:extLst>
          </p:cNvPr>
          <p:cNvSpPr>
            <a:spLocks xmlns:a="http://schemas.openxmlformats.org/drawingml/2006/main" noGrp="1"/>
          </p:cNvSpPr>
          <p:nvPr/>
        </p:nvSpPr>
        <p:spPr>
          <a:xfrm xmlns:a="http://schemas.openxmlformats.org/drawingml/2006/main">
            <a:off x="5458968" y="1426464"/>
            <a:ext cx="298094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7F8C8D"/>
                </a:solidFill>
                <a:latin typeface="Arial"/>
                <a:ea typeface="Arial"/>
                <a:cs typeface="Arial"/>
              </a:rPr>
              <a:t>REPAIR IN ONE PICTURE</a:t>
            </a:r>
          </a:p>
        </p:txBody>
      </p:sp>
      <p:sp>
        <p:nvSpPr>
          <p:cNvPr id="17" name="Shape 14">
            <a:extLst xmlns:a="http://schemas.openxmlformats.org/drawingml/2006/main">
              <a:ext uri="{FF2B5EF4-FFF2-40B4-BE49-F238E27FC236}">
                <a16:creationId xmlns:a16="http://schemas.microsoft.com/office/drawing/2014/main" id="{D0FD33C5-72B6-47C3-B10C-71F7DD590007}"/>
              </a:ext>
            </a:extLst>
          </p:cNvPr>
          <p:cNvSpPr>
            <a:spLocks xmlns:a="http://schemas.openxmlformats.org/drawingml/2006/main" noGrp="1"/>
          </p:cNvSpPr>
          <p:nvPr/>
        </p:nvSpPr>
        <p:spPr>
          <a:xfrm xmlns:a="http://schemas.openxmlformats.org/drawingml/2006/main">
            <a:off x="5486400" y="1828800"/>
            <a:ext cx="868680" cy="457200"/>
          </a:xfrm>
          <a:prstGeom xmlns:a="http://schemas.openxmlformats.org/drawingml/2006/main" prst="rect">
            <a:avLst/>
          </a:prstGeom>
          <a:solidFill xmlns:a="http://schemas.openxmlformats.org/drawingml/2006/main">
            <a:srgbClr val="3E7D4F"/>
          </a:solidFill>
        </p:spPr>
      </p:sp>
      <p:sp>
        <p:nvSpPr>
          <p:cNvPr id="18" name="Text 15">
            <a:extLst xmlns:a="http://schemas.openxmlformats.org/drawingml/2006/main">
              <a:ext uri="{FF2B5EF4-FFF2-40B4-BE49-F238E27FC236}">
                <a16:creationId xmlns:a16="http://schemas.microsoft.com/office/drawing/2014/main" id="{5B28DAC8-FAB2-4A6B-B2CC-BAB9D5E0E93B}"/>
              </a:ext>
            </a:extLst>
          </p:cNvPr>
          <p:cNvSpPr>
            <a:spLocks xmlns:a="http://schemas.openxmlformats.org/drawingml/2006/main" noGrp="1"/>
          </p:cNvSpPr>
          <p:nvPr/>
        </p:nvSpPr>
        <p:spPr>
          <a:xfrm xmlns:a="http://schemas.openxmlformats.org/drawingml/2006/main">
            <a:off x="5486400" y="1828800"/>
            <a:ext cx="868680" cy="4572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00" b="1">
                <a:solidFill>
                  <a:srgbClr val="FFFFFF"/>
                </a:solidFill>
                <a:latin typeface="Arial"/>
                <a:ea typeface="Arial"/>
                <a:cs typeface="Arial"/>
              </a:rPr>
              <a:t>T1 ✓</a:t>
            </a:r>
          </a:p>
        </p:txBody>
      </p:sp>
      <p:sp>
        <p:nvSpPr>
          <p:cNvPr id="19" name="Shape 16">
            <a:extLst xmlns:a="http://schemas.openxmlformats.org/drawingml/2006/main">
              <a:ext uri="{FF2B5EF4-FFF2-40B4-BE49-F238E27FC236}">
                <a16:creationId xmlns:a16="http://schemas.microsoft.com/office/drawing/2014/main" id="{2950CD33-4F9C-4EC9-A124-FC6F31A46041}"/>
              </a:ext>
            </a:extLst>
          </p:cNvPr>
          <p:cNvSpPr>
            <a:spLocks xmlns:a="http://schemas.openxmlformats.org/drawingml/2006/main" noGrp="1"/>
          </p:cNvSpPr>
          <p:nvPr/>
        </p:nvSpPr>
        <p:spPr>
          <a:xfrm xmlns:a="http://schemas.openxmlformats.org/drawingml/2006/main">
            <a:off x="6492240" y="1828800"/>
            <a:ext cx="868680" cy="457200"/>
          </a:xfrm>
          <a:prstGeom xmlns:a="http://schemas.openxmlformats.org/drawingml/2006/main" prst="rect">
            <a:avLst/>
          </a:prstGeom>
          <a:solidFill xmlns:a="http://schemas.openxmlformats.org/drawingml/2006/main">
            <a:srgbClr val="3E7D4F"/>
          </a:solidFill>
        </p:spPr>
      </p:sp>
      <p:sp>
        <p:nvSpPr>
          <p:cNvPr id="20" name="Text 17">
            <a:extLst xmlns:a="http://schemas.openxmlformats.org/drawingml/2006/main">
              <a:ext uri="{FF2B5EF4-FFF2-40B4-BE49-F238E27FC236}">
                <a16:creationId xmlns:a16="http://schemas.microsoft.com/office/drawing/2014/main" id="{9C188DE4-165E-4B72-A220-D736419BC0E0}"/>
              </a:ext>
            </a:extLst>
          </p:cNvPr>
          <p:cNvSpPr>
            <a:spLocks xmlns:a="http://schemas.openxmlformats.org/drawingml/2006/main" noGrp="1"/>
          </p:cNvSpPr>
          <p:nvPr/>
        </p:nvSpPr>
        <p:spPr>
          <a:xfrm xmlns:a="http://schemas.openxmlformats.org/drawingml/2006/main">
            <a:off x="6492240" y="1828800"/>
            <a:ext cx="868680" cy="4572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00" b="1">
                <a:solidFill>
                  <a:srgbClr val="FFFFFF"/>
                </a:solidFill>
                <a:latin typeface="Arial"/>
                <a:ea typeface="Arial"/>
                <a:cs typeface="Arial"/>
              </a:rPr>
              <a:t>T2 ✓</a:t>
            </a:r>
          </a:p>
        </p:txBody>
      </p:sp>
      <p:sp>
        <p:nvSpPr>
          <p:cNvPr id="21" name="Shape 18">
            <a:extLst xmlns:a="http://schemas.openxmlformats.org/drawingml/2006/main">
              <a:ext uri="{FF2B5EF4-FFF2-40B4-BE49-F238E27FC236}">
                <a16:creationId xmlns:a16="http://schemas.microsoft.com/office/drawing/2014/main" id="{9AB0759A-5945-4072-8C94-3B892FA9B706}"/>
              </a:ext>
            </a:extLst>
          </p:cNvPr>
          <p:cNvSpPr>
            <a:spLocks xmlns:a="http://schemas.openxmlformats.org/drawingml/2006/main" noGrp="1"/>
          </p:cNvSpPr>
          <p:nvPr/>
        </p:nvSpPr>
        <p:spPr>
          <a:xfrm xmlns:a="http://schemas.openxmlformats.org/drawingml/2006/main">
            <a:off x="7498080" y="1828800"/>
            <a:ext cx="868680" cy="457200"/>
          </a:xfrm>
          <a:prstGeom xmlns:a="http://schemas.openxmlformats.org/drawingml/2006/main" prst="rect">
            <a:avLst/>
          </a:prstGeom>
          <a:solidFill xmlns:a="http://schemas.openxmlformats.org/drawingml/2006/main">
            <a:srgbClr val="E31E24"/>
          </a:solidFill>
        </p:spPr>
      </p:sp>
      <p:sp>
        <p:nvSpPr>
          <p:cNvPr id="22" name="Text 19">
            <a:extLst xmlns:a="http://schemas.openxmlformats.org/drawingml/2006/main">
              <a:ext uri="{FF2B5EF4-FFF2-40B4-BE49-F238E27FC236}">
                <a16:creationId xmlns:a16="http://schemas.microsoft.com/office/drawing/2014/main" id="{FE1F3EE2-C0D7-4604-9B0D-8621D003F3D4}"/>
              </a:ext>
            </a:extLst>
          </p:cNvPr>
          <p:cNvSpPr>
            <a:spLocks xmlns:a="http://schemas.openxmlformats.org/drawingml/2006/main" noGrp="1"/>
          </p:cNvSpPr>
          <p:nvPr/>
        </p:nvSpPr>
        <p:spPr>
          <a:xfrm xmlns:a="http://schemas.openxmlformats.org/drawingml/2006/main">
            <a:off x="7498080" y="1828800"/>
            <a:ext cx="868680" cy="4572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00" b="1">
                <a:solidFill>
                  <a:srgbClr val="FFFFFF"/>
                </a:solidFill>
                <a:latin typeface="Arial"/>
                <a:ea typeface="Arial"/>
                <a:cs typeface="Arial"/>
              </a:rPr>
              <a:t>T3 ✗</a:t>
            </a:r>
          </a:p>
        </p:txBody>
      </p:sp>
      <p:sp>
        <p:nvSpPr>
          <p:cNvPr id="23" name="Shape 20">
            <a:extLst xmlns:a="http://schemas.openxmlformats.org/drawingml/2006/main">
              <a:ext uri="{FF2B5EF4-FFF2-40B4-BE49-F238E27FC236}">
                <a16:creationId xmlns:a16="http://schemas.microsoft.com/office/drawing/2014/main" id="{99696C59-F280-4EA2-AC88-F8B775656FD7}"/>
              </a:ext>
            </a:extLst>
          </p:cNvPr>
          <p:cNvSpPr>
            <a:spLocks xmlns:a="http://schemas.openxmlformats.org/drawingml/2006/main" noGrp="1"/>
          </p:cNvSpPr>
          <p:nvPr/>
        </p:nvSpPr>
        <p:spPr>
          <a:xfrm xmlns:a="http://schemas.openxmlformats.org/drawingml/2006/main">
            <a:off x="5486400" y="2606040"/>
            <a:ext cx="868680" cy="457200"/>
          </a:xfrm>
          <a:prstGeom xmlns:a="http://schemas.openxmlformats.org/drawingml/2006/main" prst="rect">
            <a:avLst/>
          </a:prstGeom>
          <a:solidFill xmlns:a="http://schemas.openxmlformats.org/drawingml/2006/main">
            <a:srgbClr val="9AA5AD"/>
          </a:solidFill>
        </p:spPr>
      </p:sp>
      <p:sp>
        <p:nvSpPr>
          <p:cNvPr id="24" name="Text 21">
            <a:extLst xmlns:a="http://schemas.openxmlformats.org/drawingml/2006/main">
              <a:ext uri="{FF2B5EF4-FFF2-40B4-BE49-F238E27FC236}">
                <a16:creationId xmlns:a16="http://schemas.microsoft.com/office/drawing/2014/main" id="{6A359792-B3C7-46C1-89A5-EA48BD460ECA}"/>
              </a:ext>
            </a:extLst>
          </p:cNvPr>
          <p:cNvSpPr>
            <a:spLocks xmlns:a="http://schemas.openxmlformats.org/drawingml/2006/main" noGrp="1"/>
          </p:cNvSpPr>
          <p:nvPr/>
        </p:nvSpPr>
        <p:spPr>
          <a:xfrm xmlns:a="http://schemas.openxmlformats.org/drawingml/2006/main">
            <a:off x="5486400" y="2606040"/>
            <a:ext cx="868680" cy="4572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00" b="1">
                <a:solidFill>
                  <a:srgbClr val="FFFFFF"/>
                </a:solidFill>
                <a:latin typeface="Arial"/>
                <a:ea typeface="Arial"/>
                <a:cs typeface="Arial"/>
              </a:rPr>
              <a:t>T4 –</a:t>
            </a:r>
          </a:p>
        </p:txBody>
      </p:sp>
      <p:sp>
        <p:nvSpPr>
          <p:cNvPr id="25" name="Text 22">
            <a:extLst xmlns:a="http://schemas.openxmlformats.org/drawingml/2006/main">
              <a:ext uri="{FF2B5EF4-FFF2-40B4-BE49-F238E27FC236}">
                <a16:creationId xmlns:a16="http://schemas.microsoft.com/office/drawing/2014/main" id="{A911C83E-7804-4F71-9FDA-06F58B98BE93}"/>
              </a:ext>
            </a:extLst>
          </p:cNvPr>
          <p:cNvSpPr>
            <a:spLocks xmlns:a="http://schemas.openxmlformats.org/drawingml/2006/main" noGrp="1"/>
          </p:cNvSpPr>
          <p:nvPr/>
        </p:nvSpPr>
        <p:spPr>
          <a:xfrm xmlns:a="http://schemas.openxmlformats.org/drawingml/2006/main">
            <a:off x="6446520" y="2670048"/>
            <a:ext cx="2103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7F8C8D"/>
                </a:solidFill>
                <a:latin typeface="Arial"/>
                <a:ea typeface="Arial"/>
                <a:cs typeface="Arial"/>
              </a:rPr>
              <a:t>T4 = upstream-failed (skipped)</a:t>
            </a:r>
          </a:p>
        </p:txBody>
      </p:sp>
      <p:sp>
        <p:nvSpPr>
          <p:cNvPr id="26" name="Shape 23">
            <a:extLst xmlns:a="http://schemas.openxmlformats.org/drawingml/2006/main">
              <a:ext uri="{FF2B5EF4-FFF2-40B4-BE49-F238E27FC236}">
                <a16:creationId xmlns:a16="http://schemas.microsoft.com/office/drawing/2014/main" id="{5D364052-86BC-4440-93B6-186C00C1050C}"/>
              </a:ext>
            </a:extLst>
          </p:cNvPr>
          <p:cNvSpPr>
            <a:spLocks xmlns:a="http://schemas.openxmlformats.org/drawingml/2006/main" noGrp="1"/>
          </p:cNvSpPr>
          <p:nvPr/>
        </p:nvSpPr>
        <p:spPr>
          <a:xfrm xmlns:a="http://schemas.openxmlformats.org/drawingml/2006/main">
            <a:off x="5486400" y="3429000"/>
            <a:ext cx="2834640" cy="502920"/>
          </a:xfrm>
          <a:prstGeom xmlns:a="http://schemas.openxmlformats.org/drawingml/2006/main" prst="rect">
            <a:avLst/>
          </a:prstGeom>
          <a:solidFill xmlns:a="http://schemas.openxmlformats.org/drawingml/2006/main">
            <a:srgbClr val="2C3E50"/>
          </a:solidFill>
        </p:spPr>
      </p:sp>
      <p:sp>
        <p:nvSpPr>
          <p:cNvPr id="27" name="Text 24">
            <a:extLst xmlns:a="http://schemas.openxmlformats.org/drawingml/2006/main">
              <a:ext uri="{FF2B5EF4-FFF2-40B4-BE49-F238E27FC236}">
                <a16:creationId xmlns:a16="http://schemas.microsoft.com/office/drawing/2014/main" id="{18312A4E-1969-42D8-82F6-5150BBE64C8D}"/>
              </a:ext>
            </a:extLst>
          </p:cNvPr>
          <p:cNvSpPr>
            <a:spLocks xmlns:a="http://schemas.openxmlformats.org/drawingml/2006/main" noGrp="1"/>
          </p:cNvSpPr>
          <p:nvPr/>
        </p:nvSpPr>
        <p:spPr>
          <a:xfrm xmlns:a="http://schemas.openxmlformats.org/drawingml/2006/main">
            <a:off x="5486400" y="3429000"/>
            <a:ext cx="2834640"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00"/>
              </a:lnSpc>
              <a:buNone/>
            </a:pPr>
            <a:r>
              <a:rPr sz="950" b="1">
                <a:solidFill>
                  <a:srgbClr val="FFFFFF"/>
                </a:solidFill>
                <a:latin typeface="Arial"/>
                <a:ea typeface="Arial"/>
                <a:cs typeface="Arial"/>
              </a:rPr>
              <a:t>REPAIR RUN → re-executes T3 + T4 only</a:t>
            </a:r>
          </a:p>
        </p:txBody>
      </p:sp>
      <p:sp>
        <p:nvSpPr>
          <p:cNvPr id="28" name="Text 25">
            <a:extLst xmlns:a="http://schemas.openxmlformats.org/drawingml/2006/main">
              <a:ext uri="{FF2B5EF4-FFF2-40B4-BE49-F238E27FC236}">
                <a16:creationId xmlns:a16="http://schemas.microsoft.com/office/drawing/2014/main" id="{5E2D2AFF-6203-4549-A69B-A14ACBC2E460}"/>
              </a:ext>
            </a:extLst>
          </p:cNvPr>
          <p:cNvSpPr>
            <a:spLocks xmlns:a="http://schemas.openxmlformats.org/drawingml/2006/main" noGrp="1"/>
          </p:cNvSpPr>
          <p:nvPr/>
        </p:nvSpPr>
        <p:spPr>
          <a:xfrm xmlns:a="http://schemas.openxmlformats.org/drawingml/2006/main">
            <a:off x="5486400" y="4023360"/>
            <a:ext cx="2926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7F8C8D"/>
                </a:solidFill>
                <a:latin typeface="Arial"/>
                <a:ea typeface="Arial"/>
                <a:cs typeface="Arial"/>
              </a:rPr>
              <a:t>two hours of T1+T2 compute: preserved</a:t>
            </a:r>
          </a:p>
        </p:txBody>
      </p:sp>
    </p:spTree>
    <p:extLst>
      <p:ext uri="{BB962C8B-B14F-4D97-AF65-F5344CB8AC3E}">
        <p14:creationId xmlns:p14="http://schemas.microsoft.com/office/powerpoint/2010/main" val="7807621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135022-C98B-4EDB-926C-95A0F6208BF1}"/>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4 · VERBATIM OBJECTIVE</a:t>
            </a:r>
          </a:p>
        </p:txBody>
      </p:sp>
      <p:sp>
        <p:nvSpPr>
          <p:cNvPr id="3" name="Text 1">
            <a:extLst xmlns:a="http://schemas.openxmlformats.org/drawingml/2006/main">
              <a:ext uri="{FF2B5EF4-FFF2-40B4-BE49-F238E27FC236}">
                <a16:creationId xmlns:a16="http://schemas.microsoft.com/office/drawing/2014/main" id="{FAB1F3F3-63A3-4891-9C51-9FF2575AC0A3}"/>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Serverless jobs: hands-off, auto-optimized</a:t>
            </a:r>
          </a:p>
        </p:txBody>
      </p:sp>
      <p:sp>
        <p:nvSpPr>
          <p:cNvPr id="4" name="Text 2">
            <a:extLst xmlns:a="http://schemas.openxmlformats.org/drawingml/2006/main">
              <a:ext uri="{FF2B5EF4-FFF2-40B4-BE49-F238E27FC236}">
                <a16:creationId xmlns:a16="http://schemas.microsoft.com/office/drawing/2014/main" id="{1FB0112D-57EF-48EE-9D16-8AF7759BD3BA}"/>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1F540825-7F85-4577-9F6F-58043E00BC36}"/>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9</a:t>
            </a:r>
          </a:p>
        </p:txBody>
      </p:sp>
      <p:sp>
        <p:nvSpPr>
          <p:cNvPr id="7" name="Shape 4">
            <a:extLst xmlns:a="http://schemas.openxmlformats.org/drawingml/2006/main">
              <a:ext uri="{FF2B5EF4-FFF2-40B4-BE49-F238E27FC236}">
                <a16:creationId xmlns:a16="http://schemas.microsoft.com/office/drawing/2014/main" id="{575F48D6-3174-426A-9E62-594165631217}"/>
              </a:ext>
            </a:extLst>
          </p:cNvPr>
          <p:cNvSpPr>
            <a:spLocks xmlns:a="http://schemas.openxmlformats.org/drawingml/2006/main" noGrp="1"/>
          </p:cNvSpPr>
          <p:nvPr/>
        </p:nvSpPr>
        <p:spPr>
          <a:xfrm xmlns:a="http://schemas.openxmlformats.org/drawingml/2006/main">
            <a:off x="502920" y="1325880"/>
            <a:ext cx="2560320" cy="15544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8" name="Shape 5">
            <a:extLst xmlns:a="http://schemas.openxmlformats.org/drawingml/2006/main">
              <a:ext uri="{FF2B5EF4-FFF2-40B4-BE49-F238E27FC236}">
                <a16:creationId xmlns:a16="http://schemas.microsoft.com/office/drawing/2014/main" id="{BA7F4AA6-13A7-4985-85F9-DF17A84C4D30}"/>
              </a:ext>
            </a:extLst>
          </p:cNvPr>
          <p:cNvSpPr>
            <a:spLocks xmlns:a="http://schemas.openxmlformats.org/drawingml/2006/main" noGrp="1"/>
          </p:cNvSpPr>
          <p:nvPr/>
        </p:nvSpPr>
        <p:spPr>
          <a:xfrm xmlns:a="http://schemas.openxmlformats.org/drawingml/2006/main">
            <a:off x="502920" y="1325880"/>
            <a:ext cx="64008" cy="1554480"/>
          </a:xfrm>
          <a:prstGeom xmlns:a="http://schemas.openxmlformats.org/drawingml/2006/main" prst="rect">
            <a:avLst/>
          </a:prstGeom>
          <a:solidFill xmlns:a="http://schemas.openxmlformats.org/drawingml/2006/main">
            <a:srgbClr val="E31E24"/>
          </a:solidFill>
        </p:spPr>
      </p:sp>
      <p:sp>
        <p:nvSpPr>
          <p:cNvPr id="9" name="Text 6">
            <a:extLst xmlns:a="http://schemas.openxmlformats.org/drawingml/2006/main">
              <a:ext uri="{FF2B5EF4-FFF2-40B4-BE49-F238E27FC236}">
                <a16:creationId xmlns:a16="http://schemas.microsoft.com/office/drawing/2014/main" id="{BD6A13C7-FA3D-41D0-BC45-5885FD2DC97C}"/>
              </a:ext>
            </a:extLst>
          </p:cNvPr>
          <p:cNvSpPr>
            <a:spLocks xmlns:a="http://schemas.openxmlformats.org/drawingml/2006/main" noGrp="1"/>
          </p:cNvSpPr>
          <p:nvPr/>
        </p:nvSpPr>
        <p:spPr>
          <a:xfrm xmlns:a="http://schemas.openxmlformats.org/drawingml/2006/main">
            <a:off x="685800" y="1472184"/>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What you stop doing</a:t>
            </a:r>
          </a:p>
        </p:txBody>
      </p:sp>
      <p:sp>
        <p:nvSpPr>
          <p:cNvPr id="10" name="Text 7">
            <a:extLst xmlns:a="http://schemas.openxmlformats.org/drawingml/2006/main">
              <a:ext uri="{FF2B5EF4-FFF2-40B4-BE49-F238E27FC236}">
                <a16:creationId xmlns:a16="http://schemas.microsoft.com/office/drawing/2014/main" id="{AA5DA3E7-9F3D-4FD6-A194-602973339542}"/>
              </a:ext>
            </a:extLst>
          </p:cNvPr>
          <p:cNvSpPr>
            <a:spLocks xmlns:a="http://schemas.openxmlformats.org/drawingml/2006/main" noGrp="1"/>
          </p:cNvSpPr>
          <p:nvPr/>
        </p:nvSpPr>
        <p:spPr>
          <a:xfrm xmlns:a="http://schemas.openxmlformats.org/drawingml/2006/main">
            <a:off x="685800" y="1837944"/>
            <a:ext cx="2212848"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Sizing clusters · picking instance types · tuning autoscaling · babysitting warmup</a:t>
            </a:r>
          </a:p>
        </p:txBody>
      </p:sp>
      <p:sp>
        <p:nvSpPr>
          <p:cNvPr id="11" name="Shape 8">
            <a:extLst xmlns:a="http://schemas.openxmlformats.org/drawingml/2006/main">
              <a:ext uri="{FF2B5EF4-FFF2-40B4-BE49-F238E27FC236}">
                <a16:creationId xmlns:a16="http://schemas.microsoft.com/office/drawing/2014/main" id="{9D4D1389-C8F9-492F-AB14-EEFB3CB5B1F6}"/>
              </a:ext>
            </a:extLst>
          </p:cNvPr>
          <p:cNvSpPr>
            <a:spLocks xmlns:a="http://schemas.openxmlformats.org/drawingml/2006/main" noGrp="1"/>
          </p:cNvSpPr>
          <p:nvPr/>
        </p:nvSpPr>
        <p:spPr>
          <a:xfrm xmlns:a="http://schemas.openxmlformats.org/drawingml/2006/main">
            <a:off x="3291840" y="1325880"/>
            <a:ext cx="2560320" cy="15544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2" name="Shape 9">
            <a:extLst xmlns:a="http://schemas.openxmlformats.org/drawingml/2006/main">
              <a:ext uri="{FF2B5EF4-FFF2-40B4-BE49-F238E27FC236}">
                <a16:creationId xmlns:a16="http://schemas.microsoft.com/office/drawing/2014/main" id="{AC131FEB-B712-4757-8303-246C17683E60}"/>
              </a:ext>
            </a:extLst>
          </p:cNvPr>
          <p:cNvSpPr>
            <a:spLocks xmlns:a="http://schemas.openxmlformats.org/drawingml/2006/main" noGrp="1"/>
          </p:cNvSpPr>
          <p:nvPr/>
        </p:nvSpPr>
        <p:spPr>
          <a:xfrm xmlns:a="http://schemas.openxmlformats.org/drawingml/2006/main">
            <a:off x="3291840" y="1325880"/>
            <a:ext cx="64008" cy="1554480"/>
          </a:xfrm>
          <a:prstGeom xmlns:a="http://schemas.openxmlformats.org/drawingml/2006/main" prst="rect">
            <a:avLst/>
          </a:prstGeom>
          <a:solidFill xmlns:a="http://schemas.openxmlformats.org/drawingml/2006/main">
            <a:srgbClr val="E31E24"/>
          </a:solidFill>
        </p:spPr>
      </p:sp>
      <p:sp>
        <p:nvSpPr>
          <p:cNvPr id="13" name="Text 10">
            <a:extLst xmlns:a="http://schemas.openxmlformats.org/drawingml/2006/main">
              <a:ext uri="{FF2B5EF4-FFF2-40B4-BE49-F238E27FC236}">
                <a16:creationId xmlns:a16="http://schemas.microsoft.com/office/drawing/2014/main" id="{31497CA2-454A-4EC4-9643-2643266250B6}"/>
              </a:ext>
            </a:extLst>
          </p:cNvPr>
          <p:cNvSpPr>
            <a:spLocks xmlns:a="http://schemas.openxmlformats.org/drawingml/2006/main" noGrp="1"/>
          </p:cNvSpPr>
          <p:nvPr/>
        </p:nvSpPr>
        <p:spPr>
          <a:xfrm xmlns:a="http://schemas.openxmlformats.org/drawingml/2006/main">
            <a:off x="3474720" y="1472184"/>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What Databricks does</a:t>
            </a:r>
          </a:p>
        </p:txBody>
      </p:sp>
      <p:sp>
        <p:nvSpPr>
          <p:cNvPr id="14" name="Text 11">
            <a:extLst xmlns:a="http://schemas.openxmlformats.org/drawingml/2006/main">
              <a:ext uri="{FF2B5EF4-FFF2-40B4-BE49-F238E27FC236}">
                <a16:creationId xmlns:a16="http://schemas.microsoft.com/office/drawing/2014/main" id="{D49F4973-0903-408B-A9EE-C45A4E2EC1A1}"/>
              </a:ext>
            </a:extLst>
          </p:cNvPr>
          <p:cNvSpPr>
            <a:spLocks xmlns:a="http://schemas.openxmlformats.org/drawingml/2006/main" noGrp="1"/>
          </p:cNvSpPr>
          <p:nvPr/>
        </p:nvSpPr>
        <p:spPr>
          <a:xfrm xmlns:a="http://schemas.openxmlformats.org/drawingml/2006/main">
            <a:off x="3474720" y="1837944"/>
            <a:ext cx="2212848"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Provisioning, scaling, optimizing — billed for what the run uses</a:t>
            </a:r>
          </a:p>
        </p:txBody>
      </p:sp>
      <p:sp>
        <p:nvSpPr>
          <p:cNvPr id="15" name="Shape 12">
            <a:extLst xmlns:a="http://schemas.openxmlformats.org/drawingml/2006/main">
              <a:ext uri="{FF2B5EF4-FFF2-40B4-BE49-F238E27FC236}">
                <a16:creationId xmlns:a16="http://schemas.microsoft.com/office/drawing/2014/main" id="{C5F31859-F40B-40A2-B1AC-D2F35F27D221}"/>
              </a:ext>
            </a:extLst>
          </p:cNvPr>
          <p:cNvSpPr>
            <a:spLocks xmlns:a="http://schemas.openxmlformats.org/drawingml/2006/main" noGrp="1"/>
          </p:cNvSpPr>
          <p:nvPr/>
        </p:nvSpPr>
        <p:spPr>
          <a:xfrm xmlns:a="http://schemas.openxmlformats.org/drawingml/2006/main">
            <a:off x="6080760" y="1325880"/>
            <a:ext cx="2560320" cy="15544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6" name="Shape 13">
            <a:extLst xmlns:a="http://schemas.openxmlformats.org/drawingml/2006/main">
              <a:ext uri="{FF2B5EF4-FFF2-40B4-BE49-F238E27FC236}">
                <a16:creationId xmlns:a16="http://schemas.microsoft.com/office/drawing/2014/main" id="{B9F572E5-503A-4682-801D-191B8E9F16EA}"/>
              </a:ext>
            </a:extLst>
          </p:cNvPr>
          <p:cNvSpPr>
            <a:spLocks xmlns:a="http://schemas.openxmlformats.org/drawingml/2006/main" noGrp="1"/>
          </p:cNvSpPr>
          <p:nvPr/>
        </p:nvSpPr>
        <p:spPr>
          <a:xfrm xmlns:a="http://schemas.openxmlformats.org/drawingml/2006/main">
            <a:off x="6080760" y="1325880"/>
            <a:ext cx="64008" cy="1554480"/>
          </a:xfrm>
          <a:prstGeom xmlns:a="http://schemas.openxmlformats.org/drawingml/2006/main" prst="rect">
            <a:avLst/>
          </a:prstGeom>
          <a:solidFill xmlns:a="http://schemas.openxmlformats.org/drawingml/2006/main">
            <a:srgbClr val="E31E24"/>
          </a:solidFill>
        </p:spPr>
      </p:sp>
      <p:sp>
        <p:nvSpPr>
          <p:cNvPr id="17" name="Text 14">
            <a:extLst xmlns:a="http://schemas.openxmlformats.org/drawingml/2006/main">
              <a:ext uri="{FF2B5EF4-FFF2-40B4-BE49-F238E27FC236}">
                <a16:creationId xmlns:a16="http://schemas.microsoft.com/office/drawing/2014/main" id="{4E47FD77-8A86-48A8-BECF-D1354B62C233}"/>
              </a:ext>
            </a:extLst>
          </p:cNvPr>
          <p:cNvSpPr>
            <a:spLocks xmlns:a="http://schemas.openxmlformats.org/drawingml/2006/main" noGrp="1"/>
          </p:cNvSpPr>
          <p:nvPr/>
        </p:nvSpPr>
        <p:spPr>
          <a:xfrm xmlns:a="http://schemas.openxmlformats.org/drawingml/2006/main">
            <a:off x="6263640" y="1472184"/>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The exam phrase</a:t>
            </a:r>
          </a:p>
        </p:txBody>
      </p:sp>
      <p:sp>
        <p:nvSpPr>
          <p:cNvPr id="18" name="Text 15">
            <a:extLst xmlns:a="http://schemas.openxmlformats.org/drawingml/2006/main">
              <a:ext uri="{FF2B5EF4-FFF2-40B4-BE49-F238E27FC236}">
                <a16:creationId xmlns:a16="http://schemas.microsoft.com/office/drawing/2014/main" id="{EEF6CEB7-3C36-4EEC-B942-444428FA9384}"/>
              </a:ext>
            </a:extLst>
          </p:cNvPr>
          <p:cNvSpPr>
            <a:spLocks xmlns:a="http://schemas.openxmlformats.org/drawingml/2006/main" noGrp="1"/>
          </p:cNvSpPr>
          <p:nvPr/>
        </p:nvSpPr>
        <p:spPr>
          <a:xfrm xmlns:a="http://schemas.openxmlformats.org/drawingml/2006/main">
            <a:off x="6263640" y="1837944"/>
            <a:ext cx="2212848" cy="9326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“Use serverless for a hands-off, auto-optimized compute managed by Databricks” — verbatim objective</a:t>
            </a:r>
          </a:p>
        </p:txBody>
      </p:sp>
      <p:sp>
        <p:nvSpPr>
          <p:cNvPr id="19" name="Shape 16">
            <a:extLst xmlns:a="http://schemas.openxmlformats.org/drawingml/2006/main">
              <a:ext uri="{FF2B5EF4-FFF2-40B4-BE49-F238E27FC236}">
                <a16:creationId xmlns:a16="http://schemas.microsoft.com/office/drawing/2014/main" id="{2751C3FF-68F3-4EC6-AD04-55E407E3F284}"/>
              </a:ext>
            </a:extLst>
          </p:cNvPr>
          <p:cNvSpPr>
            <a:spLocks xmlns:a="http://schemas.openxmlformats.org/drawingml/2006/main" noGrp="1"/>
          </p:cNvSpPr>
          <p:nvPr/>
        </p:nvSpPr>
        <p:spPr>
          <a:xfrm xmlns:a="http://schemas.openxmlformats.org/drawingml/2006/main">
            <a:off x="502920" y="3520440"/>
            <a:ext cx="8138160" cy="566928"/>
          </a:xfrm>
          <a:prstGeom xmlns:a="http://schemas.openxmlformats.org/drawingml/2006/main" prst="rect">
            <a:avLst/>
          </a:prstGeom>
          <a:solidFill xmlns:a="http://schemas.openxmlformats.org/drawingml/2006/main">
            <a:srgbClr val="FDF3F3"/>
          </a:solidFill>
        </p:spPr>
      </p:sp>
      <p:sp>
        <p:nvSpPr>
          <p:cNvPr id="20" name="Shape 17">
            <a:extLst xmlns:a="http://schemas.openxmlformats.org/drawingml/2006/main">
              <a:ext uri="{FF2B5EF4-FFF2-40B4-BE49-F238E27FC236}">
                <a16:creationId xmlns:a16="http://schemas.microsoft.com/office/drawing/2014/main" id="{94228C2C-EE4F-47CD-8728-2D26CECF9DBC}"/>
              </a:ext>
            </a:extLst>
          </p:cNvPr>
          <p:cNvSpPr>
            <a:spLocks xmlns:a="http://schemas.openxmlformats.org/drawingml/2006/main" noGrp="1"/>
          </p:cNvSpPr>
          <p:nvPr/>
        </p:nvSpPr>
        <p:spPr>
          <a:xfrm xmlns:a="http://schemas.openxmlformats.org/drawingml/2006/main">
            <a:off x="502920" y="3520440"/>
            <a:ext cx="54864" cy="566928"/>
          </a:xfrm>
          <a:prstGeom xmlns:a="http://schemas.openxmlformats.org/drawingml/2006/main" prst="rect">
            <a:avLst/>
          </a:prstGeom>
          <a:solidFill xmlns:a="http://schemas.openxmlformats.org/drawingml/2006/main">
            <a:srgbClr val="E31E24"/>
          </a:solidFill>
        </p:spPr>
      </p:sp>
      <p:sp>
        <p:nvSpPr>
          <p:cNvPr id="21" name="Text 18">
            <a:extLst xmlns:a="http://schemas.openxmlformats.org/drawingml/2006/main">
              <a:ext uri="{FF2B5EF4-FFF2-40B4-BE49-F238E27FC236}">
                <a16:creationId xmlns:a16="http://schemas.microsoft.com/office/drawing/2014/main" id="{46CD75EF-749F-4072-AF92-3B7B46328138}"/>
              </a:ext>
            </a:extLst>
          </p:cNvPr>
          <p:cNvSpPr>
            <a:spLocks xmlns:a="http://schemas.openxmlformats.org/drawingml/2006/main" noGrp="1"/>
          </p:cNvSpPr>
          <p:nvPr/>
        </p:nvSpPr>
        <p:spPr>
          <a:xfrm xmlns:a="http://schemas.openxmlformats.org/drawingml/2006/main">
            <a:off x="704088" y="3575304"/>
            <a:ext cx="7772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TRAP   </a:t>
            </a:r>
            <a:r>
              <a:rPr sz="1100">
                <a:solidFill>
                  <a:srgbClr val="2C3E50"/>
                </a:solidFill>
                <a:latin typeface="Arial"/>
                <a:ea typeface="Arial"/>
                <a:cs typeface="Arial"/>
              </a:rPr>
              <a:t>“Serverless is always cheaper.” It's always SIMPLER. Cost depends on workload shape — exam stems reward the hands-off property.</a:t>
            </a:r>
          </a:p>
        </p:txBody>
      </p:sp>
    </p:spTree>
    <p:extLst>
      <p:ext uri="{BB962C8B-B14F-4D97-AF65-F5344CB8AC3E}">
        <p14:creationId xmlns:p14="http://schemas.microsoft.com/office/powerpoint/2010/main" val="5703035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A4BA38-114E-4D48-B0E3-CE67092B602C}"/>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5 · NEW DOMAIN</a:t>
            </a:r>
          </a:p>
        </p:txBody>
      </p:sp>
      <p:sp>
        <p:nvSpPr>
          <p:cNvPr id="3" name="Text 1">
            <a:extLst xmlns:a="http://schemas.openxmlformats.org/drawingml/2006/main">
              <a:ext uri="{FF2B5EF4-FFF2-40B4-BE49-F238E27FC236}">
                <a16:creationId xmlns:a16="http://schemas.microsoft.com/office/drawing/2014/main" id="{80A00917-557B-4D7B-942B-22DCA19157F2}"/>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CI/CD for data engineers: ship pipelines, not just code</a:t>
            </a:r>
          </a:p>
        </p:txBody>
      </p:sp>
      <p:sp>
        <p:nvSpPr>
          <p:cNvPr id="4" name="Text 2">
            <a:extLst xmlns:a="http://schemas.openxmlformats.org/drawingml/2006/main">
              <a:ext uri="{FF2B5EF4-FFF2-40B4-BE49-F238E27FC236}">
                <a16:creationId xmlns:a16="http://schemas.microsoft.com/office/drawing/2014/main" id="{672E4606-BF51-429F-B363-AAFD23E4669B}"/>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E459E54D-6218-4E38-BB41-50164BA140E1}"/>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10</a:t>
            </a:r>
          </a:p>
        </p:txBody>
      </p:sp>
      <p:sp>
        <p:nvSpPr>
          <p:cNvPr id="7" name="Shape 4">
            <a:extLst xmlns:a="http://schemas.openxmlformats.org/drawingml/2006/main">
              <a:ext uri="{FF2B5EF4-FFF2-40B4-BE49-F238E27FC236}">
                <a16:creationId xmlns:a16="http://schemas.microsoft.com/office/drawing/2014/main" id="{DA79C6CD-ABCE-45A4-A1FA-50A987133AB7}"/>
              </a:ext>
            </a:extLst>
          </p:cNvPr>
          <p:cNvSpPr>
            <a:spLocks xmlns:a="http://schemas.openxmlformats.org/drawingml/2006/main" noGrp="1"/>
          </p:cNvSpPr>
          <p:nvPr/>
        </p:nvSpPr>
        <p:spPr>
          <a:xfrm xmlns:a="http://schemas.openxmlformats.org/drawingml/2006/main">
            <a:off x="566928" y="1920240"/>
            <a:ext cx="1737360" cy="868680"/>
          </a:xfrm>
          <a:prstGeom xmlns:a="http://schemas.openxmlformats.org/drawingml/2006/main" prst="rect">
            <a:avLst/>
          </a:prstGeom>
          <a:solidFill xmlns:a="http://schemas.openxmlformats.org/drawingml/2006/main">
            <a:srgbClr val="3D5166"/>
          </a:solidFill>
        </p:spPr>
      </p:sp>
      <p:sp>
        <p:nvSpPr>
          <p:cNvPr id="8" name="Text 5">
            <a:extLst xmlns:a="http://schemas.openxmlformats.org/drawingml/2006/main">
              <a:ext uri="{FF2B5EF4-FFF2-40B4-BE49-F238E27FC236}">
                <a16:creationId xmlns:a16="http://schemas.microsoft.com/office/drawing/2014/main" id="{70CC83A2-EAC9-469E-9885-D36AC196BEA5}"/>
              </a:ext>
            </a:extLst>
          </p:cNvPr>
          <p:cNvSpPr>
            <a:spLocks xmlns:a="http://schemas.openxmlformats.org/drawingml/2006/main" noGrp="1"/>
          </p:cNvSpPr>
          <p:nvPr/>
        </p:nvSpPr>
        <p:spPr>
          <a:xfrm xmlns:a="http://schemas.openxmlformats.org/drawingml/2006/main">
            <a:off x="566928" y="1920240"/>
            <a:ext cx="1737360" cy="8686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50" b="1">
                <a:solidFill>
                  <a:srgbClr val="FFFFFF"/>
                </a:solidFill>
                <a:latin typeface="Arial"/>
                <a:ea typeface="Arial"/>
                <a:cs typeface="Arial"/>
              </a:rPr>
              <a:t>DEV</a:t>
            </a:r>
          </a:p>
          <a:p xmlns:a="http://schemas.openxmlformats.org/drawingml/2006/main">
            <a:pPr marL="0" indent="0" algn="ctr">
              <a:lnSpc>
                <a:spcPts val="1250"/>
              </a:lnSpc>
              <a:buNone/>
            </a:pPr>
            <a:r>
              <a:rPr sz="1150" b="1">
                <a:solidFill>
                  <a:srgbClr val="FFFFFF"/>
                </a:solidFill>
                <a:latin typeface="Arial"/>
                <a:ea typeface="Arial"/>
                <a:cs typeface="Arial"/>
              </a:rPr>
              <a:t>workspace</a:t>
            </a:r>
          </a:p>
        </p:txBody>
      </p:sp>
      <p:sp>
        <p:nvSpPr>
          <p:cNvPr id="9" name="Text 6">
            <a:extLst xmlns:a="http://schemas.openxmlformats.org/drawingml/2006/main">
              <a:ext uri="{FF2B5EF4-FFF2-40B4-BE49-F238E27FC236}">
                <a16:creationId xmlns:a16="http://schemas.microsoft.com/office/drawing/2014/main" id="{5E26825D-F763-4E15-9268-EAD12146E4E2}"/>
              </a:ext>
            </a:extLst>
          </p:cNvPr>
          <p:cNvSpPr>
            <a:spLocks xmlns:a="http://schemas.openxmlformats.org/drawingml/2006/main" noGrp="1"/>
          </p:cNvSpPr>
          <p:nvPr/>
        </p:nvSpPr>
        <p:spPr>
          <a:xfrm xmlns:a="http://schemas.openxmlformats.org/drawingml/2006/main">
            <a:off x="429768" y="2843784"/>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branch + edit</a:t>
            </a:r>
          </a:p>
        </p:txBody>
      </p:sp>
      <p:sp>
        <p:nvSpPr>
          <p:cNvPr id="10" name="Text 7">
            <a:extLst xmlns:a="http://schemas.openxmlformats.org/drawingml/2006/main">
              <a:ext uri="{FF2B5EF4-FFF2-40B4-BE49-F238E27FC236}">
                <a16:creationId xmlns:a16="http://schemas.microsoft.com/office/drawing/2014/main" id="{32E8E62E-5008-4650-A7E2-F1565D5F675D}"/>
              </a:ext>
            </a:extLst>
          </p:cNvPr>
          <p:cNvSpPr>
            <a:spLocks xmlns:a="http://schemas.openxmlformats.org/drawingml/2006/main" noGrp="1"/>
          </p:cNvSpPr>
          <p:nvPr/>
        </p:nvSpPr>
        <p:spPr>
          <a:xfrm xmlns:a="http://schemas.openxmlformats.org/drawingml/2006/main">
            <a:off x="2286000" y="2180844"/>
            <a:ext cx="4663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1" name="Shape 8">
            <a:extLst xmlns:a="http://schemas.openxmlformats.org/drawingml/2006/main">
              <a:ext uri="{FF2B5EF4-FFF2-40B4-BE49-F238E27FC236}">
                <a16:creationId xmlns:a16="http://schemas.microsoft.com/office/drawing/2014/main" id="{C9DD111C-2A1D-49BD-818C-0B1E7D0E3282}"/>
              </a:ext>
            </a:extLst>
          </p:cNvPr>
          <p:cNvSpPr>
            <a:spLocks xmlns:a="http://schemas.openxmlformats.org/drawingml/2006/main" noGrp="1"/>
          </p:cNvSpPr>
          <p:nvPr/>
        </p:nvSpPr>
        <p:spPr>
          <a:xfrm xmlns:a="http://schemas.openxmlformats.org/drawingml/2006/main">
            <a:off x="2715768" y="1920240"/>
            <a:ext cx="1737360" cy="868680"/>
          </a:xfrm>
          <a:prstGeom xmlns:a="http://schemas.openxmlformats.org/drawingml/2006/main" prst="rect">
            <a:avLst/>
          </a:prstGeom>
          <a:solidFill xmlns:a="http://schemas.openxmlformats.org/drawingml/2006/main">
            <a:srgbClr val="2C3E50"/>
          </a:solidFill>
        </p:spPr>
      </p:sp>
      <p:sp>
        <p:nvSpPr>
          <p:cNvPr id="12" name="Text 9">
            <a:extLst xmlns:a="http://schemas.openxmlformats.org/drawingml/2006/main">
              <a:ext uri="{FF2B5EF4-FFF2-40B4-BE49-F238E27FC236}">
                <a16:creationId xmlns:a16="http://schemas.microsoft.com/office/drawing/2014/main" id="{969F2FB0-7DDA-4F18-B2C9-63FA2AEB2F2F}"/>
              </a:ext>
            </a:extLst>
          </p:cNvPr>
          <p:cNvSpPr>
            <a:spLocks xmlns:a="http://schemas.openxmlformats.org/drawingml/2006/main" noGrp="1"/>
          </p:cNvSpPr>
          <p:nvPr/>
        </p:nvSpPr>
        <p:spPr>
          <a:xfrm xmlns:a="http://schemas.openxmlformats.org/drawingml/2006/main">
            <a:off x="2715768" y="1920240"/>
            <a:ext cx="1737360" cy="8686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50" b="1">
                <a:solidFill>
                  <a:srgbClr val="FFFFFF"/>
                </a:solidFill>
                <a:latin typeface="Arial"/>
                <a:ea typeface="Arial"/>
                <a:cs typeface="Arial"/>
              </a:rPr>
              <a:t>PR + REVIEW</a:t>
            </a:r>
          </a:p>
        </p:txBody>
      </p:sp>
      <p:sp>
        <p:nvSpPr>
          <p:cNvPr id="13" name="Text 10">
            <a:extLst xmlns:a="http://schemas.openxmlformats.org/drawingml/2006/main">
              <a:ext uri="{FF2B5EF4-FFF2-40B4-BE49-F238E27FC236}">
                <a16:creationId xmlns:a16="http://schemas.microsoft.com/office/drawing/2014/main" id="{34AF9922-36AE-49E0-ABEB-48E56904D53F}"/>
              </a:ext>
            </a:extLst>
          </p:cNvPr>
          <p:cNvSpPr>
            <a:spLocks xmlns:a="http://schemas.openxmlformats.org/drawingml/2006/main" noGrp="1"/>
          </p:cNvSpPr>
          <p:nvPr/>
        </p:nvSpPr>
        <p:spPr>
          <a:xfrm xmlns:a="http://schemas.openxmlformats.org/drawingml/2006/main">
            <a:off x="2578608" y="2843784"/>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in the Git provider</a:t>
            </a:r>
          </a:p>
        </p:txBody>
      </p:sp>
      <p:sp>
        <p:nvSpPr>
          <p:cNvPr id="14" name="Text 11">
            <a:extLst xmlns:a="http://schemas.openxmlformats.org/drawingml/2006/main">
              <a:ext uri="{FF2B5EF4-FFF2-40B4-BE49-F238E27FC236}">
                <a16:creationId xmlns:a16="http://schemas.microsoft.com/office/drawing/2014/main" id="{939E6DE8-3858-4D59-A784-02424DE1A234}"/>
              </a:ext>
            </a:extLst>
          </p:cNvPr>
          <p:cNvSpPr>
            <a:spLocks xmlns:a="http://schemas.openxmlformats.org/drawingml/2006/main" noGrp="1"/>
          </p:cNvSpPr>
          <p:nvPr/>
        </p:nvSpPr>
        <p:spPr>
          <a:xfrm xmlns:a="http://schemas.openxmlformats.org/drawingml/2006/main">
            <a:off x="4434840" y="2180844"/>
            <a:ext cx="4663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5" name="Shape 12">
            <a:extLst xmlns:a="http://schemas.openxmlformats.org/drawingml/2006/main">
              <a:ext uri="{FF2B5EF4-FFF2-40B4-BE49-F238E27FC236}">
                <a16:creationId xmlns:a16="http://schemas.microsoft.com/office/drawing/2014/main" id="{1946E4EC-F0CC-477B-BC1B-6525C7D238DC}"/>
              </a:ext>
            </a:extLst>
          </p:cNvPr>
          <p:cNvSpPr>
            <a:spLocks xmlns:a="http://schemas.openxmlformats.org/drawingml/2006/main" noGrp="1"/>
          </p:cNvSpPr>
          <p:nvPr/>
        </p:nvSpPr>
        <p:spPr>
          <a:xfrm xmlns:a="http://schemas.openxmlformats.org/drawingml/2006/main">
            <a:off x="4864608" y="1920240"/>
            <a:ext cx="1737360" cy="868680"/>
          </a:xfrm>
          <a:prstGeom xmlns:a="http://schemas.openxmlformats.org/drawingml/2006/main" prst="rect">
            <a:avLst/>
          </a:prstGeom>
          <a:solidFill xmlns:a="http://schemas.openxmlformats.org/drawingml/2006/main">
            <a:srgbClr val="2C3E50"/>
          </a:solidFill>
        </p:spPr>
      </p:sp>
      <p:sp>
        <p:nvSpPr>
          <p:cNvPr id="16" name="Text 13">
            <a:extLst xmlns:a="http://schemas.openxmlformats.org/drawingml/2006/main">
              <a:ext uri="{FF2B5EF4-FFF2-40B4-BE49-F238E27FC236}">
                <a16:creationId xmlns:a16="http://schemas.microsoft.com/office/drawing/2014/main" id="{841852CC-B810-410B-8CD7-BE52B2886C16}"/>
              </a:ext>
            </a:extLst>
          </p:cNvPr>
          <p:cNvSpPr>
            <a:spLocks xmlns:a="http://schemas.openxmlformats.org/drawingml/2006/main" noGrp="1"/>
          </p:cNvSpPr>
          <p:nvPr/>
        </p:nvSpPr>
        <p:spPr>
          <a:xfrm xmlns:a="http://schemas.openxmlformats.org/drawingml/2006/main">
            <a:off x="4864608" y="1920240"/>
            <a:ext cx="1737360" cy="8686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50" b="1">
                <a:solidFill>
                  <a:srgbClr val="FFFFFF"/>
                </a:solidFill>
                <a:latin typeface="Arial"/>
                <a:ea typeface="Arial"/>
                <a:cs typeface="Arial"/>
              </a:rPr>
              <a:t>TEST</a:t>
            </a:r>
          </a:p>
        </p:txBody>
      </p:sp>
      <p:sp>
        <p:nvSpPr>
          <p:cNvPr id="17" name="Text 14">
            <a:extLst xmlns:a="http://schemas.openxmlformats.org/drawingml/2006/main">
              <a:ext uri="{FF2B5EF4-FFF2-40B4-BE49-F238E27FC236}">
                <a16:creationId xmlns:a16="http://schemas.microsoft.com/office/drawing/2014/main" id="{808D5871-838F-4A6C-BCEE-6DBB8BD5D4AD}"/>
              </a:ext>
            </a:extLst>
          </p:cNvPr>
          <p:cNvSpPr>
            <a:spLocks xmlns:a="http://schemas.openxmlformats.org/drawingml/2006/main" noGrp="1"/>
          </p:cNvSpPr>
          <p:nvPr/>
        </p:nvSpPr>
        <p:spPr>
          <a:xfrm xmlns:a="http://schemas.openxmlformats.org/drawingml/2006/main">
            <a:off x="4727448" y="2843784"/>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bundle deploy -t test</a:t>
            </a:r>
          </a:p>
        </p:txBody>
      </p:sp>
      <p:sp>
        <p:nvSpPr>
          <p:cNvPr id="18" name="Text 15">
            <a:extLst xmlns:a="http://schemas.openxmlformats.org/drawingml/2006/main">
              <a:ext uri="{FF2B5EF4-FFF2-40B4-BE49-F238E27FC236}">
                <a16:creationId xmlns:a16="http://schemas.microsoft.com/office/drawing/2014/main" id="{051373AD-28C9-4036-A79A-DA9273B9A284}"/>
              </a:ext>
            </a:extLst>
          </p:cNvPr>
          <p:cNvSpPr>
            <a:spLocks xmlns:a="http://schemas.openxmlformats.org/drawingml/2006/main" noGrp="1"/>
          </p:cNvSpPr>
          <p:nvPr/>
        </p:nvSpPr>
        <p:spPr>
          <a:xfrm xmlns:a="http://schemas.openxmlformats.org/drawingml/2006/main">
            <a:off x="6583680" y="2180844"/>
            <a:ext cx="46634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9" name="Shape 16">
            <a:extLst xmlns:a="http://schemas.openxmlformats.org/drawingml/2006/main">
              <a:ext uri="{FF2B5EF4-FFF2-40B4-BE49-F238E27FC236}">
                <a16:creationId xmlns:a16="http://schemas.microsoft.com/office/drawing/2014/main" id="{29D11A57-6F99-41ED-B287-0E001C4A1CE9}"/>
              </a:ext>
            </a:extLst>
          </p:cNvPr>
          <p:cNvSpPr>
            <a:spLocks xmlns:a="http://schemas.openxmlformats.org/drawingml/2006/main" noGrp="1"/>
          </p:cNvSpPr>
          <p:nvPr/>
        </p:nvSpPr>
        <p:spPr>
          <a:xfrm xmlns:a="http://schemas.openxmlformats.org/drawingml/2006/main">
            <a:off x="7013448" y="1920240"/>
            <a:ext cx="1737360" cy="868680"/>
          </a:xfrm>
          <a:prstGeom xmlns:a="http://schemas.openxmlformats.org/drawingml/2006/main" prst="rect">
            <a:avLst/>
          </a:prstGeom>
          <a:solidFill xmlns:a="http://schemas.openxmlformats.org/drawingml/2006/main">
            <a:srgbClr val="E31E24"/>
          </a:solidFill>
        </p:spPr>
      </p:sp>
      <p:sp>
        <p:nvSpPr>
          <p:cNvPr id="20" name="Text 17">
            <a:extLst xmlns:a="http://schemas.openxmlformats.org/drawingml/2006/main">
              <a:ext uri="{FF2B5EF4-FFF2-40B4-BE49-F238E27FC236}">
                <a16:creationId xmlns:a16="http://schemas.microsoft.com/office/drawing/2014/main" id="{9C9F61A3-2861-4F76-8C6D-235F738363AE}"/>
              </a:ext>
            </a:extLst>
          </p:cNvPr>
          <p:cNvSpPr>
            <a:spLocks xmlns:a="http://schemas.openxmlformats.org/drawingml/2006/main" noGrp="1"/>
          </p:cNvSpPr>
          <p:nvPr/>
        </p:nvSpPr>
        <p:spPr>
          <a:xfrm xmlns:a="http://schemas.openxmlformats.org/drawingml/2006/main">
            <a:off x="7013448" y="1920240"/>
            <a:ext cx="1737360" cy="8686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50"/>
              </a:lnSpc>
              <a:buNone/>
            </a:pPr>
            <a:r>
              <a:rPr sz="1150" b="1">
                <a:solidFill>
                  <a:srgbClr val="FFFFFF"/>
                </a:solidFill>
                <a:latin typeface="Arial"/>
                <a:ea typeface="Arial"/>
                <a:cs typeface="Arial"/>
              </a:rPr>
              <a:t>PROD</a:t>
            </a:r>
          </a:p>
        </p:txBody>
      </p:sp>
      <p:sp>
        <p:nvSpPr>
          <p:cNvPr id="21" name="Text 18">
            <a:extLst xmlns:a="http://schemas.openxmlformats.org/drawingml/2006/main">
              <a:ext uri="{FF2B5EF4-FFF2-40B4-BE49-F238E27FC236}">
                <a16:creationId xmlns:a16="http://schemas.microsoft.com/office/drawing/2014/main" id="{EDEF88AE-63E8-4A60-BECB-D9FD7A11BA80}"/>
              </a:ext>
            </a:extLst>
          </p:cNvPr>
          <p:cNvSpPr>
            <a:spLocks xmlns:a="http://schemas.openxmlformats.org/drawingml/2006/main" noGrp="1"/>
          </p:cNvSpPr>
          <p:nvPr/>
        </p:nvSpPr>
        <p:spPr>
          <a:xfrm xmlns:a="http://schemas.openxmlformats.org/drawingml/2006/main">
            <a:off x="6876288" y="2843784"/>
            <a:ext cx="2011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bundle deploy -t prod</a:t>
            </a:r>
          </a:p>
          <a:p xmlns:a="http://schemas.openxmlformats.org/drawingml/2006/main">
            <a:pPr marL="0" indent="0" algn="ctr">
              <a:lnSpc>
                <a:spcPts val="1100"/>
              </a:lnSpc>
              <a:buNone/>
            </a:pPr>
            <a:r>
              <a:rPr sz="900">
                <a:solidFill>
                  <a:srgbClr val="7F8C8D"/>
                </a:solidFill>
                <a:latin typeface="Arial"/>
                <a:ea typeface="Arial"/>
                <a:cs typeface="Arial"/>
              </a:rPr>
              <a:t>as a service principal</a:t>
            </a:r>
          </a:p>
        </p:txBody>
      </p:sp>
      <p:sp>
        <p:nvSpPr>
          <p:cNvPr id="22" name="Shape 19">
            <a:extLst xmlns:a="http://schemas.openxmlformats.org/drawingml/2006/main">
              <a:ext uri="{FF2B5EF4-FFF2-40B4-BE49-F238E27FC236}">
                <a16:creationId xmlns:a16="http://schemas.microsoft.com/office/drawing/2014/main" id="{E99D7B40-A124-482C-B25A-91051B5E379E}"/>
              </a:ext>
            </a:extLst>
          </p:cNvPr>
          <p:cNvSpPr>
            <a:spLocks xmlns:a="http://schemas.openxmlformats.org/drawingml/2006/main" noGrp="1"/>
          </p:cNvSpPr>
          <p:nvPr/>
        </p:nvSpPr>
        <p:spPr>
          <a:xfrm xmlns:a="http://schemas.openxmlformats.org/drawingml/2006/main">
            <a:off x="502920" y="3657600"/>
            <a:ext cx="8138160" cy="868680"/>
          </a:xfrm>
          <a:prstGeom xmlns:a="http://schemas.openxmlformats.org/drawingml/2006/main" prst="rect">
            <a:avLst/>
          </a:prstGeom>
          <a:solidFill xmlns:a="http://schemas.openxmlformats.org/drawingml/2006/main">
            <a:srgbClr val="FDF3F3"/>
          </a:solidFill>
        </p:spPr>
      </p:sp>
      <p:sp>
        <p:nvSpPr>
          <p:cNvPr id="23" name="Shape 20">
            <a:extLst xmlns:a="http://schemas.openxmlformats.org/drawingml/2006/main">
              <a:ext uri="{FF2B5EF4-FFF2-40B4-BE49-F238E27FC236}">
                <a16:creationId xmlns:a16="http://schemas.microsoft.com/office/drawing/2014/main" id="{699CEF8C-BB00-4D15-9FC0-AF60D0ADA10E}"/>
              </a:ext>
            </a:extLst>
          </p:cNvPr>
          <p:cNvSpPr>
            <a:spLocks xmlns:a="http://schemas.openxmlformats.org/drawingml/2006/main" noGrp="1"/>
          </p:cNvSpPr>
          <p:nvPr/>
        </p:nvSpPr>
        <p:spPr>
          <a:xfrm xmlns:a="http://schemas.openxmlformats.org/drawingml/2006/main">
            <a:off x="502920" y="3657600"/>
            <a:ext cx="54864" cy="868680"/>
          </a:xfrm>
          <a:prstGeom xmlns:a="http://schemas.openxmlformats.org/drawingml/2006/main" prst="rect">
            <a:avLst/>
          </a:prstGeom>
          <a:solidFill xmlns:a="http://schemas.openxmlformats.org/drawingml/2006/main">
            <a:srgbClr val="E31E24"/>
          </a:solidFill>
        </p:spPr>
      </p:sp>
      <p:sp>
        <p:nvSpPr>
          <p:cNvPr id="24" name="Text 21">
            <a:extLst xmlns:a="http://schemas.openxmlformats.org/drawingml/2006/main">
              <a:ext uri="{FF2B5EF4-FFF2-40B4-BE49-F238E27FC236}">
                <a16:creationId xmlns:a16="http://schemas.microsoft.com/office/drawing/2014/main" id="{81B6AB27-0151-41AD-8E08-45652BE6C982}"/>
              </a:ext>
            </a:extLst>
          </p:cNvPr>
          <p:cNvSpPr>
            <a:spLocks xmlns:a="http://schemas.openxmlformats.org/drawingml/2006/main" noGrp="1"/>
          </p:cNvSpPr>
          <p:nvPr/>
        </p:nvSpPr>
        <p:spPr>
          <a:xfrm xmlns:a="http://schemas.openxmlformats.org/drawingml/2006/main">
            <a:off x="704088" y="3712464"/>
            <a:ext cx="7772400" cy="758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TWO LAYERS, FOUR OBJECTIVES   </a:t>
            </a:r>
            <a:r>
              <a:rPr sz="1100">
                <a:solidFill>
                  <a:srgbClr val="2C3E50"/>
                </a:solidFill>
                <a:latin typeface="Arial"/>
                <a:ea typeface="Arial"/>
                <a:cs typeface="Arial"/>
              </a:rPr>
              <a:t>Git folders (workspace Git workflow) + Declarative Automation Bundles (deployable definitions of jobs, pipelines, and config). All four Domain 5 objectives live in the next three slides.</a:t>
            </a:r>
          </a:p>
        </p:txBody>
      </p:sp>
    </p:spTree>
    <p:extLst>
      <p:ext uri="{BB962C8B-B14F-4D97-AF65-F5344CB8AC3E}">
        <p14:creationId xmlns:p14="http://schemas.microsoft.com/office/powerpoint/2010/main" val="5702063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F97641-E84B-47DC-BEBE-B460A5BB6AB3}"/>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5 · VERBATIM OBJECTIVE</a:t>
            </a:r>
          </a:p>
        </p:txBody>
      </p:sp>
      <p:sp>
        <p:nvSpPr>
          <p:cNvPr id="3" name="Text 1">
            <a:extLst xmlns:a="http://schemas.openxmlformats.org/drawingml/2006/main">
              <a:ext uri="{FF2B5EF4-FFF2-40B4-BE49-F238E27FC236}">
                <a16:creationId xmlns:a16="http://schemas.microsoft.com/office/drawing/2014/main" id="{1495E98E-20E0-470C-B70E-F007B4B35801}"/>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Git folders: the workspace Git loop</a:t>
            </a:r>
          </a:p>
        </p:txBody>
      </p:sp>
      <p:sp>
        <p:nvSpPr>
          <p:cNvPr id="4" name="Text 2">
            <a:extLst xmlns:a="http://schemas.openxmlformats.org/drawingml/2006/main">
              <a:ext uri="{FF2B5EF4-FFF2-40B4-BE49-F238E27FC236}">
                <a16:creationId xmlns:a16="http://schemas.microsoft.com/office/drawing/2014/main" id="{497B263D-7EC2-481A-BA66-52A68ED75633}"/>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C59C504E-8571-4726-969A-699FA3DFE6E9}"/>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11</a:t>
            </a:r>
          </a:p>
        </p:txBody>
      </p:sp>
      <p:sp>
        <p:nvSpPr>
          <p:cNvPr id="7" name="Shape 4">
            <a:extLst xmlns:a="http://schemas.openxmlformats.org/drawingml/2006/main">
              <a:ext uri="{FF2B5EF4-FFF2-40B4-BE49-F238E27FC236}">
                <a16:creationId xmlns:a16="http://schemas.microsoft.com/office/drawing/2014/main" id="{B363E400-F4BB-439C-9877-9A0EAC629513}"/>
              </a:ext>
            </a:extLst>
          </p:cNvPr>
          <p:cNvSpPr>
            <a:spLocks xmlns:a="http://schemas.openxmlformats.org/drawingml/2006/main" noGrp="1"/>
          </p:cNvSpPr>
          <p:nvPr/>
        </p:nvSpPr>
        <p:spPr>
          <a:xfrm xmlns:a="http://schemas.openxmlformats.org/drawingml/2006/main">
            <a:off x="566928" y="1691640"/>
            <a:ext cx="1298448" cy="822960"/>
          </a:xfrm>
          <a:prstGeom xmlns:a="http://schemas.openxmlformats.org/drawingml/2006/main" prst="rect">
            <a:avLst/>
          </a:prstGeom>
          <a:solidFill xmlns:a="http://schemas.openxmlformats.org/drawingml/2006/main">
            <a:srgbClr val="2C3E50"/>
          </a:solidFill>
        </p:spPr>
      </p:sp>
      <p:sp>
        <p:nvSpPr>
          <p:cNvPr id="8" name="Text 5">
            <a:extLst xmlns:a="http://schemas.openxmlformats.org/drawingml/2006/main">
              <a:ext uri="{FF2B5EF4-FFF2-40B4-BE49-F238E27FC236}">
                <a16:creationId xmlns:a16="http://schemas.microsoft.com/office/drawing/2014/main" id="{40E3083A-7D2D-4FDF-9DD5-58BB5DFE6BEA}"/>
              </a:ext>
            </a:extLst>
          </p:cNvPr>
          <p:cNvSpPr>
            <a:spLocks xmlns:a="http://schemas.openxmlformats.org/drawingml/2006/main" noGrp="1"/>
          </p:cNvSpPr>
          <p:nvPr/>
        </p:nvSpPr>
        <p:spPr>
          <a:xfrm xmlns:a="http://schemas.openxmlformats.org/drawingml/2006/main">
            <a:off x="566928" y="1691640"/>
            <a:ext cx="1298448" cy="82296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50" b="1">
                <a:solidFill>
                  <a:srgbClr val="FFFFFF"/>
                </a:solidFill>
                <a:latin typeface="Arial"/>
                <a:ea typeface="Arial"/>
                <a:cs typeface="Arial"/>
              </a:rPr>
              <a:t>BRANCH</a:t>
            </a:r>
          </a:p>
        </p:txBody>
      </p:sp>
      <p:sp>
        <p:nvSpPr>
          <p:cNvPr id="9" name="Text 6">
            <a:extLst xmlns:a="http://schemas.openxmlformats.org/drawingml/2006/main">
              <a:ext uri="{FF2B5EF4-FFF2-40B4-BE49-F238E27FC236}">
                <a16:creationId xmlns:a16="http://schemas.microsoft.com/office/drawing/2014/main" id="{1508A1B2-1D0D-4CBD-9FFB-B7B6E9EFE824}"/>
              </a:ext>
            </a:extLst>
          </p:cNvPr>
          <p:cNvSpPr>
            <a:spLocks xmlns:a="http://schemas.openxmlformats.org/drawingml/2006/main" noGrp="1"/>
          </p:cNvSpPr>
          <p:nvPr/>
        </p:nvSpPr>
        <p:spPr>
          <a:xfrm xmlns:a="http://schemas.openxmlformats.org/drawingml/2006/main">
            <a:off x="429768" y="2569464"/>
            <a:ext cx="15727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workspace UI</a:t>
            </a:r>
          </a:p>
        </p:txBody>
      </p:sp>
      <p:sp>
        <p:nvSpPr>
          <p:cNvPr id="10" name="Text 7">
            <a:extLst xmlns:a="http://schemas.openxmlformats.org/drawingml/2006/main">
              <a:ext uri="{FF2B5EF4-FFF2-40B4-BE49-F238E27FC236}">
                <a16:creationId xmlns:a16="http://schemas.microsoft.com/office/drawing/2014/main" id="{C0CB9B34-3328-4B29-BEC3-D4566ED33E83}"/>
              </a:ext>
            </a:extLst>
          </p:cNvPr>
          <p:cNvSpPr>
            <a:spLocks xmlns:a="http://schemas.openxmlformats.org/drawingml/2006/main" noGrp="1"/>
          </p:cNvSpPr>
          <p:nvPr/>
        </p:nvSpPr>
        <p:spPr>
          <a:xfrm xmlns:a="http://schemas.openxmlformats.org/drawingml/2006/main">
            <a:off x="1847088" y="1929384"/>
            <a:ext cx="4389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1" name="Shape 8">
            <a:extLst xmlns:a="http://schemas.openxmlformats.org/drawingml/2006/main">
              <a:ext uri="{FF2B5EF4-FFF2-40B4-BE49-F238E27FC236}">
                <a16:creationId xmlns:a16="http://schemas.microsoft.com/office/drawing/2014/main" id="{E0AA1956-C27E-447F-BBB8-169C573AD77D}"/>
              </a:ext>
            </a:extLst>
          </p:cNvPr>
          <p:cNvSpPr>
            <a:spLocks xmlns:a="http://schemas.openxmlformats.org/drawingml/2006/main" noGrp="1"/>
          </p:cNvSpPr>
          <p:nvPr/>
        </p:nvSpPr>
        <p:spPr>
          <a:xfrm xmlns:a="http://schemas.openxmlformats.org/drawingml/2006/main">
            <a:off x="2249424" y="1691640"/>
            <a:ext cx="1298448" cy="822960"/>
          </a:xfrm>
          <a:prstGeom xmlns:a="http://schemas.openxmlformats.org/drawingml/2006/main" prst="rect">
            <a:avLst/>
          </a:prstGeom>
          <a:solidFill xmlns:a="http://schemas.openxmlformats.org/drawingml/2006/main">
            <a:srgbClr val="2C3E50"/>
          </a:solidFill>
        </p:spPr>
      </p:sp>
      <p:sp>
        <p:nvSpPr>
          <p:cNvPr id="12" name="Text 9">
            <a:extLst xmlns:a="http://schemas.openxmlformats.org/drawingml/2006/main">
              <a:ext uri="{FF2B5EF4-FFF2-40B4-BE49-F238E27FC236}">
                <a16:creationId xmlns:a16="http://schemas.microsoft.com/office/drawing/2014/main" id="{3A4608E8-4969-4D61-B565-032520E3F108}"/>
              </a:ext>
            </a:extLst>
          </p:cNvPr>
          <p:cNvSpPr>
            <a:spLocks xmlns:a="http://schemas.openxmlformats.org/drawingml/2006/main" noGrp="1"/>
          </p:cNvSpPr>
          <p:nvPr/>
        </p:nvSpPr>
        <p:spPr>
          <a:xfrm xmlns:a="http://schemas.openxmlformats.org/drawingml/2006/main">
            <a:off x="2249424" y="1691640"/>
            <a:ext cx="1298448" cy="82296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50" b="1">
                <a:solidFill>
                  <a:srgbClr val="FFFFFF"/>
                </a:solidFill>
                <a:latin typeface="Arial"/>
                <a:ea typeface="Arial"/>
                <a:cs typeface="Arial"/>
              </a:rPr>
              <a:t>EDIT</a:t>
            </a:r>
          </a:p>
        </p:txBody>
      </p:sp>
      <p:sp>
        <p:nvSpPr>
          <p:cNvPr id="13" name="Text 10">
            <a:extLst xmlns:a="http://schemas.openxmlformats.org/drawingml/2006/main">
              <a:ext uri="{FF2B5EF4-FFF2-40B4-BE49-F238E27FC236}">
                <a16:creationId xmlns:a16="http://schemas.microsoft.com/office/drawing/2014/main" id="{6241419E-E161-4FA8-A73D-568734AEB753}"/>
              </a:ext>
            </a:extLst>
          </p:cNvPr>
          <p:cNvSpPr>
            <a:spLocks xmlns:a="http://schemas.openxmlformats.org/drawingml/2006/main" noGrp="1"/>
          </p:cNvSpPr>
          <p:nvPr/>
        </p:nvSpPr>
        <p:spPr>
          <a:xfrm xmlns:a="http://schemas.openxmlformats.org/drawingml/2006/main">
            <a:off x="2112264" y="2569464"/>
            <a:ext cx="15727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notebooks in the</a:t>
            </a:r>
          </a:p>
          <a:p xmlns:a="http://schemas.openxmlformats.org/drawingml/2006/main">
            <a:pPr marL="0" indent="0" algn="ctr">
              <a:lnSpc>
                <a:spcPts val="1100"/>
              </a:lnSpc>
              <a:buNone/>
            </a:pPr>
            <a:r>
              <a:rPr sz="900">
                <a:solidFill>
                  <a:srgbClr val="7F8C8D"/>
                </a:solidFill>
                <a:latin typeface="Arial"/>
                <a:ea typeface="Arial"/>
                <a:cs typeface="Arial"/>
              </a:rPr>
              <a:t>Git folder</a:t>
            </a:r>
          </a:p>
        </p:txBody>
      </p:sp>
      <p:sp>
        <p:nvSpPr>
          <p:cNvPr id="14" name="Text 11">
            <a:extLst xmlns:a="http://schemas.openxmlformats.org/drawingml/2006/main">
              <a:ext uri="{FF2B5EF4-FFF2-40B4-BE49-F238E27FC236}">
                <a16:creationId xmlns:a16="http://schemas.microsoft.com/office/drawing/2014/main" id="{1ACB9D7D-FAE8-4DC0-A162-D60BCC4E823C}"/>
              </a:ext>
            </a:extLst>
          </p:cNvPr>
          <p:cNvSpPr>
            <a:spLocks xmlns:a="http://schemas.openxmlformats.org/drawingml/2006/main" noGrp="1"/>
          </p:cNvSpPr>
          <p:nvPr/>
        </p:nvSpPr>
        <p:spPr>
          <a:xfrm xmlns:a="http://schemas.openxmlformats.org/drawingml/2006/main">
            <a:off x="3529584" y="1929384"/>
            <a:ext cx="4389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5" name="Shape 12">
            <a:extLst xmlns:a="http://schemas.openxmlformats.org/drawingml/2006/main">
              <a:ext uri="{FF2B5EF4-FFF2-40B4-BE49-F238E27FC236}">
                <a16:creationId xmlns:a16="http://schemas.microsoft.com/office/drawing/2014/main" id="{9116CB21-D0B0-486E-8E04-9665D33C0C00}"/>
              </a:ext>
            </a:extLst>
          </p:cNvPr>
          <p:cNvSpPr>
            <a:spLocks xmlns:a="http://schemas.openxmlformats.org/drawingml/2006/main" noGrp="1"/>
          </p:cNvSpPr>
          <p:nvPr/>
        </p:nvSpPr>
        <p:spPr>
          <a:xfrm xmlns:a="http://schemas.openxmlformats.org/drawingml/2006/main">
            <a:off x="3931920" y="1691640"/>
            <a:ext cx="1298448" cy="822960"/>
          </a:xfrm>
          <a:prstGeom xmlns:a="http://schemas.openxmlformats.org/drawingml/2006/main" prst="rect">
            <a:avLst/>
          </a:prstGeom>
          <a:solidFill xmlns:a="http://schemas.openxmlformats.org/drawingml/2006/main">
            <a:srgbClr val="2C3E50"/>
          </a:solidFill>
        </p:spPr>
      </p:sp>
      <p:sp>
        <p:nvSpPr>
          <p:cNvPr id="16" name="Text 13">
            <a:extLst xmlns:a="http://schemas.openxmlformats.org/drawingml/2006/main">
              <a:ext uri="{FF2B5EF4-FFF2-40B4-BE49-F238E27FC236}">
                <a16:creationId xmlns:a16="http://schemas.microsoft.com/office/drawing/2014/main" id="{E6810DFA-E31B-45FC-AF33-390A8C627285}"/>
              </a:ext>
            </a:extLst>
          </p:cNvPr>
          <p:cNvSpPr>
            <a:spLocks xmlns:a="http://schemas.openxmlformats.org/drawingml/2006/main" noGrp="1"/>
          </p:cNvSpPr>
          <p:nvPr/>
        </p:nvSpPr>
        <p:spPr>
          <a:xfrm xmlns:a="http://schemas.openxmlformats.org/drawingml/2006/main">
            <a:off x="3931920" y="1691640"/>
            <a:ext cx="1298448" cy="82296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50" b="1">
                <a:solidFill>
                  <a:srgbClr val="FFFFFF"/>
                </a:solidFill>
                <a:latin typeface="Arial"/>
                <a:ea typeface="Arial"/>
                <a:cs typeface="Arial"/>
              </a:rPr>
              <a:t>COMMIT</a:t>
            </a:r>
          </a:p>
          <a:p xmlns:a="http://schemas.openxmlformats.org/drawingml/2006/main">
            <a:pPr marL="0" indent="0" algn="ctr">
              <a:lnSpc>
                <a:spcPts val="1150"/>
              </a:lnSpc>
              <a:buNone/>
            </a:pPr>
            <a:r>
              <a:rPr sz="1050" b="1">
                <a:solidFill>
                  <a:srgbClr val="FFFFFF"/>
                </a:solidFill>
                <a:latin typeface="Arial"/>
                <a:ea typeface="Arial"/>
                <a:cs typeface="Arial"/>
              </a:rPr>
              <a:t>+ PUSH</a:t>
            </a:r>
          </a:p>
        </p:txBody>
      </p:sp>
      <p:sp>
        <p:nvSpPr>
          <p:cNvPr id="17" name="Text 14">
            <a:extLst xmlns:a="http://schemas.openxmlformats.org/drawingml/2006/main">
              <a:ext uri="{FF2B5EF4-FFF2-40B4-BE49-F238E27FC236}">
                <a16:creationId xmlns:a16="http://schemas.microsoft.com/office/drawing/2014/main" id="{D46F3E06-A60E-462E-BE8B-8668C05F7DE6}"/>
              </a:ext>
            </a:extLst>
          </p:cNvPr>
          <p:cNvSpPr>
            <a:spLocks xmlns:a="http://schemas.openxmlformats.org/drawingml/2006/main" noGrp="1"/>
          </p:cNvSpPr>
          <p:nvPr/>
        </p:nvSpPr>
        <p:spPr>
          <a:xfrm xmlns:a="http://schemas.openxmlformats.org/drawingml/2006/main">
            <a:off x="3794760" y="2569464"/>
            <a:ext cx="15727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workspace UI</a:t>
            </a:r>
          </a:p>
          <a:p xmlns:a="http://schemas.openxmlformats.org/drawingml/2006/main">
            <a:pPr marL="0" indent="0" algn="ctr">
              <a:lnSpc>
                <a:spcPts val="1100"/>
              </a:lnSpc>
              <a:buNone/>
            </a:pPr>
            <a:r>
              <a:rPr sz="900">
                <a:solidFill>
                  <a:srgbClr val="7F8C8D"/>
                </a:solidFill>
                <a:latin typeface="Arial"/>
                <a:ea typeface="Arial"/>
                <a:cs typeface="Arial"/>
              </a:rPr>
              <a:t>(diff view first)</a:t>
            </a:r>
          </a:p>
        </p:txBody>
      </p:sp>
      <p:sp>
        <p:nvSpPr>
          <p:cNvPr id="18" name="Text 15">
            <a:extLst xmlns:a="http://schemas.openxmlformats.org/drawingml/2006/main">
              <a:ext uri="{FF2B5EF4-FFF2-40B4-BE49-F238E27FC236}">
                <a16:creationId xmlns:a16="http://schemas.microsoft.com/office/drawing/2014/main" id="{CF999097-DBDF-4732-97D8-B3F5655E22C8}"/>
              </a:ext>
            </a:extLst>
          </p:cNvPr>
          <p:cNvSpPr>
            <a:spLocks xmlns:a="http://schemas.openxmlformats.org/drawingml/2006/main" noGrp="1"/>
          </p:cNvSpPr>
          <p:nvPr/>
        </p:nvSpPr>
        <p:spPr>
          <a:xfrm xmlns:a="http://schemas.openxmlformats.org/drawingml/2006/main">
            <a:off x="5212080" y="1929384"/>
            <a:ext cx="4389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9" name="Shape 16">
            <a:extLst xmlns:a="http://schemas.openxmlformats.org/drawingml/2006/main">
              <a:ext uri="{FF2B5EF4-FFF2-40B4-BE49-F238E27FC236}">
                <a16:creationId xmlns:a16="http://schemas.microsoft.com/office/drawing/2014/main" id="{53636FB5-708A-4F89-9799-15C36D563DA4}"/>
              </a:ext>
            </a:extLst>
          </p:cNvPr>
          <p:cNvSpPr>
            <a:spLocks xmlns:a="http://schemas.openxmlformats.org/drawingml/2006/main" noGrp="1"/>
          </p:cNvSpPr>
          <p:nvPr/>
        </p:nvSpPr>
        <p:spPr>
          <a:xfrm xmlns:a="http://schemas.openxmlformats.org/drawingml/2006/main">
            <a:off x="5614416" y="1691640"/>
            <a:ext cx="1298448" cy="822960"/>
          </a:xfrm>
          <a:prstGeom xmlns:a="http://schemas.openxmlformats.org/drawingml/2006/main" prst="rect">
            <a:avLst/>
          </a:prstGeom>
          <a:solidFill xmlns:a="http://schemas.openxmlformats.org/drawingml/2006/main">
            <a:srgbClr val="E31E24"/>
          </a:solidFill>
        </p:spPr>
      </p:sp>
      <p:sp>
        <p:nvSpPr>
          <p:cNvPr id="20" name="Text 17">
            <a:extLst xmlns:a="http://schemas.openxmlformats.org/drawingml/2006/main">
              <a:ext uri="{FF2B5EF4-FFF2-40B4-BE49-F238E27FC236}">
                <a16:creationId xmlns:a16="http://schemas.microsoft.com/office/drawing/2014/main" id="{22A0954C-27A8-4B19-8BDB-80D1B03F18F2}"/>
              </a:ext>
            </a:extLst>
          </p:cNvPr>
          <p:cNvSpPr>
            <a:spLocks xmlns:a="http://schemas.openxmlformats.org/drawingml/2006/main" noGrp="1"/>
          </p:cNvSpPr>
          <p:nvPr/>
        </p:nvSpPr>
        <p:spPr>
          <a:xfrm xmlns:a="http://schemas.openxmlformats.org/drawingml/2006/main">
            <a:off x="5614416" y="1691640"/>
            <a:ext cx="1298448" cy="82296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50" b="1">
                <a:solidFill>
                  <a:srgbClr val="FFFFFF"/>
                </a:solidFill>
                <a:latin typeface="Arial"/>
                <a:ea typeface="Arial"/>
                <a:cs typeface="Arial"/>
              </a:rPr>
              <a:t>PULL</a:t>
            </a:r>
          </a:p>
          <a:p xmlns:a="http://schemas.openxmlformats.org/drawingml/2006/main">
            <a:pPr marL="0" indent="0" algn="ctr">
              <a:lnSpc>
                <a:spcPts val="1150"/>
              </a:lnSpc>
              <a:buNone/>
            </a:pPr>
            <a:r>
              <a:rPr sz="1050" b="1">
                <a:solidFill>
                  <a:srgbClr val="FFFFFF"/>
                </a:solidFill>
                <a:latin typeface="Arial"/>
                <a:ea typeface="Arial"/>
                <a:cs typeface="Arial"/>
              </a:rPr>
              <a:t>REQUEST</a:t>
            </a:r>
          </a:p>
        </p:txBody>
      </p:sp>
      <p:sp>
        <p:nvSpPr>
          <p:cNvPr id="21" name="Text 18">
            <a:extLst xmlns:a="http://schemas.openxmlformats.org/drawingml/2006/main">
              <a:ext uri="{FF2B5EF4-FFF2-40B4-BE49-F238E27FC236}">
                <a16:creationId xmlns:a16="http://schemas.microsoft.com/office/drawing/2014/main" id="{0E3685A9-75C5-422A-B61B-070B0EAA122E}"/>
              </a:ext>
            </a:extLst>
          </p:cNvPr>
          <p:cNvSpPr>
            <a:spLocks xmlns:a="http://schemas.openxmlformats.org/drawingml/2006/main" noGrp="1"/>
          </p:cNvSpPr>
          <p:nvPr/>
        </p:nvSpPr>
        <p:spPr>
          <a:xfrm xmlns:a="http://schemas.openxmlformats.org/drawingml/2006/main">
            <a:off x="5477256" y="2569464"/>
            <a:ext cx="15727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IN THE PROVIDER</a:t>
            </a:r>
          </a:p>
          <a:p xmlns:a="http://schemas.openxmlformats.org/drawingml/2006/main">
            <a:pPr marL="0" indent="0" algn="ctr">
              <a:lnSpc>
                <a:spcPts val="1100"/>
              </a:lnSpc>
              <a:buNone/>
            </a:pPr>
            <a:r>
              <a:rPr sz="900">
                <a:solidFill>
                  <a:srgbClr val="7F8C8D"/>
                </a:solidFill>
                <a:latin typeface="Arial"/>
                <a:ea typeface="Arial"/>
                <a:cs typeface="Arial"/>
              </a:rPr>
              <a:t>— not Databricks</a:t>
            </a:r>
          </a:p>
        </p:txBody>
      </p:sp>
      <p:sp>
        <p:nvSpPr>
          <p:cNvPr id="22" name="Text 19">
            <a:extLst xmlns:a="http://schemas.openxmlformats.org/drawingml/2006/main">
              <a:ext uri="{FF2B5EF4-FFF2-40B4-BE49-F238E27FC236}">
                <a16:creationId xmlns:a16="http://schemas.microsoft.com/office/drawing/2014/main" id="{E03C14E1-7631-4424-ACCB-411B7552751B}"/>
              </a:ext>
            </a:extLst>
          </p:cNvPr>
          <p:cNvSpPr>
            <a:spLocks xmlns:a="http://schemas.openxmlformats.org/drawingml/2006/main" noGrp="1"/>
          </p:cNvSpPr>
          <p:nvPr/>
        </p:nvSpPr>
        <p:spPr>
          <a:xfrm xmlns:a="http://schemas.openxmlformats.org/drawingml/2006/main">
            <a:off x="6894576" y="1929384"/>
            <a:ext cx="43891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23" name="Shape 20">
            <a:extLst xmlns:a="http://schemas.openxmlformats.org/drawingml/2006/main">
              <a:ext uri="{FF2B5EF4-FFF2-40B4-BE49-F238E27FC236}">
                <a16:creationId xmlns:a16="http://schemas.microsoft.com/office/drawing/2014/main" id="{104FFD3D-F113-43D2-94D5-0E1C84AFC336}"/>
              </a:ext>
            </a:extLst>
          </p:cNvPr>
          <p:cNvSpPr>
            <a:spLocks xmlns:a="http://schemas.openxmlformats.org/drawingml/2006/main" noGrp="1"/>
          </p:cNvSpPr>
          <p:nvPr/>
        </p:nvSpPr>
        <p:spPr>
          <a:xfrm xmlns:a="http://schemas.openxmlformats.org/drawingml/2006/main">
            <a:off x="7296912" y="1691640"/>
            <a:ext cx="1298448" cy="822960"/>
          </a:xfrm>
          <a:prstGeom xmlns:a="http://schemas.openxmlformats.org/drawingml/2006/main" prst="rect">
            <a:avLst/>
          </a:prstGeom>
          <a:solidFill xmlns:a="http://schemas.openxmlformats.org/drawingml/2006/main">
            <a:srgbClr val="3D5166"/>
          </a:solidFill>
        </p:spPr>
      </p:sp>
      <p:sp>
        <p:nvSpPr>
          <p:cNvPr id="24" name="Text 21">
            <a:extLst xmlns:a="http://schemas.openxmlformats.org/drawingml/2006/main">
              <a:ext uri="{FF2B5EF4-FFF2-40B4-BE49-F238E27FC236}">
                <a16:creationId xmlns:a16="http://schemas.microsoft.com/office/drawing/2014/main" id="{5C556251-8425-470F-B341-8080392794BC}"/>
              </a:ext>
            </a:extLst>
          </p:cNvPr>
          <p:cNvSpPr>
            <a:spLocks xmlns:a="http://schemas.openxmlformats.org/drawingml/2006/main" noGrp="1"/>
          </p:cNvSpPr>
          <p:nvPr/>
        </p:nvSpPr>
        <p:spPr>
          <a:xfrm xmlns:a="http://schemas.openxmlformats.org/drawingml/2006/main">
            <a:off x="7296912" y="1691640"/>
            <a:ext cx="1298448" cy="82296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150"/>
              </a:lnSpc>
              <a:buNone/>
            </a:pPr>
            <a:r>
              <a:rPr sz="1050" b="1">
                <a:solidFill>
                  <a:srgbClr val="FFFFFF"/>
                </a:solidFill>
                <a:latin typeface="Arial"/>
                <a:ea typeface="Arial"/>
                <a:cs typeface="Arial"/>
              </a:rPr>
              <a:t>MERGE</a:t>
            </a:r>
          </a:p>
          <a:p xmlns:a="http://schemas.openxmlformats.org/drawingml/2006/main">
            <a:pPr marL="0" indent="0" algn="ctr">
              <a:lnSpc>
                <a:spcPts val="1150"/>
              </a:lnSpc>
              <a:buNone/>
            </a:pPr>
            <a:r>
              <a:rPr sz="1050" b="1">
                <a:solidFill>
                  <a:srgbClr val="FFFFFF"/>
                </a:solidFill>
                <a:latin typeface="Arial"/>
                <a:ea typeface="Arial"/>
                <a:cs typeface="Arial"/>
              </a:rPr>
              <a:t>→ PULL</a:t>
            </a:r>
          </a:p>
        </p:txBody>
      </p:sp>
      <p:sp>
        <p:nvSpPr>
          <p:cNvPr id="25" name="Text 22">
            <a:extLst xmlns:a="http://schemas.openxmlformats.org/drawingml/2006/main">
              <a:ext uri="{FF2B5EF4-FFF2-40B4-BE49-F238E27FC236}">
                <a16:creationId xmlns:a16="http://schemas.microsoft.com/office/drawing/2014/main" id="{894E3A32-73DA-407E-9FA2-2372C238297A}"/>
              </a:ext>
            </a:extLst>
          </p:cNvPr>
          <p:cNvSpPr>
            <a:spLocks xmlns:a="http://schemas.openxmlformats.org/drawingml/2006/main" noGrp="1"/>
          </p:cNvSpPr>
          <p:nvPr/>
        </p:nvSpPr>
        <p:spPr>
          <a:xfrm xmlns:a="http://schemas.openxmlformats.org/drawingml/2006/main">
            <a:off x="7159752" y="2569464"/>
            <a:ext cx="15727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prod folder</a:t>
            </a:r>
          </a:p>
          <a:p xmlns:a="http://schemas.openxmlformats.org/drawingml/2006/main">
            <a:pPr marL="0" indent="0" algn="ctr">
              <a:lnSpc>
                <a:spcPts val="1100"/>
              </a:lnSpc>
              <a:buNone/>
            </a:pPr>
            <a:r>
              <a:rPr sz="900">
                <a:solidFill>
                  <a:srgbClr val="7F8C8D"/>
                </a:solidFill>
                <a:latin typeface="Arial"/>
                <a:ea typeface="Arial"/>
                <a:cs typeface="Arial"/>
              </a:rPr>
              <a:t>pulls main</a:t>
            </a:r>
          </a:p>
        </p:txBody>
      </p:sp>
      <p:sp>
        <p:nvSpPr>
          <p:cNvPr id="26" name="Shape 23">
            <a:extLst xmlns:a="http://schemas.openxmlformats.org/drawingml/2006/main">
              <a:ext uri="{FF2B5EF4-FFF2-40B4-BE49-F238E27FC236}">
                <a16:creationId xmlns:a16="http://schemas.microsoft.com/office/drawing/2014/main" id="{BBB81813-1D67-4430-A911-48293FA83DE0}"/>
              </a:ext>
            </a:extLst>
          </p:cNvPr>
          <p:cNvSpPr>
            <a:spLocks xmlns:a="http://schemas.openxmlformats.org/drawingml/2006/main" noGrp="1"/>
          </p:cNvSpPr>
          <p:nvPr/>
        </p:nvSpPr>
        <p:spPr>
          <a:xfrm xmlns:a="http://schemas.openxmlformats.org/drawingml/2006/main">
            <a:off x="502920" y="3566160"/>
            <a:ext cx="8138160" cy="566928"/>
          </a:xfrm>
          <a:prstGeom xmlns:a="http://schemas.openxmlformats.org/drawingml/2006/main" prst="rect">
            <a:avLst/>
          </a:prstGeom>
          <a:solidFill xmlns:a="http://schemas.openxmlformats.org/drawingml/2006/main">
            <a:srgbClr val="FDF3F3"/>
          </a:solidFill>
        </p:spPr>
      </p:sp>
      <p:sp>
        <p:nvSpPr>
          <p:cNvPr id="27" name="Shape 24">
            <a:extLst xmlns:a="http://schemas.openxmlformats.org/drawingml/2006/main">
              <a:ext uri="{FF2B5EF4-FFF2-40B4-BE49-F238E27FC236}">
                <a16:creationId xmlns:a16="http://schemas.microsoft.com/office/drawing/2014/main" id="{655FE5E2-BA26-43E9-8F23-7B26AE758C75}"/>
              </a:ext>
            </a:extLst>
          </p:cNvPr>
          <p:cNvSpPr>
            <a:spLocks xmlns:a="http://schemas.openxmlformats.org/drawingml/2006/main" noGrp="1"/>
          </p:cNvSpPr>
          <p:nvPr/>
        </p:nvSpPr>
        <p:spPr>
          <a:xfrm xmlns:a="http://schemas.openxmlformats.org/drawingml/2006/main">
            <a:off x="502920" y="3566160"/>
            <a:ext cx="54864" cy="566928"/>
          </a:xfrm>
          <a:prstGeom xmlns:a="http://schemas.openxmlformats.org/drawingml/2006/main" prst="rect">
            <a:avLst/>
          </a:prstGeom>
          <a:solidFill xmlns:a="http://schemas.openxmlformats.org/drawingml/2006/main">
            <a:srgbClr val="E31E24"/>
          </a:solidFill>
        </p:spPr>
      </p:sp>
      <p:sp>
        <p:nvSpPr>
          <p:cNvPr id="28" name="Text 25">
            <a:extLst xmlns:a="http://schemas.openxmlformats.org/drawingml/2006/main">
              <a:ext uri="{FF2B5EF4-FFF2-40B4-BE49-F238E27FC236}">
                <a16:creationId xmlns:a16="http://schemas.microsoft.com/office/drawing/2014/main" id="{EE74F819-8D59-4318-8B9B-39AC7458A1FD}"/>
              </a:ext>
            </a:extLst>
          </p:cNvPr>
          <p:cNvSpPr>
            <a:spLocks xmlns:a="http://schemas.openxmlformats.org/drawingml/2006/main" noGrp="1"/>
          </p:cNvSpPr>
          <p:nvPr/>
        </p:nvSpPr>
        <p:spPr>
          <a:xfrm xmlns:a="http://schemas.openxmlformats.org/drawingml/2006/main">
            <a:off x="704088" y="3621024"/>
            <a:ext cx="7772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EXAM QUESTION SHAPE   </a:t>
            </a:r>
            <a:r>
              <a:rPr sz="1100">
                <a:solidFill>
                  <a:srgbClr val="2C3E50"/>
                </a:solidFill>
                <a:latin typeface="Arial"/>
                <a:ea typeface="Arial"/>
                <a:cs typeface="Arial"/>
              </a:rPr>
              <a:t>“Where is the pull request created?” → In the Git provider. The workspace handles branch, commit, push, pull.</a:t>
            </a:r>
          </a:p>
        </p:txBody>
      </p:sp>
    </p:spTree>
    <p:extLst>
      <p:ext uri="{BB962C8B-B14F-4D97-AF65-F5344CB8AC3E}">
        <p14:creationId xmlns:p14="http://schemas.microsoft.com/office/powerpoint/2010/main" val="68541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8B4DA5-3FB7-4DFE-BD95-EBCC736AF759}"/>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5 · STRUCTURE RECOGNITION</a:t>
            </a:r>
          </a:p>
        </p:txBody>
      </p:sp>
      <p:sp>
        <p:nvSpPr>
          <p:cNvPr id="3" name="Text 1">
            <a:extLst xmlns:a="http://schemas.openxmlformats.org/drawingml/2006/main">
              <a:ext uri="{FF2B5EF4-FFF2-40B4-BE49-F238E27FC236}">
                <a16:creationId xmlns:a16="http://schemas.microsoft.com/office/drawing/2014/main" id="{89F3EC3D-8670-4C1F-8866-8B104ACE7D09}"/>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databricks.yml — four blocks to recognize</a:t>
            </a:r>
          </a:p>
        </p:txBody>
      </p:sp>
      <p:sp>
        <p:nvSpPr>
          <p:cNvPr id="4" name="Text 2">
            <a:extLst xmlns:a="http://schemas.openxmlformats.org/drawingml/2006/main">
              <a:ext uri="{FF2B5EF4-FFF2-40B4-BE49-F238E27FC236}">
                <a16:creationId xmlns:a16="http://schemas.microsoft.com/office/drawing/2014/main" id="{5E8A2576-60B7-4769-9FD1-4E788D573868}"/>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A1C4FD22-558F-4F2F-9ABA-B70D552A4C8B}"/>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12</a:t>
            </a:r>
          </a:p>
        </p:txBody>
      </p:sp>
      <p:sp>
        <p:nvSpPr>
          <p:cNvPr id="7" name="Shape 4">
            <a:extLst xmlns:a="http://schemas.openxmlformats.org/drawingml/2006/main">
              <a:ext uri="{FF2B5EF4-FFF2-40B4-BE49-F238E27FC236}">
                <a16:creationId xmlns:a16="http://schemas.microsoft.com/office/drawing/2014/main" id="{FCABA0D6-7B24-4E35-AD43-8424A9877268}"/>
              </a:ext>
            </a:extLst>
          </p:cNvPr>
          <p:cNvSpPr>
            <a:spLocks xmlns:a="http://schemas.openxmlformats.org/drawingml/2006/main" noGrp="1"/>
          </p:cNvSpPr>
          <p:nvPr/>
        </p:nvSpPr>
        <p:spPr>
          <a:xfrm xmlns:a="http://schemas.openxmlformats.org/drawingml/2006/main">
            <a:off x="502920" y="1325880"/>
            <a:ext cx="4754880" cy="3383280"/>
          </a:xfrm>
          <a:prstGeom xmlns:a="http://schemas.openxmlformats.org/drawingml/2006/main" prst="rect">
            <a:avLst/>
          </a:prstGeom>
          <a:solidFill xmlns:a="http://schemas.openxmlformats.org/drawingml/2006/main">
            <a:srgbClr val="263545"/>
          </a:solidFill>
        </p:spPr>
      </p:sp>
      <p:sp>
        <p:nvSpPr>
          <p:cNvPr id="8" name="Shape 5">
            <a:extLst xmlns:a="http://schemas.openxmlformats.org/drawingml/2006/main">
              <a:ext uri="{FF2B5EF4-FFF2-40B4-BE49-F238E27FC236}">
                <a16:creationId xmlns:a16="http://schemas.microsoft.com/office/drawing/2014/main" id="{764CD036-59A6-4815-BB30-84CF2CD17F1C}"/>
              </a:ext>
            </a:extLst>
          </p:cNvPr>
          <p:cNvSpPr>
            <a:spLocks xmlns:a="http://schemas.openxmlformats.org/drawingml/2006/main" noGrp="1"/>
          </p:cNvSpPr>
          <p:nvPr/>
        </p:nvSpPr>
        <p:spPr>
          <a:xfrm xmlns:a="http://schemas.openxmlformats.org/drawingml/2006/main">
            <a:off x="502920" y="1325880"/>
            <a:ext cx="4754880" cy="274320"/>
          </a:xfrm>
          <a:prstGeom xmlns:a="http://schemas.openxmlformats.org/drawingml/2006/main" prst="rect">
            <a:avLst/>
          </a:prstGeom>
          <a:solidFill xmlns:a="http://schemas.openxmlformats.org/drawingml/2006/main">
            <a:srgbClr val="2C3E50"/>
          </a:solidFill>
        </p:spPr>
      </p:sp>
      <p:sp>
        <p:nvSpPr>
          <p:cNvPr id="9" name="Shape 6">
            <a:extLst xmlns:a="http://schemas.openxmlformats.org/drawingml/2006/main">
              <a:ext uri="{FF2B5EF4-FFF2-40B4-BE49-F238E27FC236}">
                <a16:creationId xmlns:a16="http://schemas.microsoft.com/office/drawing/2014/main" id="{8C3B5CF1-74CC-43EE-A449-39B6E3142534}"/>
              </a:ext>
            </a:extLst>
          </p:cNvPr>
          <p:cNvSpPr>
            <a:spLocks xmlns:a="http://schemas.openxmlformats.org/drawingml/2006/main" noGrp="1"/>
          </p:cNvSpPr>
          <p:nvPr/>
        </p:nvSpPr>
        <p:spPr>
          <a:xfrm xmlns:a="http://schemas.openxmlformats.org/drawingml/2006/main">
            <a:off x="630936" y="1417320"/>
            <a:ext cx="91440" cy="91440"/>
          </a:xfrm>
          <a:prstGeom xmlns:a="http://schemas.openxmlformats.org/drawingml/2006/main" prst="ellipse">
            <a:avLst/>
          </a:prstGeom>
          <a:solidFill xmlns:a="http://schemas.openxmlformats.org/drawingml/2006/main">
            <a:srgbClr val="E31E24"/>
          </a:solidFill>
        </p:spPr>
      </p:sp>
      <p:sp>
        <p:nvSpPr>
          <p:cNvPr id="10" name="Text 7">
            <a:extLst xmlns:a="http://schemas.openxmlformats.org/drawingml/2006/main">
              <a:ext uri="{FF2B5EF4-FFF2-40B4-BE49-F238E27FC236}">
                <a16:creationId xmlns:a16="http://schemas.microsoft.com/office/drawing/2014/main" id="{C67284C0-1BD5-44EC-AE4E-5BA590BC7B43}"/>
              </a:ext>
            </a:extLst>
          </p:cNvPr>
          <p:cNvSpPr>
            <a:spLocks xmlns:a="http://schemas.openxmlformats.org/drawingml/2006/main" noGrp="1"/>
          </p:cNvSpPr>
          <p:nvPr/>
        </p:nvSpPr>
        <p:spPr>
          <a:xfrm xmlns:a="http://schemas.openxmlformats.org/drawingml/2006/main">
            <a:off x="813816" y="1344168"/>
            <a:ext cx="4297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AAB7C4"/>
                </a:solidFill>
                <a:latin typeface="Consolas"/>
                <a:ea typeface="Consolas"/>
                <a:cs typeface="Consolas"/>
              </a:rPr>
              <a:t>databricks.yml</a:t>
            </a:r>
          </a:p>
        </p:txBody>
      </p:sp>
      <p:sp>
        <p:nvSpPr>
          <p:cNvPr id="11" name="Text 8">
            <a:extLst xmlns:a="http://schemas.openxmlformats.org/drawingml/2006/main">
              <a:ext uri="{FF2B5EF4-FFF2-40B4-BE49-F238E27FC236}">
                <a16:creationId xmlns:a16="http://schemas.microsoft.com/office/drawing/2014/main" id="{436AACCC-FA4C-4D01-B5BC-CEA7B55CB618}"/>
              </a:ext>
            </a:extLst>
          </p:cNvPr>
          <p:cNvSpPr>
            <a:spLocks xmlns:a="http://schemas.openxmlformats.org/drawingml/2006/main" noGrp="1"/>
          </p:cNvSpPr>
          <p:nvPr/>
        </p:nvSpPr>
        <p:spPr>
          <a:xfrm xmlns:a="http://schemas.openxmlformats.org/drawingml/2006/main">
            <a:off x="704088" y="1691640"/>
            <a:ext cx="4370832" cy="2907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50"/>
              </a:lnSpc>
              <a:buNone/>
            </a:pPr>
            <a:r>
              <a:rPr sz="1050">
                <a:solidFill>
                  <a:srgbClr val="EAF0F4"/>
                </a:solidFill>
                <a:latin typeface="Consolas"/>
                <a:ea typeface="Consolas"/>
                <a:cs typeface="Consolas"/>
              </a:rPr>
              <a:t>bundle:                    # ① name</a:t>
            </a:r>
          </a:p>
          <a:p xmlns:a="http://schemas.openxmlformats.org/drawingml/2006/main">
            <a:pPr marL="0" indent="0">
              <a:lnSpc>
                <a:spcPts val="1450"/>
              </a:lnSpc>
              <a:buNone/>
            </a:pPr>
            <a:r>
              <a:rPr sz="1050">
                <a:solidFill>
                  <a:srgbClr val="EAF0F4"/>
                </a:solidFill>
                <a:latin typeface="Consolas"/>
                <a:ea typeface="Consolas"/>
                <a:cs typeface="Consolas"/>
              </a:rPr>
              <a:t>  name: brewmart_pipeline</a:t>
            </a:r>
          </a:p>
          <a:p xmlns:a="http://schemas.openxmlformats.org/drawingml/2006/main">
            <a:pPr marL="0" indent="0">
              <a:lnSpc>
                <a:spcPts val="1450"/>
              </a:lnSpc>
              <a:buNone/>
            </a:pPr>
            <a:r>
              <a:rPr sz="1050">
                <a:solidFill>
                  <a:srgbClr val="EAF0F4"/>
                </a:solidFill>
                <a:latin typeface="Consolas"/>
                <a:ea typeface="Consolas"/>
                <a:cs typeface="Consolas"/>
              </a:rPr>
              <a:t>variables:                 # ② config knobs</a:t>
            </a:r>
          </a:p>
          <a:p xmlns:a="http://schemas.openxmlformats.org/drawingml/2006/main">
            <a:pPr marL="0" indent="0">
              <a:lnSpc>
                <a:spcPts val="1450"/>
              </a:lnSpc>
              <a:buNone/>
            </a:pPr>
            <a:r>
              <a:rPr sz="1050">
                <a:solidFill>
                  <a:srgbClr val="EAF0F4"/>
                </a:solidFill>
                <a:latin typeface="Consolas"/>
                <a:ea typeface="Consolas"/>
                <a:cs typeface="Consolas"/>
              </a:rPr>
              <a:t>  target_schema:</a:t>
            </a:r>
          </a:p>
          <a:p xmlns:a="http://schemas.openxmlformats.org/drawingml/2006/main">
            <a:pPr marL="0" indent="0">
              <a:lnSpc>
                <a:spcPts val="1450"/>
              </a:lnSpc>
              <a:buNone/>
            </a:pPr>
            <a:r>
              <a:rPr sz="1050">
                <a:solidFill>
                  <a:srgbClr val="EAF0F4"/>
                </a:solidFill>
                <a:latin typeface="Consolas"/>
                <a:ea typeface="Consolas"/>
                <a:cs typeface="Consolas"/>
              </a:rPr>
              <a:t>    default: lab1_dev</a:t>
            </a:r>
          </a:p>
          <a:p xmlns:a="http://schemas.openxmlformats.org/drawingml/2006/main">
            <a:pPr marL="0" indent="0">
              <a:lnSpc>
                <a:spcPts val="1450"/>
              </a:lnSpc>
              <a:buNone/>
            </a:pPr>
            <a:r>
              <a:rPr sz="1050">
                <a:solidFill>
                  <a:srgbClr val="EAF0F4"/>
                </a:solidFill>
                <a:latin typeface="Consolas"/>
                <a:ea typeface="Consolas"/>
                <a:cs typeface="Consolas"/>
              </a:rPr>
              <a:t>resources:                 # ③ the jobs</a:t>
            </a:r>
          </a:p>
          <a:p xmlns:a="http://schemas.openxmlformats.org/drawingml/2006/main">
            <a:pPr marL="0" indent="0">
              <a:lnSpc>
                <a:spcPts val="1450"/>
              </a:lnSpc>
              <a:buNone/>
            </a:pPr>
            <a:r>
              <a:rPr sz="1050">
                <a:solidFill>
                  <a:srgbClr val="EAF0F4"/>
                </a:solidFill>
                <a:latin typeface="Consolas"/>
                <a:ea typeface="Consolas"/>
                <a:cs typeface="Consolas"/>
              </a:rPr>
              <a:t>  jobs:</a:t>
            </a:r>
          </a:p>
          <a:p xmlns:a="http://schemas.openxmlformats.org/drawingml/2006/main">
            <a:pPr marL="0" indent="0">
              <a:lnSpc>
                <a:spcPts val="1450"/>
              </a:lnSpc>
              <a:buNone/>
            </a:pPr>
            <a:r>
              <a:rPr sz="1050">
                <a:solidFill>
                  <a:srgbClr val="EAF0F4"/>
                </a:solidFill>
                <a:latin typeface="Consolas"/>
                <a:ea typeface="Consolas"/>
                <a:cs typeface="Consolas"/>
              </a:rPr>
              <a:t>    brewmart_daily:</a:t>
            </a:r>
          </a:p>
          <a:p xmlns:a="http://schemas.openxmlformats.org/drawingml/2006/main">
            <a:pPr marL="0" indent="0">
              <a:lnSpc>
                <a:spcPts val="1450"/>
              </a:lnSpc>
              <a:buNone/>
            </a:pPr>
            <a:r>
              <a:rPr sz="1050">
                <a:solidFill>
                  <a:srgbClr val="EAF0F4"/>
                </a:solidFill>
                <a:latin typeface="Consolas"/>
                <a:ea typeface="Consolas"/>
                <a:cs typeface="Consolas"/>
              </a:rPr>
              <a:t>      tasks: [...]         #   depends_on lives here</a:t>
            </a:r>
          </a:p>
          <a:p xmlns:a="http://schemas.openxmlformats.org/drawingml/2006/main">
            <a:pPr marL="0" indent="0">
              <a:lnSpc>
                <a:spcPts val="1450"/>
              </a:lnSpc>
              <a:buNone/>
            </a:pPr>
            <a:r>
              <a:rPr sz="1050">
                <a:solidFill>
                  <a:srgbClr val="EAF0F4"/>
                </a:solidFill>
                <a:latin typeface="Consolas"/>
                <a:ea typeface="Consolas"/>
                <a:cs typeface="Consolas"/>
              </a:rPr>
              <a:t>targets:                   # ④ environments</a:t>
            </a:r>
          </a:p>
          <a:p xmlns:a="http://schemas.openxmlformats.org/drawingml/2006/main">
            <a:pPr marL="0" indent="0">
              <a:lnSpc>
                <a:spcPts val="1450"/>
              </a:lnSpc>
              <a:buNone/>
            </a:pPr>
            <a:r>
              <a:rPr sz="1050">
                <a:solidFill>
                  <a:srgbClr val="EAF0F4"/>
                </a:solidFill>
                <a:latin typeface="Consolas"/>
                <a:ea typeface="Consolas"/>
                <a:cs typeface="Consolas"/>
              </a:rPr>
              <a:t>  dev:  { variables: { target_schema: lab1_dev } }</a:t>
            </a:r>
          </a:p>
          <a:p xmlns:a="http://schemas.openxmlformats.org/drawingml/2006/main">
            <a:pPr marL="0" indent="0">
              <a:lnSpc>
                <a:spcPts val="1450"/>
              </a:lnSpc>
              <a:buNone/>
            </a:pPr>
            <a:r>
              <a:rPr sz="1050">
                <a:solidFill>
                  <a:srgbClr val="EAF0F4"/>
                </a:solidFill>
                <a:latin typeface="Consolas"/>
                <a:ea typeface="Consolas"/>
                <a:cs typeface="Consolas"/>
              </a:rPr>
              <a:t>  prod: { mode: production,</a:t>
            </a:r>
          </a:p>
          <a:p xmlns:a="http://schemas.openxmlformats.org/drawingml/2006/main">
            <a:pPr marL="0" indent="0">
              <a:lnSpc>
                <a:spcPts val="1450"/>
              </a:lnSpc>
              <a:buNone/>
            </a:pPr>
            <a:r>
              <a:rPr sz="1050">
                <a:solidFill>
                  <a:srgbClr val="EAF0F4"/>
                </a:solidFill>
                <a:latin typeface="Consolas"/>
                <a:ea typeface="Consolas"/>
                <a:cs typeface="Consolas"/>
              </a:rPr>
              <a:t>          variables: { target_schema: sales_prod } }</a:t>
            </a:r>
          </a:p>
        </p:txBody>
      </p:sp>
      <p:sp>
        <p:nvSpPr>
          <p:cNvPr id="12" name="Shape 9">
            <a:extLst xmlns:a="http://schemas.openxmlformats.org/drawingml/2006/main">
              <a:ext uri="{FF2B5EF4-FFF2-40B4-BE49-F238E27FC236}">
                <a16:creationId xmlns:a16="http://schemas.microsoft.com/office/drawing/2014/main" id="{F94C91DE-D5C1-4829-ACFB-816BD18D48D3}"/>
              </a:ext>
            </a:extLst>
          </p:cNvPr>
          <p:cNvSpPr>
            <a:spLocks xmlns:a="http://schemas.openxmlformats.org/drawingml/2006/main" noGrp="1"/>
          </p:cNvSpPr>
          <p:nvPr/>
        </p:nvSpPr>
        <p:spPr>
          <a:xfrm xmlns:a="http://schemas.openxmlformats.org/drawingml/2006/main">
            <a:off x="5486400" y="1527048"/>
            <a:ext cx="91440" cy="91440"/>
          </a:xfrm>
          <a:prstGeom xmlns:a="http://schemas.openxmlformats.org/drawingml/2006/main" prst="rect">
            <a:avLst/>
          </a:prstGeom>
          <a:solidFill xmlns:a="http://schemas.openxmlformats.org/drawingml/2006/main">
            <a:srgbClr val="E31E24"/>
          </a:solidFill>
        </p:spPr>
      </p:sp>
      <p:sp>
        <p:nvSpPr>
          <p:cNvPr id="13" name="Text 10">
            <a:extLst xmlns:a="http://schemas.openxmlformats.org/drawingml/2006/main">
              <a:ext uri="{FF2B5EF4-FFF2-40B4-BE49-F238E27FC236}">
                <a16:creationId xmlns:a16="http://schemas.microsoft.com/office/drawing/2014/main" id="{2BEB41A9-9436-48ED-9AD6-6FBD5F29956A}"/>
              </a:ext>
            </a:extLst>
          </p:cNvPr>
          <p:cNvSpPr>
            <a:spLocks xmlns:a="http://schemas.openxmlformats.org/drawingml/2006/main" noGrp="1"/>
          </p:cNvSpPr>
          <p:nvPr/>
        </p:nvSpPr>
        <p:spPr>
          <a:xfrm xmlns:a="http://schemas.openxmlformats.org/drawingml/2006/main">
            <a:off x="5705856" y="1426464"/>
            <a:ext cx="29352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Same code, both targets  </a:t>
            </a:r>
            <a:r>
              <a:rPr sz="1150">
                <a:solidFill>
                  <a:srgbClr val="55606B"/>
                </a:solidFill>
                <a:latin typeface="Arial"/>
                <a:ea typeface="Arial"/>
                <a:cs typeface="Arial"/>
              </a:rPr>
              <a:t>only the variable overrides differ</a:t>
            </a:r>
          </a:p>
        </p:txBody>
      </p:sp>
      <p:sp>
        <p:nvSpPr>
          <p:cNvPr id="14" name="Shape 11">
            <a:extLst xmlns:a="http://schemas.openxmlformats.org/drawingml/2006/main">
              <a:ext uri="{FF2B5EF4-FFF2-40B4-BE49-F238E27FC236}">
                <a16:creationId xmlns:a16="http://schemas.microsoft.com/office/drawing/2014/main" id="{FEABC500-2337-47AF-97D2-6AFDFC798514}"/>
              </a:ext>
            </a:extLst>
          </p:cNvPr>
          <p:cNvSpPr>
            <a:spLocks xmlns:a="http://schemas.openxmlformats.org/drawingml/2006/main" noGrp="1"/>
          </p:cNvSpPr>
          <p:nvPr/>
        </p:nvSpPr>
        <p:spPr>
          <a:xfrm xmlns:a="http://schemas.openxmlformats.org/drawingml/2006/main">
            <a:off x="5486400" y="2441448"/>
            <a:ext cx="91440" cy="91440"/>
          </a:xfrm>
          <a:prstGeom xmlns:a="http://schemas.openxmlformats.org/drawingml/2006/main" prst="rect">
            <a:avLst/>
          </a:prstGeom>
          <a:solidFill xmlns:a="http://schemas.openxmlformats.org/drawingml/2006/main">
            <a:srgbClr val="E31E24"/>
          </a:solidFill>
        </p:spPr>
      </p:sp>
      <p:sp>
        <p:nvSpPr>
          <p:cNvPr id="15" name="Text 12">
            <a:extLst xmlns:a="http://schemas.openxmlformats.org/drawingml/2006/main">
              <a:ext uri="{FF2B5EF4-FFF2-40B4-BE49-F238E27FC236}">
                <a16:creationId xmlns:a16="http://schemas.microsoft.com/office/drawing/2014/main" id="{00D80935-B6A7-4311-9948-94330F54A9D3}"/>
              </a:ext>
            </a:extLst>
          </p:cNvPr>
          <p:cNvSpPr>
            <a:spLocks xmlns:a="http://schemas.openxmlformats.org/drawingml/2006/main" noGrp="1"/>
          </p:cNvSpPr>
          <p:nvPr/>
        </p:nvSpPr>
        <p:spPr>
          <a:xfrm xmlns:a="http://schemas.openxmlformats.org/drawingml/2006/main">
            <a:off x="5705856" y="2340864"/>
            <a:ext cx="29352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Promotion  </a:t>
            </a:r>
            <a:r>
              <a:rPr sz="1150">
                <a:solidFill>
                  <a:srgbClr val="55606B"/>
                </a:solidFill>
                <a:latin typeface="Arial"/>
                <a:ea typeface="Arial"/>
                <a:cs typeface="Arial"/>
              </a:rPr>
              <a:t>= changing -t, never editing code</a:t>
            </a:r>
          </a:p>
        </p:txBody>
      </p:sp>
      <p:sp>
        <p:nvSpPr>
          <p:cNvPr id="16" name="Shape 13">
            <a:extLst xmlns:a="http://schemas.openxmlformats.org/drawingml/2006/main">
              <a:ext uri="{FF2B5EF4-FFF2-40B4-BE49-F238E27FC236}">
                <a16:creationId xmlns:a16="http://schemas.microsoft.com/office/drawing/2014/main" id="{66B9B8E6-77C8-4585-8141-1A8EFEC00942}"/>
              </a:ext>
            </a:extLst>
          </p:cNvPr>
          <p:cNvSpPr>
            <a:spLocks xmlns:a="http://schemas.openxmlformats.org/drawingml/2006/main" noGrp="1"/>
          </p:cNvSpPr>
          <p:nvPr/>
        </p:nvSpPr>
        <p:spPr>
          <a:xfrm xmlns:a="http://schemas.openxmlformats.org/drawingml/2006/main">
            <a:off x="5486400" y="3355848"/>
            <a:ext cx="91440" cy="91440"/>
          </a:xfrm>
          <a:prstGeom xmlns:a="http://schemas.openxmlformats.org/drawingml/2006/main" prst="rect">
            <a:avLst/>
          </a:prstGeom>
          <a:solidFill xmlns:a="http://schemas.openxmlformats.org/drawingml/2006/main">
            <a:srgbClr val="E31E24"/>
          </a:solidFill>
        </p:spPr>
      </p:sp>
      <p:sp>
        <p:nvSpPr>
          <p:cNvPr id="17" name="Text 14">
            <a:extLst xmlns:a="http://schemas.openxmlformats.org/drawingml/2006/main">
              <a:ext uri="{FF2B5EF4-FFF2-40B4-BE49-F238E27FC236}">
                <a16:creationId xmlns:a16="http://schemas.microsoft.com/office/drawing/2014/main" id="{C944D4D9-263B-4CCB-8E1E-5A4FE14296CA}"/>
              </a:ext>
            </a:extLst>
          </p:cNvPr>
          <p:cNvSpPr>
            <a:spLocks xmlns:a="http://schemas.openxmlformats.org/drawingml/2006/main" noGrp="1"/>
          </p:cNvSpPr>
          <p:nvPr/>
        </p:nvSpPr>
        <p:spPr>
          <a:xfrm xmlns:a="http://schemas.openxmlformats.org/drawingml/2006/main">
            <a:off x="5705856" y="3255264"/>
            <a:ext cx="29352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The UI job and this YAML  </a:t>
            </a:r>
            <a:r>
              <a:rPr sz="1150">
                <a:solidFill>
                  <a:srgbClr val="55606B"/>
                </a:solidFill>
                <a:latin typeface="Arial"/>
                <a:ea typeface="Arial"/>
                <a:cs typeface="Arial"/>
              </a:rPr>
              <a:t>are the same animal — one clickable, one shippable</a:t>
            </a:r>
          </a:p>
        </p:txBody>
      </p:sp>
    </p:spTree>
    <p:extLst>
      <p:ext uri="{BB962C8B-B14F-4D97-AF65-F5344CB8AC3E}">
        <p14:creationId xmlns:p14="http://schemas.microsoft.com/office/powerpoint/2010/main" val="9007237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209329-D9B1-4778-B67D-CCC44B10D56F}"/>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DOMAIN 5 · MEMORIZE THIS</a:t>
            </a:r>
          </a:p>
        </p:txBody>
      </p:sp>
      <p:sp>
        <p:nvSpPr>
          <p:cNvPr id="3" name="Text 1">
            <a:extLst xmlns:a="http://schemas.openxmlformats.org/drawingml/2006/main">
              <a:ext uri="{FF2B5EF4-FFF2-40B4-BE49-F238E27FC236}">
                <a16:creationId xmlns:a16="http://schemas.microsoft.com/office/drawing/2014/main" id="{DA46BD99-9092-4BD2-8451-8BB8FCC6775A}"/>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validate → deploy → run</a:t>
            </a:r>
          </a:p>
        </p:txBody>
      </p:sp>
      <p:sp>
        <p:nvSpPr>
          <p:cNvPr id="4" name="Text 2">
            <a:extLst xmlns:a="http://schemas.openxmlformats.org/drawingml/2006/main">
              <a:ext uri="{FF2B5EF4-FFF2-40B4-BE49-F238E27FC236}">
                <a16:creationId xmlns:a16="http://schemas.microsoft.com/office/drawing/2014/main" id="{F3C3FD03-032C-4C30-9E5B-1A08C1B5923E}"/>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601F6572-7DD3-4CFE-960F-65FA3DCB3C00}"/>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13</a:t>
            </a:r>
          </a:p>
        </p:txBody>
      </p:sp>
      <p:sp>
        <p:nvSpPr>
          <p:cNvPr id="7" name="Shape 4">
            <a:extLst xmlns:a="http://schemas.openxmlformats.org/drawingml/2006/main">
              <a:ext uri="{FF2B5EF4-FFF2-40B4-BE49-F238E27FC236}">
                <a16:creationId xmlns:a16="http://schemas.microsoft.com/office/drawing/2014/main" id="{9975490A-8A88-4516-9B5F-21513DB1324F}"/>
              </a:ext>
            </a:extLst>
          </p:cNvPr>
          <p:cNvSpPr>
            <a:spLocks xmlns:a="http://schemas.openxmlformats.org/drawingml/2006/main" noGrp="1"/>
          </p:cNvSpPr>
          <p:nvPr/>
        </p:nvSpPr>
        <p:spPr>
          <a:xfrm xmlns:a="http://schemas.openxmlformats.org/drawingml/2006/main">
            <a:off x="914400" y="1645920"/>
            <a:ext cx="2148840" cy="914400"/>
          </a:xfrm>
          <a:prstGeom xmlns:a="http://schemas.openxmlformats.org/drawingml/2006/main" prst="rect">
            <a:avLst/>
          </a:prstGeom>
          <a:solidFill xmlns:a="http://schemas.openxmlformats.org/drawingml/2006/main">
            <a:srgbClr val="566B80"/>
          </a:solidFill>
        </p:spPr>
      </p:sp>
      <p:sp>
        <p:nvSpPr>
          <p:cNvPr id="8" name="Text 5">
            <a:extLst xmlns:a="http://schemas.openxmlformats.org/drawingml/2006/main">
              <a:ext uri="{FF2B5EF4-FFF2-40B4-BE49-F238E27FC236}">
                <a16:creationId xmlns:a16="http://schemas.microsoft.com/office/drawing/2014/main" id="{C384FB51-DF7B-4E5C-B4F8-1ADB4DFB4ECB}"/>
              </a:ext>
            </a:extLst>
          </p:cNvPr>
          <p:cNvSpPr>
            <a:spLocks xmlns:a="http://schemas.openxmlformats.org/drawingml/2006/main" noGrp="1"/>
          </p:cNvSpPr>
          <p:nvPr/>
        </p:nvSpPr>
        <p:spPr>
          <a:xfrm xmlns:a="http://schemas.openxmlformats.org/drawingml/2006/main">
            <a:off x="914400" y="1645920"/>
            <a:ext cx="2148840" cy="9144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00"/>
              </a:lnSpc>
              <a:buNone/>
            </a:pPr>
            <a:r>
              <a:rPr sz="1100" b="1">
                <a:solidFill>
                  <a:srgbClr val="FFFFFF"/>
                </a:solidFill>
                <a:latin typeface="Arial"/>
                <a:ea typeface="Arial"/>
                <a:cs typeface="Arial"/>
              </a:rPr>
              <a:t>databricks bundle</a:t>
            </a:r>
          </a:p>
          <a:p xmlns:a="http://schemas.openxmlformats.org/drawingml/2006/main">
            <a:pPr marL="0" indent="0" algn="ctr">
              <a:lnSpc>
                <a:spcPts val="1200"/>
              </a:lnSpc>
              <a:buNone/>
            </a:pPr>
            <a:r>
              <a:rPr sz="1100" b="1">
                <a:solidFill>
                  <a:srgbClr val="FFFFFF"/>
                </a:solidFill>
                <a:latin typeface="Arial"/>
                <a:ea typeface="Arial"/>
                <a:cs typeface="Arial"/>
              </a:rPr>
              <a:t>VALIDATE</a:t>
            </a:r>
          </a:p>
        </p:txBody>
      </p:sp>
      <p:sp>
        <p:nvSpPr>
          <p:cNvPr id="9" name="Text 6">
            <a:extLst xmlns:a="http://schemas.openxmlformats.org/drawingml/2006/main">
              <a:ext uri="{FF2B5EF4-FFF2-40B4-BE49-F238E27FC236}">
                <a16:creationId xmlns:a16="http://schemas.microsoft.com/office/drawing/2014/main" id="{4FEA6014-D56D-4B60-8EB5-2E1F73CC1CD1}"/>
              </a:ext>
            </a:extLst>
          </p:cNvPr>
          <p:cNvSpPr>
            <a:spLocks xmlns:a="http://schemas.openxmlformats.org/drawingml/2006/main" noGrp="1"/>
          </p:cNvSpPr>
          <p:nvPr/>
        </p:nvSpPr>
        <p:spPr>
          <a:xfrm xmlns:a="http://schemas.openxmlformats.org/drawingml/2006/main">
            <a:off x="777240" y="2615184"/>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syntax + references</a:t>
            </a:r>
          </a:p>
          <a:p xmlns:a="http://schemas.openxmlformats.org/drawingml/2006/main">
            <a:pPr marL="0" indent="0" algn="ctr">
              <a:lnSpc>
                <a:spcPts val="1100"/>
              </a:lnSpc>
              <a:buNone/>
            </a:pPr>
            <a:r>
              <a:rPr sz="900">
                <a:solidFill>
                  <a:srgbClr val="7F8C8D"/>
                </a:solidFill>
                <a:latin typeface="Arial"/>
                <a:ea typeface="Arial"/>
                <a:cs typeface="Arial"/>
              </a:rPr>
              <a:t>check — nothing changes</a:t>
            </a:r>
          </a:p>
        </p:txBody>
      </p:sp>
      <p:sp>
        <p:nvSpPr>
          <p:cNvPr id="10" name="Text 7">
            <a:extLst xmlns:a="http://schemas.openxmlformats.org/drawingml/2006/main">
              <a:ext uri="{FF2B5EF4-FFF2-40B4-BE49-F238E27FC236}">
                <a16:creationId xmlns:a16="http://schemas.microsoft.com/office/drawing/2014/main" id="{7273653F-A543-45FC-8993-7D8F60FFCE5F}"/>
              </a:ext>
            </a:extLst>
          </p:cNvPr>
          <p:cNvSpPr>
            <a:spLocks xmlns:a="http://schemas.openxmlformats.org/drawingml/2006/main" noGrp="1"/>
          </p:cNvSpPr>
          <p:nvPr/>
        </p:nvSpPr>
        <p:spPr>
          <a:xfrm xmlns:a="http://schemas.openxmlformats.org/drawingml/2006/main">
            <a:off x="3044952" y="1929384"/>
            <a:ext cx="557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1" name="Shape 8">
            <a:extLst xmlns:a="http://schemas.openxmlformats.org/drawingml/2006/main">
              <a:ext uri="{FF2B5EF4-FFF2-40B4-BE49-F238E27FC236}">
                <a16:creationId xmlns:a16="http://schemas.microsoft.com/office/drawing/2014/main" id="{106DFCE5-2782-404F-9881-F075A1301440}"/>
              </a:ext>
            </a:extLst>
          </p:cNvPr>
          <p:cNvSpPr>
            <a:spLocks xmlns:a="http://schemas.openxmlformats.org/drawingml/2006/main" noGrp="1"/>
          </p:cNvSpPr>
          <p:nvPr/>
        </p:nvSpPr>
        <p:spPr>
          <a:xfrm xmlns:a="http://schemas.openxmlformats.org/drawingml/2006/main">
            <a:off x="3566160" y="1645920"/>
            <a:ext cx="2148840" cy="914400"/>
          </a:xfrm>
          <a:prstGeom xmlns:a="http://schemas.openxmlformats.org/drawingml/2006/main" prst="rect">
            <a:avLst/>
          </a:prstGeom>
          <a:solidFill xmlns:a="http://schemas.openxmlformats.org/drawingml/2006/main">
            <a:srgbClr val="2C3E50"/>
          </a:solidFill>
        </p:spPr>
      </p:sp>
      <p:sp>
        <p:nvSpPr>
          <p:cNvPr id="12" name="Text 9">
            <a:extLst xmlns:a="http://schemas.openxmlformats.org/drawingml/2006/main">
              <a:ext uri="{FF2B5EF4-FFF2-40B4-BE49-F238E27FC236}">
                <a16:creationId xmlns:a16="http://schemas.microsoft.com/office/drawing/2014/main" id="{F1B00FE6-AE0B-4296-8529-896A10C13762}"/>
              </a:ext>
            </a:extLst>
          </p:cNvPr>
          <p:cNvSpPr>
            <a:spLocks xmlns:a="http://schemas.openxmlformats.org/drawingml/2006/main" noGrp="1"/>
          </p:cNvSpPr>
          <p:nvPr/>
        </p:nvSpPr>
        <p:spPr>
          <a:xfrm xmlns:a="http://schemas.openxmlformats.org/drawingml/2006/main">
            <a:off x="3566160" y="1645920"/>
            <a:ext cx="2148840" cy="9144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00"/>
              </a:lnSpc>
              <a:buNone/>
            </a:pPr>
            <a:r>
              <a:rPr sz="1100" b="1">
                <a:solidFill>
                  <a:srgbClr val="FFFFFF"/>
                </a:solidFill>
                <a:latin typeface="Arial"/>
                <a:ea typeface="Arial"/>
                <a:cs typeface="Arial"/>
              </a:rPr>
              <a:t>databricks bundle</a:t>
            </a:r>
          </a:p>
          <a:p xmlns:a="http://schemas.openxmlformats.org/drawingml/2006/main">
            <a:pPr marL="0" indent="0" algn="ctr">
              <a:lnSpc>
                <a:spcPts val="1200"/>
              </a:lnSpc>
              <a:buNone/>
            </a:pPr>
            <a:r>
              <a:rPr sz="1100" b="1">
                <a:solidFill>
                  <a:srgbClr val="FFFFFF"/>
                </a:solidFill>
                <a:latin typeface="Arial"/>
                <a:ea typeface="Arial"/>
                <a:cs typeface="Arial"/>
              </a:rPr>
              <a:t>DEPLOY -t dev</a:t>
            </a:r>
          </a:p>
        </p:txBody>
      </p:sp>
      <p:sp>
        <p:nvSpPr>
          <p:cNvPr id="13" name="Text 10">
            <a:extLst xmlns:a="http://schemas.openxmlformats.org/drawingml/2006/main">
              <a:ext uri="{FF2B5EF4-FFF2-40B4-BE49-F238E27FC236}">
                <a16:creationId xmlns:a16="http://schemas.microsoft.com/office/drawing/2014/main" id="{5F5893AA-7E49-403D-AE22-FDBA850E340D}"/>
              </a:ext>
            </a:extLst>
          </p:cNvPr>
          <p:cNvSpPr>
            <a:spLocks xmlns:a="http://schemas.openxmlformats.org/drawingml/2006/main" noGrp="1"/>
          </p:cNvSpPr>
          <p:nvPr/>
        </p:nvSpPr>
        <p:spPr>
          <a:xfrm xmlns:a="http://schemas.openxmlformats.org/drawingml/2006/main">
            <a:off x="3429000" y="2615184"/>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PLACES the resources</a:t>
            </a:r>
          </a:p>
          <a:p xmlns:a="http://schemas.openxmlformats.org/drawingml/2006/main">
            <a:pPr marL="0" indent="0" algn="ctr">
              <a:lnSpc>
                <a:spcPts val="1100"/>
              </a:lnSpc>
              <a:buNone/>
            </a:pPr>
            <a:r>
              <a:rPr sz="900">
                <a:solidFill>
                  <a:srgbClr val="7F8C8D"/>
                </a:solidFill>
                <a:latin typeface="Arial"/>
                <a:ea typeface="Arial"/>
                <a:cs typeface="Arial"/>
              </a:rPr>
              <a:t>in the target workspace</a:t>
            </a:r>
          </a:p>
        </p:txBody>
      </p:sp>
      <p:sp>
        <p:nvSpPr>
          <p:cNvPr id="14" name="Text 11">
            <a:extLst xmlns:a="http://schemas.openxmlformats.org/drawingml/2006/main">
              <a:ext uri="{FF2B5EF4-FFF2-40B4-BE49-F238E27FC236}">
                <a16:creationId xmlns:a16="http://schemas.microsoft.com/office/drawing/2014/main" id="{D70A65C0-4D75-4440-B5FC-73E65AB9BB02}"/>
              </a:ext>
            </a:extLst>
          </p:cNvPr>
          <p:cNvSpPr>
            <a:spLocks xmlns:a="http://schemas.openxmlformats.org/drawingml/2006/main" noGrp="1"/>
          </p:cNvSpPr>
          <p:nvPr/>
        </p:nvSpPr>
        <p:spPr>
          <a:xfrm xmlns:a="http://schemas.openxmlformats.org/drawingml/2006/main">
            <a:off x="5696712" y="1929384"/>
            <a:ext cx="557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31E24"/>
                </a:solidFill>
                <a:latin typeface="Arial"/>
                <a:ea typeface="Arial"/>
                <a:cs typeface="Arial"/>
              </a:rPr>
              <a:t>→</a:t>
            </a:r>
          </a:p>
        </p:txBody>
      </p:sp>
      <p:sp>
        <p:nvSpPr>
          <p:cNvPr id="15" name="Shape 12">
            <a:extLst xmlns:a="http://schemas.openxmlformats.org/drawingml/2006/main">
              <a:ext uri="{FF2B5EF4-FFF2-40B4-BE49-F238E27FC236}">
                <a16:creationId xmlns:a16="http://schemas.microsoft.com/office/drawing/2014/main" id="{0AF15FEB-0177-4340-A3BC-80FAE5C54FD7}"/>
              </a:ext>
            </a:extLst>
          </p:cNvPr>
          <p:cNvSpPr>
            <a:spLocks xmlns:a="http://schemas.openxmlformats.org/drawingml/2006/main" noGrp="1"/>
          </p:cNvSpPr>
          <p:nvPr/>
        </p:nvSpPr>
        <p:spPr>
          <a:xfrm xmlns:a="http://schemas.openxmlformats.org/drawingml/2006/main">
            <a:off x="6217920" y="1645920"/>
            <a:ext cx="2148840" cy="914400"/>
          </a:xfrm>
          <a:prstGeom xmlns:a="http://schemas.openxmlformats.org/drawingml/2006/main" prst="rect">
            <a:avLst/>
          </a:prstGeom>
          <a:solidFill xmlns:a="http://schemas.openxmlformats.org/drawingml/2006/main">
            <a:srgbClr val="E31E24"/>
          </a:solidFill>
        </p:spPr>
      </p:sp>
      <p:sp>
        <p:nvSpPr>
          <p:cNvPr id="16" name="Text 13">
            <a:extLst xmlns:a="http://schemas.openxmlformats.org/drawingml/2006/main">
              <a:ext uri="{FF2B5EF4-FFF2-40B4-BE49-F238E27FC236}">
                <a16:creationId xmlns:a16="http://schemas.microsoft.com/office/drawing/2014/main" id="{1754E007-BEEE-4DCF-AA1F-34F9A1E861FB}"/>
              </a:ext>
            </a:extLst>
          </p:cNvPr>
          <p:cNvSpPr>
            <a:spLocks xmlns:a="http://schemas.openxmlformats.org/drawingml/2006/main" noGrp="1"/>
          </p:cNvSpPr>
          <p:nvPr/>
        </p:nvSpPr>
        <p:spPr>
          <a:xfrm xmlns:a="http://schemas.openxmlformats.org/drawingml/2006/main">
            <a:off x="6217920" y="1645920"/>
            <a:ext cx="2148840" cy="9144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lstStyle xmlns:a="http://schemas.openxmlformats.org/drawingml/2006/main"/>
          <a:p xmlns:a="http://schemas.openxmlformats.org/drawingml/2006/main">
            <a:pPr marL="0" indent="0" algn="ctr">
              <a:lnSpc>
                <a:spcPts val="1200"/>
              </a:lnSpc>
              <a:buNone/>
            </a:pPr>
            <a:r>
              <a:rPr sz="1100" b="1">
                <a:solidFill>
                  <a:srgbClr val="FFFFFF"/>
                </a:solidFill>
                <a:latin typeface="Arial"/>
                <a:ea typeface="Arial"/>
                <a:cs typeface="Arial"/>
              </a:rPr>
              <a:t>databricks bundle</a:t>
            </a:r>
          </a:p>
          <a:p xmlns:a="http://schemas.openxmlformats.org/drawingml/2006/main">
            <a:pPr marL="0" indent="0" algn="ctr">
              <a:lnSpc>
                <a:spcPts val="1200"/>
              </a:lnSpc>
              <a:buNone/>
            </a:pPr>
            <a:r>
              <a:rPr sz="1100" b="1">
                <a:solidFill>
                  <a:srgbClr val="FFFFFF"/>
                </a:solidFill>
                <a:latin typeface="Arial"/>
                <a:ea typeface="Arial"/>
                <a:cs typeface="Arial"/>
              </a:rPr>
              <a:t>RUN -t dev job</a:t>
            </a:r>
          </a:p>
        </p:txBody>
      </p:sp>
      <p:sp>
        <p:nvSpPr>
          <p:cNvPr id="17" name="Text 14">
            <a:extLst xmlns:a="http://schemas.openxmlformats.org/drawingml/2006/main">
              <a:ext uri="{FF2B5EF4-FFF2-40B4-BE49-F238E27FC236}">
                <a16:creationId xmlns:a16="http://schemas.microsoft.com/office/drawing/2014/main" id="{5810FDA6-A2A6-4087-A08A-BDE5C914CF71}"/>
              </a:ext>
            </a:extLst>
          </p:cNvPr>
          <p:cNvSpPr>
            <a:spLocks xmlns:a="http://schemas.openxmlformats.org/drawingml/2006/main" noGrp="1"/>
          </p:cNvSpPr>
          <p:nvPr/>
        </p:nvSpPr>
        <p:spPr>
          <a:xfrm xmlns:a="http://schemas.openxmlformats.org/drawingml/2006/main">
            <a:off x="6080760" y="2615184"/>
            <a:ext cx="2423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100"/>
              </a:lnSpc>
              <a:buNone/>
            </a:pPr>
            <a:r>
              <a:rPr sz="900">
                <a:solidFill>
                  <a:srgbClr val="7F8C8D"/>
                </a:solidFill>
                <a:latin typeface="Arial"/>
                <a:ea typeface="Arial"/>
                <a:cs typeface="Arial"/>
              </a:rPr>
              <a:t>EXECUTES the</a:t>
            </a:r>
          </a:p>
          <a:p xmlns:a="http://schemas.openxmlformats.org/drawingml/2006/main">
            <a:pPr marL="0" indent="0" algn="ctr">
              <a:lnSpc>
                <a:spcPts val="1100"/>
              </a:lnSpc>
              <a:buNone/>
            </a:pPr>
            <a:r>
              <a:rPr sz="900">
                <a:solidFill>
                  <a:srgbClr val="7F8C8D"/>
                </a:solidFill>
                <a:latin typeface="Arial"/>
                <a:ea typeface="Arial"/>
                <a:cs typeface="Arial"/>
              </a:rPr>
              <a:t>deployed job</a:t>
            </a:r>
          </a:p>
        </p:txBody>
      </p:sp>
      <p:sp>
        <p:nvSpPr>
          <p:cNvPr id="18" name="Shape 15">
            <a:extLst xmlns:a="http://schemas.openxmlformats.org/drawingml/2006/main">
              <a:ext uri="{FF2B5EF4-FFF2-40B4-BE49-F238E27FC236}">
                <a16:creationId xmlns:a16="http://schemas.microsoft.com/office/drawing/2014/main" id="{D4485E70-0CCC-4967-BBB2-2631BFEEF472}"/>
              </a:ext>
            </a:extLst>
          </p:cNvPr>
          <p:cNvSpPr>
            <a:spLocks xmlns:a="http://schemas.openxmlformats.org/drawingml/2006/main" noGrp="1"/>
          </p:cNvSpPr>
          <p:nvPr/>
        </p:nvSpPr>
        <p:spPr>
          <a:xfrm xmlns:a="http://schemas.openxmlformats.org/drawingml/2006/main">
            <a:off x="502920" y="3611880"/>
            <a:ext cx="8138160" cy="868680"/>
          </a:xfrm>
          <a:prstGeom xmlns:a="http://schemas.openxmlformats.org/drawingml/2006/main" prst="rect">
            <a:avLst/>
          </a:prstGeom>
          <a:solidFill xmlns:a="http://schemas.openxmlformats.org/drawingml/2006/main">
            <a:srgbClr val="FDF3F3"/>
          </a:solidFill>
        </p:spPr>
      </p:sp>
      <p:sp>
        <p:nvSpPr>
          <p:cNvPr id="19" name="Shape 16">
            <a:extLst xmlns:a="http://schemas.openxmlformats.org/drawingml/2006/main">
              <a:ext uri="{FF2B5EF4-FFF2-40B4-BE49-F238E27FC236}">
                <a16:creationId xmlns:a16="http://schemas.microsoft.com/office/drawing/2014/main" id="{EB89DC90-91F1-498D-BE3A-9211833F9760}"/>
              </a:ext>
            </a:extLst>
          </p:cNvPr>
          <p:cNvSpPr>
            <a:spLocks xmlns:a="http://schemas.openxmlformats.org/drawingml/2006/main" noGrp="1"/>
          </p:cNvSpPr>
          <p:nvPr/>
        </p:nvSpPr>
        <p:spPr>
          <a:xfrm xmlns:a="http://schemas.openxmlformats.org/drawingml/2006/main">
            <a:off x="502920" y="3611880"/>
            <a:ext cx="54864" cy="868680"/>
          </a:xfrm>
          <a:prstGeom xmlns:a="http://schemas.openxmlformats.org/drawingml/2006/main" prst="rect">
            <a:avLst/>
          </a:prstGeom>
          <a:solidFill xmlns:a="http://schemas.openxmlformats.org/drawingml/2006/main">
            <a:srgbClr val="E31E24"/>
          </a:solidFill>
        </p:spPr>
      </p:sp>
      <p:sp>
        <p:nvSpPr>
          <p:cNvPr id="20" name="Text 17">
            <a:extLst xmlns:a="http://schemas.openxmlformats.org/drawingml/2006/main">
              <a:ext uri="{FF2B5EF4-FFF2-40B4-BE49-F238E27FC236}">
                <a16:creationId xmlns:a16="http://schemas.microsoft.com/office/drawing/2014/main" id="{855CF714-54F5-4150-8C4D-5A69589D51E9}"/>
              </a:ext>
            </a:extLst>
          </p:cNvPr>
          <p:cNvSpPr>
            <a:spLocks xmlns:a="http://schemas.openxmlformats.org/drawingml/2006/main" noGrp="1"/>
          </p:cNvSpPr>
          <p:nvPr/>
        </p:nvSpPr>
        <p:spPr>
          <a:xfrm xmlns:a="http://schemas.openxmlformats.org/drawingml/2006/main">
            <a:off x="704088" y="3666744"/>
            <a:ext cx="7772400" cy="7589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THE CI SENTENCE (WORTH SEVERAL POINTS)   </a:t>
            </a:r>
            <a:r>
              <a:rPr sz="1100">
                <a:solidFill>
                  <a:srgbClr val="2C3E50"/>
                </a:solidFill>
                <a:latin typeface="Arial"/>
                <a:ea typeface="Arial"/>
                <a:cs typeface="Arial"/>
              </a:rPr>
              <a:t>“A CI pipeline runs databricks bundle deploy -t prod, authenticated as a SERVICE PRINCIPAL, on every merge to main.” Any option that swaps deploy and run — or puts the PR in the workspace UI — is wrong.</a:t>
            </a:r>
          </a:p>
        </p:txBody>
      </p:sp>
    </p:spTree>
    <p:extLst>
      <p:ext uri="{BB962C8B-B14F-4D97-AF65-F5344CB8AC3E}">
        <p14:creationId xmlns:p14="http://schemas.microsoft.com/office/powerpoint/2010/main" val="606677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F6DA3D-8B26-4E84-ACF1-30D4D7EF256B}"/>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EXAM READINESS</a:t>
            </a:r>
          </a:p>
        </p:txBody>
      </p:sp>
      <p:sp>
        <p:nvSpPr>
          <p:cNvPr id="3" name="Text 1">
            <a:extLst xmlns:a="http://schemas.openxmlformats.org/drawingml/2006/main">
              <a:ext uri="{FF2B5EF4-FFF2-40B4-BE49-F238E27FC236}">
                <a16:creationId xmlns:a16="http://schemas.microsoft.com/office/drawing/2014/main" id="{89863FC5-35EB-4AF7-A41C-8C0897ADBA63}"/>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Classify first, then answer</a:t>
            </a:r>
          </a:p>
        </p:txBody>
      </p:sp>
      <p:sp>
        <p:nvSpPr>
          <p:cNvPr id="4" name="Text 2">
            <a:extLst xmlns:a="http://schemas.openxmlformats.org/drawingml/2006/main">
              <a:ext uri="{FF2B5EF4-FFF2-40B4-BE49-F238E27FC236}">
                <a16:creationId xmlns:a16="http://schemas.microsoft.com/office/drawing/2014/main" id="{D6E6449E-C7CC-4F77-9ACA-CE6A6193C9EA}"/>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8600623E-47E3-4B58-8421-ADAAF10502C5}"/>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14</a:t>
            </a:r>
          </a:p>
        </p:txBody>
      </p:sp>
      <p:graphicFrame>
        <p:nvGraphicFramePr>
          <p:cNvPr id="16" name="Table 0"/>
          <p:cNvGraphicFramePr/>
          <p:nvPr/>
        </p:nvGraphicFramePr>
        <p:xfrm>
          <a:off xmlns:a="http://schemas.openxmlformats.org/drawingml/2006/main" x="502920" y="1325880"/>
          <a:ext xmlns:a="http://schemas.openxmlformats.org/drawingml/2006/main" cx="8138160" cy="914400"/>
        </p:xfrm>
        <a:graphic xmlns:a="http://schemas.openxmlformats.org/drawingml/2006/main">
          <a:graphicData uri="http://schemas.openxmlformats.org/drawingml/2006/table">
            <a:tbl>
              <a:tblPr/>
              <a:tblGrid>
                <a:gridCol w="5074920"/>
                <a:gridCol w="3063240"/>
              </a:tblGrid>
              <a:tr h="411480">
                <a:tc>
                  <a:txBody>
                    <a:bodyPr/>
                    <a:lstStyle/>
                    <a:p>
                      <a:pPr marL="0" indent="0">
                        <a:buNone/>
                      </a:pPr>
                      <a:r>
                        <a:rPr sz="1100" b="1">
                          <a:solidFill>
                            <a:srgbClr val="FFFFFF"/>
                          </a:solidFill>
                          <a:latin typeface="Arial"/>
                          <a:ea typeface="Arial"/>
                          <a:cs typeface="Arial"/>
                        </a:rPr>
                        <a:t>The scenario says…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c>
                  <a:txBody>
                    <a:bodyPr/>
                    <a:lstStyle/>
                    <a:p>
                      <a:pPr marL="0" indent="0">
                        <a:buNone/>
                      </a:pPr>
                      <a:r>
                        <a:rPr sz="1100" b="1">
                          <a:solidFill>
                            <a:srgbClr val="FFFFFF"/>
                          </a:solidFill>
                          <a:latin typeface="Arial"/>
                          <a:ea typeface="Arial"/>
                          <a:cs typeface="Arial"/>
                        </a:rPr>
                        <a:t>Mechanism</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2C3E50"/>
                    </a:solidFill>
                  </a:tcPr>
                </a:tc>
              </a:tr>
              <a:tr h="411480">
                <a:tc>
                  <a:txBody>
                    <a:bodyPr/>
                    <a:lstStyle/>
                    <a:p>
                      <a:pPr marL="0" indent="0">
                        <a:buNone/>
                      </a:pPr>
                      <a:r>
                        <a:rPr sz="1050">
                          <a:solidFill>
                            <a:srgbClr val="2C3E50"/>
                          </a:solidFill>
                          <a:latin typeface="Arial"/>
                          <a:ea typeface="Arial"/>
                          <a:cs typeface="Arial"/>
                        </a:rPr>
                        <a:t>“fails ~1 in 20 calls, succeeds on retry”</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Task retries (transient)</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r>
              <a:tr h="411480">
                <a:tc>
                  <a:txBody>
                    <a:bodyPr/>
                    <a:lstStyle/>
                    <a:p>
                      <a:pPr marL="0" indent="0">
                        <a:buNone/>
                      </a:pPr>
                      <a:r>
                        <a:rPr sz="1050">
                          <a:solidFill>
                            <a:srgbClr val="2C3E50"/>
                          </a:solidFill>
                          <a:latin typeface="Arial"/>
                          <a:ea typeface="Arial"/>
                          <a:cs typeface="Arial"/>
                        </a:rPr>
                        <a:t>“typo fixed; tasks 1–3 took 90 minutes”</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Repair run (failed + downstream only)</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r>
              <a:tr h="411480">
                <a:tc>
                  <a:txBody>
                    <a:bodyPr/>
                    <a:lstStyle/>
                    <a:p>
                      <a:pPr marL="0" indent="0">
                        <a:buNone/>
                      </a:pPr>
                      <a:r>
                        <a:rPr sz="1050">
                          <a:solidFill>
                            <a:srgbClr val="2C3E50"/>
                          </a:solidFill>
                          <a:latin typeface="Arial"/>
                          <a:ea typeface="Arial"/>
                          <a:cs typeface="Arial"/>
                        </a:rPr>
                        <a:t>“files land unpredictably; hourly poll finds nothing”</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File arrival trigger</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r>
              <a:tr h="411480">
                <a:tc>
                  <a:txBody>
                    <a:bodyPr/>
                    <a:lstStyle/>
                    <a:p>
                      <a:pPr marL="0" indent="0">
                        <a:buNone/>
                      </a:pPr>
                      <a:r>
                        <a:rPr sz="1050">
                          <a:solidFill>
                            <a:srgbClr val="2C3E50"/>
                          </a:solidFill>
                          <a:latin typeface="Arial"/>
                          <a:ea typeface="Arial"/>
                          <a:cs typeface="Arial"/>
                        </a:rPr>
                        <a:t>“run whenever the silver table gets new data”</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Table update trigger</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r>
              <a:tr h="411480">
                <a:tc>
                  <a:txBody>
                    <a:bodyPr/>
                    <a:lstStyle/>
                    <a:p>
                      <a:pPr marL="0" indent="0">
                        <a:buNone/>
                      </a:pPr>
                      <a:r>
                        <a:rPr sz="1050">
                          <a:solidFill>
                            <a:srgbClr val="2C3E50"/>
                          </a:solidFill>
                          <a:latin typeface="Arial"/>
                          <a:ea typeface="Arial"/>
                          <a:cs typeface="Arial"/>
                        </a:rPr>
                        <a:t>“same logic for 14 regions, 4 in parallel”</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c>
                  <a:txBody>
                    <a:bodyPr/>
                    <a:lstStyle/>
                    <a:p>
                      <a:pPr marL="0" indent="0">
                        <a:buNone/>
                      </a:pPr>
                      <a:r>
                        <a:rPr sz="1050">
                          <a:solidFill>
                            <a:srgbClr val="2C3E50"/>
                          </a:solidFill>
                          <a:latin typeface="Arial"/>
                          <a:ea typeface="Arial"/>
                          <a:cs typeface="Arial"/>
                        </a:rPr>
                        <a:t>For-each task with concurrency</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FFFFFF"/>
                    </a:solidFill>
                  </a:tcPr>
                </a:tc>
              </a:tr>
              <a:tr h="411480">
                <a:tc>
                  <a:txBody>
                    <a:bodyPr/>
                    <a:lstStyle/>
                    <a:p>
                      <a:pPr marL="0" indent="0">
                        <a:buNone/>
                      </a:pPr>
                      <a:r>
                        <a:rPr sz="1050">
                          <a:solidFill>
                            <a:srgbClr val="2C3E50"/>
                          </a:solidFill>
                          <a:latin typeface="Arial"/>
                          <a:ea typeface="Arial"/>
                          <a:cs typeface="Arial"/>
                        </a:rPr>
                        <a:t>“deploy ready but must not run until go-live”</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c>
                  <a:txBody>
                    <a:bodyPr/>
                    <a:lstStyle/>
                    <a:p>
                      <a:pPr marL="0" indent="0">
                        <a:buNone/>
                      </a:pPr>
                      <a:r>
                        <a:rPr sz="1050">
                          <a:solidFill>
                            <a:srgbClr val="2C3E50"/>
                          </a:solidFill>
                          <a:latin typeface="Arial"/>
                          <a:ea typeface="Arial"/>
                          <a:cs typeface="Arial"/>
                        </a:rPr>
                        <a:t>Deploy with the trigger PAUSED</a:t>
                      </a:r>
                    </a:p>
                  </a:txBody>
                  <a:tcPr marL="54864" marR="54864" marT="54864" marB="54864" anchor="ctr">
                    <a:lnL w="9525" cmpd="sng">
                      <a:solidFill>
                        <a:srgbClr val="D8DEE2"/>
                      </a:solidFill>
                      <a:prstDash val="solid"/>
                    </a:lnL>
                    <a:lnR w="9525" cmpd="sng">
                      <a:solidFill>
                        <a:srgbClr val="D8DEE2"/>
                      </a:solidFill>
                      <a:prstDash val="solid"/>
                    </a:lnR>
                    <a:lnT w="9525" cmpd="sng">
                      <a:solidFill>
                        <a:srgbClr val="D8DEE2"/>
                      </a:solidFill>
                      <a:prstDash val="solid"/>
                    </a:lnT>
                    <a:lnB w="9525" cmpd="sng">
                      <a:solidFill>
                        <a:srgbClr val="D8DEE2"/>
                      </a:solidFill>
                      <a:prstDash val="solid"/>
                    </a:lnB>
                    <a:solidFill>
                      <a:srgbClr val="ECF0F1"/>
                    </a:solidFill>
                  </a:tcPr>
                </a:tc>
              </a:tr>
            </a:tbl>
          </a:graphicData>
        </a:graphic>
      </p:graphicFrame>
      <p:sp>
        <p:nvSpPr>
          <p:cNvPr id="8" name="Shape 4">
            <a:extLst xmlns:a="http://schemas.openxmlformats.org/drawingml/2006/main">
              <a:ext uri="{FF2B5EF4-FFF2-40B4-BE49-F238E27FC236}">
                <a16:creationId xmlns:a16="http://schemas.microsoft.com/office/drawing/2014/main" id="{E304308D-80AB-4848-98A0-C8F0B20B7F8A}"/>
              </a:ext>
            </a:extLst>
          </p:cNvPr>
          <p:cNvSpPr>
            <a:spLocks xmlns:a="http://schemas.openxmlformats.org/drawingml/2006/main" noGrp="1"/>
          </p:cNvSpPr>
          <p:nvPr/>
        </p:nvSpPr>
        <p:spPr>
          <a:xfrm xmlns:a="http://schemas.openxmlformats.org/drawingml/2006/main">
            <a:off x="502920" y="4160520"/>
            <a:ext cx="8138160" cy="502920"/>
          </a:xfrm>
          <a:prstGeom xmlns:a="http://schemas.openxmlformats.org/drawingml/2006/main" prst="rect">
            <a:avLst/>
          </a:prstGeom>
          <a:solidFill xmlns:a="http://schemas.openxmlformats.org/drawingml/2006/main">
            <a:srgbClr val="FDF3F3"/>
          </a:solidFill>
        </p:spPr>
      </p:sp>
      <p:sp>
        <p:nvSpPr>
          <p:cNvPr id="9" name="Shape 5">
            <a:extLst xmlns:a="http://schemas.openxmlformats.org/drawingml/2006/main">
              <a:ext uri="{FF2B5EF4-FFF2-40B4-BE49-F238E27FC236}">
                <a16:creationId xmlns:a16="http://schemas.microsoft.com/office/drawing/2014/main" id="{52674092-7A4A-4034-B15E-63F3CE73153D}"/>
              </a:ext>
            </a:extLst>
          </p:cNvPr>
          <p:cNvSpPr>
            <a:spLocks xmlns:a="http://schemas.openxmlformats.org/drawingml/2006/main" noGrp="1"/>
          </p:cNvSpPr>
          <p:nvPr/>
        </p:nvSpPr>
        <p:spPr>
          <a:xfrm xmlns:a="http://schemas.openxmlformats.org/drawingml/2006/main">
            <a:off x="502920" y="4160520"/>
            <a:ext cx="54864" cy="502920"/>
          </a:xfrm>
          <a:prstGeom xmlns:a="http://schemas.openxmlformats.org/drawingml/2006/main" prst="rect">
            <a:avLst/>
          </a:prstGeom>
          <a:solidFill xmlns:a="http://schemas.openxmlformats.org/drawingml/2006/main">
            <a:srgbClr val="E31E24"/>
          </a:solidFill>
        </p:spPr>
      </p:sp>
      <p:sp>
        <p:nvSpPr>
          <p:cNvPr id="10" name="Text 6">
            <a:extLst xmlns:a="http://schemas.openxmlformats.org/drawingml/2006/main">
              <a:ext uri="{FF2B5EF4-FFF2-40B4-BE49-F238E27FC236}">
                <a16:creationId xmlns:a16="http://schemas.microsoft.com/office/drawing/2014/main" id="{7A096BDE-C208-410D-8C7D-B6F850D47AA8}"/>
              </a:ext>
            </a:extLst>
          </p:cNvPr>
          <p:cNvSpPr>
            <a:spLocks xmlns:a="http://schemas.openxmlformats.org/drawingml/2006/main" noGrp="1"/>
          </p:cNvSpPr>
          <p:nvPr/>
        </p:nvSpPr>
        <p:spPr>
          <a:xfrm xmlns:a="http://schemas.openxmlformats.org/drawingml/2006/main">
            <a:off x="704088" y="4215384"/>
            <a:ext cx="777240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OLD-NAME BAIT   </a:t>
            </a:r>
            <a:r>
              <a:rPr sz="1100">
                <a:solidFill>
                  <a:srgbClr val="2C3E50"/>
                </a:solidFill>
                <a:latin typeface="Arial"/>
                <a:ea typeface="Arial"/>
                <a:cs typeface="Arial"/>
              </a:rPr>
              <a:t>Workflows → Lakeflow Jobs · DABs → Declarative Automation Bundles · Repos → Git folders. Match the stem's vocabulary.</a:t>
            </a:r>
          </a:p>
        </p:txBody>
      </p:sp>
    </p:spTree>
    <p:extLst>
      <p:ext uri="{BB962C8B-B14F-4D97-AF65-F5344CB8AC3E}">
        <p14:creationId xmlns:p14="http://schemas.microsoft.com/office/powerpoint/2010/main" val="11731468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E91E36-A559-4BD6-AF82-718E86F7FF07}"/>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OPTIONAL ENRICHMENT · CURRENT API</a:t>
            </a:r>
          </a:p>
        </p:txBody>
      </p:sp>
      <p:sp>
        <p:nvSpPr>
          <p:cNvPr id="3" name="Text 1">
            <a:extLst xmlns:a="http://schemas.openxmlformats.org/drawingml/2006/main">
              <a:ext uri="{FF2B5EF4-FFF2-40B4-BE49-F238E27FC236}">
                <a16:creationId xmlns:a16="http://schemas.microsoft.com/office/drawing/2014/main" id="{51CF60E3-3BC0-4C23-9FCF-F92200344891}"/>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Declarative pipelines: expectations, not just tasks</a:t>
            </a:r>
          </a:p>
        </p:txBody>
      </p:sp>
      <p:sp>
        <p:nvSpPr>
          <p:cNvPr id="4" name="Text 2">
            <a:extLst xmlns:a="http://schemas.openxmlformats.org/drawingml/2006/main">
              <a:ext uri="{FF2B5EF4-FFF2-40B4-BE49-F238E27FC236}">
                <a16:creationId xmlns:a16="http://schemas.microsoft.com/office/drawing/2014/main" id="{27AB4B4C-61C2-4A1F-8412-01CD86449E9C}"/>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FB7BC75F-E286-4526-BE24-96BA74902015}"/>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15</a:t>
            </a:r>
          </a:p>
        </p:txBody>
      </p:sp>
      <p:sp>
        <p:nvSpPr>
          <p:cNvPr id="7" name="Shape 4">
            <a:extLst xmlns:a="http://schemas.openxmlformats.org/drawingml/2006/main">
              <a:ext uri="{FF2B5EF4-FFF2-40B4-BE49-F238E27FC236}">
                <a16:creationId xmlns:a16="http://schemas.microsoft.com/office/drawing/2014/main" id="{709AB01B-9AC9-4571-A9C0-21D4DF6EA192}"/>
              </a:ext>
            </a:extLst>
          </p:cNvPr>
          <p:cNvSpPr>
            <a:spLocks xmlns:a="http://schemas.openxmlformats.org/drawingml/2006/main" noGrp="1"/>
          </p:cNvSpPr>
          <p:nvPr/>
        </p:nvSpPr>
        <p:spPr>
          <a:xfrm xmlns:a="http://schemas.openxmlformats.org/drawingml/2006/main">
            <a:off x="502920" y="1325880"/>
            <a:ext cx="4983480" cy="3017520"/>
          </a:xfrm>
          <a:prstGeom xmlns:a="http://schemas.openxmlformats.org/drawingml/2006/main" prst="rect">
            <a:avLst/>
          </a:prstGeom>
          <a:solidFill xmlns:a="http://schemas.openxmlformats.org/drawingml/2006/main">
            <a:srgbClr val="263545"/>
          </a:solidFill>
        </p:spPr>
      </p:sp>
      <p:sp>
        <p:nvSpPr>
          <p:cNvPr id="8" name="Shape 5">
            <a:extLst xmlns:a="http://schemas.openxmlformats.org/drawingml/2006/main">
              <a:ext uri="{FF2B5EF4-FFF2-40B4-BE49-F238E27FC236}">
                <a16:creationId xmlns:a16="http://schemas.microsoft.com/office/drawing/2014/main" id="{7CA45E7A-C580-4F2C-A49D-8513D7D7C77E}"/>
              </a:ext>
            </a:extLst>
          </p:cNvPr>
          <p:cNvSpPr>
            <a:spLocks xmlns:a="http://schemas.openxmlformats.org/drawingml/2006/main" noGrp="1"/>
          </p:cNvSpPr>
          <p:nvPr/>
        </p:nvSpPr>
        <p:spPr>
          <a:xfrm xmlns:a="http://schemas.openxmlformats.org/drawingml/2006/main">
            <a:off x="502920" y="1325880"/>
            <a:ext cx="4983480" cy="274320"/>
          </a:xfrm>
          <a:prstGeom xmlns:a="http://schemas.openxmlformats.org/drawingml/2006/main" prst="rect">
            <a:avLst/>
          </a:prstGeom>
          <a:solidFill xmlns:a="http://schemas.openxmlformats.org/drawingml/2006/main">
            <a:srgbClr val="2C3E50"/>
          </a:solidFill>
        </p:spPr>
      </p:sp>
      <p:sp>
        <p:nvSpPr>
          <p:cNvPr id="9" name="Shape 6">
            <a:extLst xmlns:a="http://schemas.openxmlformats.org/drawingml/2006/main">
              <a:ext uri="{FF2B5EF4-FFF2-40B4-BE49-F238E27FC236}">
                <a16:creationId xmlns:a16="http://schemas.microsoft.com/office/drawing/2014/main" id="{92557611-B366-47D0-AC8A-7A1284307A9D}"/>
              </a:ext>
            </a:extLst>
          </p:cNvPr>
          <p:cNvSpPr>
            <a:spLocks xmlns:a="http://schemas.openxmlformats.org/drawingml/2006/main" noGrp="1"/>
          </p:cNvSpPr>
          <p:nvPr/>
        </p:nvSpPr>
        <p:spPr>
          <a:xfrm xmlns:a="http://schemas.openxmlformats.org/drawingml/2006/main">
            <a:off x="630936" y="1417320"/>
            <a:ext cx="91440" cy="91440"/>
          </a:xfrm>
          <a:prstGeom xmlns:a="http://schemas.openxmlformats.org/drawingml/2006/main" prst="ellipse">
            <a:avLst/>
          </a:prstGeom>
          <a:solidFill xmlns:a="http://schemas.openxmlformats.org/drawingml/2006/main">
            <a:srgbClr val="E31E24"/>
          </a:solidFill>
        </p:spPr>
      </p:sp>
      <p:sp>
        <p:nvSpPr>
          <p:cNvPr id="10" name="Text 7">
            <a:extLst xmlns:a="http://schemas.openxmlformats.org/drawingml/2006/main">
              <a:ext uri="{FF2B5EF4-FFF2-40B4-BE49-F238E27FC236}">
                <a16:creationId xmlns:a16="http://schemas.microsoft.com/office/drawing/2014/main" id="{E22A1A30-BECD-4116-9B6C-60C4F42CEDBF}"/>
              </a:ext>
            </a:extLst>
          </p:cNvPr>
          <p:cNvSpPr>
            <a:spLocks xmlns:a="http://schemas.openxmlformats.org/drawingml/2006/main" noGrp="1"/>
          </p:cNvSpPr>
          <p:nvPr/>
        </p:nvSpPr>
        <p:spPr>
          <a:xfrm xmlns:a="http://schemas.openxmlformats.org/drawingml/2006/main">
            <a:off x="813816" y="1344168"/>
            <a:ext cx="4526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AAB7C4"/>
                </a:solidFill>
                <a:latin typeface="Consolas"/>
                <a:ea typeface="Consolas"/>
                <a:cs typeface="Consolas"/>
              </a:rPr>
              <a:t>pipeline.py</a:t>
            </a:r>
          </a:p>
        </p:txBody>
      </p:sp>
      <p:sp>
        <p:nvSpPr>
          <p:cNvPr id="11" name="Text 8">
            <a:extLst xmlns:a="http://schemas.openxmlformats.org/drawingml/2006/main">
              <a:ext uri="{FF2B5EF4-FFF2-40B4-BE49-F238E27FC236}">
                <a16:creationId xmlns:a16="http://schemas.microsoft.com/office/drawing/2014/main" id="{CF5AF504-9031-4E2E-B6FC-CFB228EE1363}"/>
              </a:ext>
            </a:extLst>
          </p:cNvPr>
          <p:cNvSpPr>
            <a:spLocks xmlns:a="http://schemas.openxmlformats.org/drawingml/2006/main" noGrp="1"/>
          </p:cNvSpPr>
          <p:nvPr/>
        </p:nvSpPr>
        <p:spPr>
          <a:xfrm xmlns:a="http://schemas.openxmlformats.org/drawingml/2006/main">
            <a:off x="704088" y="1691640"/>
            <a:ext cx="4599432" cy="2542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50"/>
              </a:lnSpc>
              <a:buNone/>
            </a:pPr>
            <a:r>
              <a:rPr sz="1050">
                <a:solidFill>
                  <a:srgbClr val="8FA3B5"/>
                </a:solidFill>
                <a:latin typeface="Consolas"/>
                <a:ea typeface="Consolas"/>
                <a:cs typeface="Consolas"/>
              </a:rPr>
              <a:t>from pyspark import pipelines as dp</a:t>
            </a:r>
          </a:p>
          <a:p xmlns:a="http://schemas.openxmlformats.org/drawingml/2006/main">
            <a:pPr marL="0" indent="0">
              <a:lnSpc>
                <a:spcPts val="1450"/>
              </a:lnSpc>
              <a:buNone/>
            </a:pPr>
            <a:r>
              <a:rPr sz="1050">
                <a:solidFill>
                  <a:srgbClr val="EAF0F4"/>
                </a:solidFill>
                <a:latin typeface="Consolas"/>
                <a:ea typeface="Consolas"/>
                <a:cs typeface="Consolas"/>
              </a:rPr>
              <a:t/>
            </a:r>
          </a:p>
          <a:p xmlns:a="http://schemas.openxmlformats.org/drawingml/2006/main">
            <a:pPr marL="0" indent="0">
              <a:lnSpc>
                <a:spcPts val="1450"/>
              </a:lnSpc>
              <a:buNone/>
            </a:pPr>
            <a:r>
              <a:rPr sz="1050">
                <a:solidFill>
                  <a:srgbClr val="EAF0F4"/>
                </a:solidFill>
                <a:latin typeface="Consolas"/>
                <a:ea typeface="Consolas"/>
                <a:cs typeface="Consolas"/>
              </a:rPr>
              <a:t>@dp.table</a:t>
            </a:r>
          </a:p>
          <a:p xmlns:a="http://schemas.openxmlformats.org/drawingml/2006/main">
            <a:pPr marL="0" indent="0">
              <a:lnSpc>
                <a:spcPts val="1450"/>
              </a:lnSpc>
              <a:buNone/>
            </a:pPr>
            <a:r>
              <a:rPr sz="1050">
                <a:solidFill>
                  <a:srgbClr val="EAF0F4"/>
                </a:solidFill>
                <a:latin typeface="Consolas"/>
                <a:ea typeface="Consolas"/>
                <a:cs typeface="Consolas"/>
              </a:rPr>
              <a:t>def sales_bronze_dp(): ...</a:t>
            </a:r>
          </a:p>
          <a:p xmlns:a="http://schemas.openxmlformats.org/drawingml/2006/main">
            <a:pPr marL="0" indent="0">
              <a:lnSpc>
                <a:spcPts val="1450"/>
              </a:lnSpc>
              <a:buNone/>
            </a:pPr>
            <a:r>
              <a:rPr sz="1050">
                <a:solidFill>
                  <a:srgbClr val="8FA3B5"/>
                </a:solidFill>
                <a:latin typeface="Consolas"/>
                <a:ea typeface="Consolas"/>
                <a:cs typeface="Consolas"/>
              </a:rPr>
              <a:t/>
            </a:r>
          </a:p>
          <a:p xmlns:a="http://schemas.openxmlformats.org/drawingml/2006/main">
            <a:pPr marL="0" indent="0">
              <a:lnSpc>
                <a:spcPts val="1450"/>
              </a:lnSpc>
              <a:buNone/>
            </a:pPr>
            <a:r>
              <a:rPr sz="1050">
                <a:solidFill>
                  <a:srgbClr val="EAF0F4"/>
                </a:solidFill>
                <a:latin typeface="Consolas"/>
                <a:ea typeface="Consolas"/>
                <a:cs typeface="Consolas"/>
              </a:rPr>
              <a:t>@dp.expect_or_drop('id','order_id IS NOT NULL')</a:t>
            </a:r>
          </a:p>
          <a:p xmlns:a="http://schemas.openxmlformats.org/drawingml/2006/main">
            <a:pPr marL="0" indent="0">
              <a:lnSpc>
                <a:spcPts val="1450"/>
              </a:lnSpc>
              <a:buNone/>
            </a:pPr>
            <a:r>
              <a:rPr sz="1050">
                <a:solidFill>
                  <a:srgbClr val="8FA3B5"/>
                </a:solidFill>
                <a:latin typeface="Consolas"/>
                <a:ea typeface="Consolas"/>
                <a:cs typeface="Consolas"/>
              </a:rPr>
              <a:t>@dp.table</a:t>
            </a:r>
          </a:p>
          <a:p xmlns:a="http://schemas.openxmlformats.org/drawingml/2006/main">
            <a:pPr marL="0" indent="0">
              <a:lnSpc>
                <a:spcPts val="1450"/>
              </a:lnSpc>
              <a:buNone/>
            </a:pPr>
            <a:r>
              <a:rPr sz="1050">
                <a:solidFill>
                  <a:srgbClr val="EAF0F4"/>
                </a:solidFill>
                <a:latin typeface="Consolas"/>
                <a:ea typeface="Consolas"/>
                <a:cs typeface="Consolas"/>
              </a:rPr>
              <a:t>def sales_silver_dp():</a:t>
            </a:r>
          </a:p>
          <a:p xmlns:a="http://schemas.openxmlformats.org/drawingml/2006/main">
            <a:pPr marL="0" indent="0">
              <a:lnSpc>
                <a:spcPts val="1450"/>
              </a:lnSpc>
              <a:buNone/>
            </a:pPr>
            <a:r>
              <a:rPr sz="1050">
                <a:solidFill>
                  <a:srgbClr val="EAF0F4"/>
                </a:solidFill>
                <a:latin typeface="Consolas"/>
                <a:ea typeface="Consolas"/>
                <a:cs typeface="Consolas"/>
              </a:rPr>
              <a:t>  return spark.readStream.table('sales_bronze_dp')</a:t>
            </a:r>
          </a:p>
        </p:txBody>
      </p:sp>
      <p:sp>
        <p:nvSpPr>
          <p:cNvPr id="12" name="Shape 9">
            <a:extLst xmlns:a="http://schemas.openxmlformats.org/drawingml/2006/main">
              <a:ext uri="{FF2B5EF4-FFF2-40B4-BE49-F238E27FC236}">
                <a16:creationId xmlns:a16="http://schemas.microsoft.com/office/drawing/2014/main" id="{382DA283-75D1-43CD-8D3E-DD044C4EE9C3}"/>
              </a:ext>
            </a:extLst>
          </p:cNvPr>
          <p:cNvSpPr>
            <a:spLocks xmlns:a="http://schemas.openxmlformats.org/drawingml/2006/main" noGrp="1"/>
          </p:cNvSpPr>
          <p:nvPr/>
        </p:nvSpPr>
        <p:spPr>
          <a:xfrm xmlns:a="http://schemas.openxmlformats.org/drawingml/2006/main">
            <a:off x="5760720" y="1527048"/>
            <a:ext cx="91440" cy="91440"/>
          </a:xfrm>
          <a:prstGeom xmlns:a="http://schemas.openxmlformats.org/drawingml/2006/main" prst="rect">
            <a:avLst/>
          </a:prstGeom>
          <a:solidFill xmlns:a="http://schemas.openxmlformats.org/drawingml/2006/main">
            <a:srgbClr val="E31E24"/>
          </a:solidFill>
        </p:spPr>
      </p:sp>
      <p:sp>
        <p:nvSpPr>
          <p:cNvPr id="13" name="Text 10">
            <a:extLst xmlns:a="http://schemas.openxmlformats.org/drawingml/2006/main">
              <a:ext uri="{FF2B5EF4-FFF2-40B4-BE49-F238E27FC236}">
                <a16:creationId xmlns:a16="http://schemas.microsoft.com/office/drawing/2014/main" id="{EC054B5B-7EB1-4C9F-8282-421E9BF658B4}"/>
              </a:ext>
            </a:extLst>
          </p:cNvPr>
          <p:cNvSpPr>
            <a:spLocks xmlns:a="http://schemas.openxmlformats.org/drawingml/2006/main" noGrp="1"/>
          </p:cNvSpPr>
          <p:nvPr/>
        </p:nvSpPr>
        <p:spPr>
          <a:xfrm xmlns:a="http://schemas.openxmlformats.org/drawingml/2006/main">
            <a:off x="5980176" y="1426464"/>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Declarative  </a:t>
            </a:r>
            <a:r>
              <a:rPr sz="1150">
                <a:solidFill>
                  <a:srgbClr val="55606B"/>
                </a:solidFill>
                <a:latin typeface="Arial"/>
                <a:ea typeface="Arial"/>
                <a:cs typeface="Arial"/>
              </a:rPr>
              <a:t>declare tables + rules; engine plans the run order</a:t>
            </a:r>
          </a:p>
        </p:txBody>
      </p:sp>
      <p:sp>
        <p:nvSpPr>
          <p:cNvPr id="14" name="Shape 11">
            <a:extLst xmlns:a="http://schemas.openxmlformats.org/drawingml/2006/main">
              <a:ext uri="{FF2B5EF4-FFF2-40B4-BE49-F238E27FC236}">
                <a16:creationId xmlns:a16="http://schemas.microsoft.com/office/drawing/2014/main" id="{E91C87AC-6B08-40FE-92C2-D0F3465FA10B}"/>
              </a:ext>
            </a:extLst>
          </p:cNvPr>
          <p:cNvSpPr>
            <a:spLocks xmlns:a="http://schemas.openxmlformats.org/drawingml/2006/main" noGrp="1"/>
          </p:cNvSpPr>
          <p:nvPr/>
        </p:nvSpPr>
        <p:spPr>
          <a:xfrm xmlns:a="http://schemas.openxmlformats.org/drawingml/2006/main">
            <a:off x="5760720" y="2295144"/>
            <a:ext cx="91440" cy="91440"/>
          </a:xfrm>
          <a:prstGeom xmlns:a="http://schemas.openxmlformats.org/drawingml/2006/main" prst="rect">
            <a:avLst/>
          </a:prstGeom>
          <a:solidFill xmlns:a="http://schemas.openxmlformats.org/drawingml/2006/main">
            <a:srgbClr val="E31E24"/>
          </a:solidFill>
        </p:spPr>
      </p:sp>
      <p:sp>
        <p:nvSpPr>
          <p:cNvPr id="15" name="Text 12">
            <a:extLst xmlns:a="http://schemas.openxmlformats.org/drawingml/2006/main">
              <a:ext uri="{FF2B5EF4-FFF2-40B4-BE49-F238E27FC236}">
                <a16:creationId xmlns:a16="http://schemas.microsoft.com/office/drawing/2014/main" id="{C2FA8DF3-8A2F-418A-884F-727C9784F59E}"/>
              </a:ext>
            </a:extLst>
          </p:cNvPr>
          <p:cNvSpPr>
            <a:spLocks xmlns:a="http://schemas.openxmlformats.org/drawingml/2006/main" noGrp="1"/>
          </p:cNvSpPr>
          <p:nvPr/>
        </p:nvSpPr>
        <p:spPr>
          <a:xfrm xmlns:a="http://schemas.openxmlformats.org/drawingml/2006/main">
            <a:off x="5980176" y="2194560"/>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Expectations
warn · drop · fail — table constraints reject the write</a:t>
            </a:r>
          </a:p>
        </p:txBody>
      </p:sp>
      <p:sp>
        <p:nvSpPr>
          <p:cNvPr id="16" name="Shape 13">
            <a:extLst xmlns:a="http://schemas.openxmlformats.org/drawingml/2006/main">
              <a:ext uri="{FF2B5EF4-FFF2-40B4-BE49-F238E27FC236}">
                <a16:creationId xmlns:a16="http://schemas.microsoft.com/office/drawing/2014/main" id="{85CD0897-51FE-4B04-9FCE-39763F734F3A}"/>
              </a:ext>
            </a:extLst>
          </p:cNvPr>
          <p:cNvSpPr>
            <a:spLocks xmlns:a="http://schemas.openxmlformats.org/drawingml/2006/main" noGrp="1"/>
          </p:cNvSpPr>
          <p:nvPr/>
        </p:nvSpPr>
        <p:spPr>
          <a:xfrm xmlns:a="http://schemas.openxmlformats.org/drawingml/2006/main">
            <a:off x="5760720" y="3063240"/>
            <a:ext cx="91440" cy="91440"/>
          </a:xfrm>
          <a:prstGeom xmlns:a="http://schemas.openxmlformats.org/drawingml/2006/main" prst="rect">
            <a:avLst/>
          </a:prstGeom>
          <a:solidFill xmlns:a="http://schemas.openxmlformats.org/drawingml/2006/main">
            <a:srgbClr val="E31E24"/>
          </a:solidFill>
        </p:spPr>
      </p:sp>
      <p:sp>
        <p:nvSpPr>
          <p:cNvPr id="17" name="Text 14">
            <a:extLst xmlns:a="http://schemas.openxmlformats.org/drawingml/2006/main">
              <a:ext uri="{FF2B5EF4-FFF2-40B4-BE49-F238E27FC236}">
                <a16:creationId xmlns:a16="http://schemas.microsoft.com/office/drawing/2014/main" id="{9A831A0B-64F5-46A1-AE32-532441DF8793}"/>
              </a:ext>
            </a:extLst>
          </p:cNvPr>
          <p:cNvSpPr>
            <a:spLocks xmlns:a="http://schemas.openxmlformats.org/drawingml/2006/main" noGrp="1"/>
          </p:cNvSpPr>
          <p:nvPr/>
        </p:nvSpPr>
        <p:spPr>
          <a:xfrm xmlns:a="http://schemas.openxmlformats.org/drawingml/2006/main">
            <a:off x="5980176" y="2962656"/>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Table kinds  </a:t>
            </a:r>
            <a:r>
              <a:rPr sz="1150">
                <a:solidFill>
                  <a:srgbClr val="55606B"/>
                </a:solidFill>
                <a:latin typeface="Arial"/>
                <a:ea typeface="Arial"/>
                <a:cs typeface="Arial"/>
              </a:rPr>
              <a:t>streaming table (append) vs materialized view (recompute)</a:t>
            </a:r>
          </a:p>
        </p:txBody>
      </p:sp>
      <p:sp>
        <p:nvSpPr>
          <p:cNvPr id="18" name="Shape 15">
            <a:extLst xmlns:a="http://schemas.openxmlformats.org/drawingml/2006/main">
              <a:ext uri="{FF2B5EF4-FFF2-40B4-BE49-F238E27FC236}">
                <a16:creationId xmlns:a16="http://schemas.microsoft.com/office/drawing/2014/main" id="{70A6715F-86E8-4A18-93D7-9C89F8C0DED5}"/>
              </a:ext>
            </a:extLst>
          </p:cNvPr>
          <p:cNvSpPr>
            <a:spLocks xmlns:a="http://schemas.openxmlformats.org/drawingml/2006/main" noGrp="1"/>
          </p:cNvSpPr>
          <p:nvPr/>
        </p:nvSpPr>
        <p:spPr>
          <a:xfrm xmlns:a="http://schemas.openxmlformats.org/drawingml/2006/main">
            <a:off x="5760720" y="3831336"/>
            <a:ext cx="91440" cy="91440"/>
          </a:xfrm>
          <a:prstGeom xmlns:a="http://schemas.openxmlformats.org/drawingml/2006/main" prst="rect">
            <a:avLst/>
          </a:prstGeom>
          <a:solidFill xmlns:a="http://schemas.openxmlformats.org/drawingml/2006/main">
            <a:srgbClr val="E31E24"/>
          </a:solidFill>
        </p:spPr>
      </p:sp>
      <p:sp>
        <p:nvSpPr>
          <p:cNvPr id="19" name="Text 16">
            <a:extLst xmlns:a="http://schemas.openxmlformats.org/drawingml/2006/main">
              <a:ext uri="{FF2B5EF4-FFF2-40B4-BE49-F238E27FC236}">
                <a16:creationId xmlns:a16="http://schemas.microsoft.com/office/drawing/2014/main" id="{EC3E2DF2-DA24-401D-9808-2045B6BB571D}"/>
              </a:ext>
            </a:extLst>
          </p:cNvPr>
          <p:cNvSpPr>
            <a:spLocks xmlns:a="http://schemas.openxmlformats.org/drawingml/2006/main" noGrp="1"/>
          </p:cNvSpPr>
          <p:nvPr/>
        </p:nvSpPr>
        <p:spPr>
          <a:xfrm xmlns:a="http://schemas.openxmlformats.org/drawingml/2006/main">
            <a:off x="5980176" y="3730752"/>
            <a:ext cx="2660904"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18"/>
              </a:lnSpc>
              <a:buNone/>
            </a:pPr>
            <a:r>
              <a:rPr sz="1150" b="1">
                <a:solidFill>
                  <a:srgbClr val="2C3E50"/>
                </a:solidFill>
                <a:latin typeface="Arial"/>
                <a:ea typeface="Arial"/>
                <a:cs typeface="Arial"/>
              </a:rPr>
              <a:t>Exam scope
not a named May 2026 objective — optional enrichment</a:t>
            </a:r>
          </a:p>
        </p:txBody>
      </p:sp>
    </p:spTree>
    <p:extLst>
      <p:ext uri="{BB962C8B-B14F-4D97-AF65-F5344CB8AC3E}">
        <p14:creationId xmlns:p14="http://schemas.microsoft.com/office/powerpoint/2010/main" val="1785903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11BF17-4A90-481D-9488-8B83493A173A}"/>
              </a:ext>
            </a:extLst>
          </p:cNvPr>
          <p:cNvSpPr>
            <a:spLocks xmlns:a="http://schemas.openxmlformats.org/drawingml/2006/main" noGrp="1"/>
          </p:cNvSpPr>
          <p:nvPr/>
        </p:nvSpPr>
        <p:spPr>
          <a:xfrm xmlns:a="http://schemas.openxmlformats.org/drawingml/2006/main">
            <a:off x="502920" y="274320"/>
            <a:ext cx="8138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31E24"/>
                </a:solidFill>
                <a:latin typeface="Arial"/>
                <a:ea typeface="Arial"/>
                <a:cs typeface="Arial"/>
              </a:rPr>
              <a:t>TODAY IN CLASS · HANDS-ON LAB</a:t>
            </a:r>
          </a:p>
        </p:txBody>
      </p:sp>
      <p:sp>
        <p:nvSpPr>
          <p:cNvPr id="3" name="Text 1">
            <a:extLst xmlns:a="http://schemas.openxmlformats.org/drawingml/2006/main">
              <a:ext uri="{FF2B5EF4-FFF2-40B4-BE49-F238E27FC236}">
                <a16:creationId xmlns:a16="http://schemas.microsoft.com/office/drawing/2014/main" id="{A730FB8E-5631-4273-BB8E-B41CB996B81A}"/>
              </a:ext>
            </a:extLst>
          </p:cNvPr>
          <p:cNvSpPr>
            <a:spLocks xmlns:a="http://schemas.openxmlformats.org/drawingml/2006/main" noGrp="1"/>
          </p:cNvSpPr>
          <p:nvPr/>
        </p:nvSpPr>
        <p:spPr>
          <a:xfrm xmlns:a="http://schemas.openxmlformats.org/drawingml/2006/main">
            <a:off x="502920" y="512064"/>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00" b="1">
                <a:solidFill>
                  <a:srgbClr val="2C3E50"/>
                </a:solidFill>
                <a:latin typeface="Arial"/>
                <a:ea typeface="Arial"/>
                <a:cs typeface="Arial"/>
              </a:rPr>
              <a:t>Today's lab: build it, break it, repair it</a:t>
            </a:r>
          </a:p>
        </p:txBody>
      </p:sp>
      <p:sp>
        <p:nvSpPr>
          <p:cNvPr id="4" name="Text 2">
            <a:extLst xmlns:a="http://schemas.openxmlformats.org/drawingml/2006/main">
              <a:ext uri="{FF2B5EF4-FFF2-40B4-BE49-F238E27FC236}">
                <a16:creationId xmlns:a16="http://schemas.microsoft.com/office/drawing/2014/main" id="{E4FCB86B-B8BF-49D1-B7F7-1B9681323792}"/>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5" name="Text 3">
            <a:extLst xmlns:a="http://schemas.openxmlformats.org/drawingml/2006/main">
              <a:ext uri="{FF2B5EF4-FFF2-40B4-BE49-F238E27FC236}">
                <a16:creationId xmlns:a16="http://schemas.microsoft.com/office/drawing/2014/main" id="{EEB6C518-E0F9-4791-9238-ED3124477A94}"/>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16</a:t>
            </a:r>
          </a:p>
        </p:txBody>
      </p:sp>
      <p:sp>
        <p:nvSpPr>
          <p:cNvPr id="7" name="Shape 4">
            <a:extLst xmlns:a="http://schemas.openxmlformats.org/drawingml/2006/main">
              <a:ext uri="{FF2B5EF4-FFF2-40B4-BE49-F238E27FC236}">
                <a16:creationId xmlns:a16="http://schemas.microsoft.com/office/drawing/2014/main" id="{AFEFAE2F-C82A-4B1D-AFAC-4589B2FC38B0}"/>
              </a:ext>
            </a:extLst>
          </p:cNvPr>
          <p:cNvSpPr>
            <a:spLocks xmlns:a="http://schemas.openxmlformats.org/drawingml/2006/main" noGrp="1"/>
          </p:cNvSpPr>
          <p:nvPr/>
        </p:nvSpPr>
        <p:spPr>
          <a:xfrm xmlns:a="http://schemas.openxmlformats.org/drawingml/2006/main">
            <a:off x="502920" y="132588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8" name="Shape 5">
            <a:extLst xmlns:a="http://schemas.openxmlformats.org/drawingml/2006/main">
              <a:ext uri="{FF2B5EF4-FFF2-40B4-BE49-F238E27FC236}">
                <a16:creationId xmlns:a16="http://schemas.microsoft.com/office/drawing/2014/main" id="{55445049-4CDE-4EF8-874B-F1D3870CD2A8}"/>
              </a:ext>
            </a:extLst>
          </p:cNvPr>
          <p:cNvSpPr>
            <a:spLocks xmlns:a="http://schemas.openxmlformats.org/drawingml/2006/main" noGrp="1"/>
          </p:cNvSpPr>
          <p:nvPr/>
        </p:nvSpPr>
        <p:spPr>
          <a:xfrm xmlns:a="http://schemas.openxmlformats.org/drawingml/2006/main">
            <a:off x="502920" y="1325880"/>
            <a:ext cx="64008" cy="1325880"/>
          </a:xfrm>
          <a:prstGeom xmlns:a="http://schemas.openxmlformats.org/drawingml/2006/main" prst="rect">
            <a:avLst/>
          </a:prstGeom>
          <a:solidFill xmlns:a="http://schemas.openxmlformats.org/drawingml/2006/main">
            <a:srgbClr val="E31E24"/>
          </a:solidFill>
        </p:spPr>
      </p:sp>
      <p:sp>
        <p:nvSpPr>
          <p:cNvPr id="9" name="Text 6">
            <a:extLst xmlns:a="http://schemas.openxmlformats.org/drawingml/2006/main">
              <a:ext uri="{FF2B5EF4-FFF2-40B4-BE49-F238E27FC236}">
                <a16:creationId xmlns:a16="http://schemas.microsoft.com/office/drawing/2014/main" id="{2D2C3ABD-F0FF-4009-A15C-5A7AFF5CB55C}"/>
              </a:ext>
            </a:extLst>
          </p:cNvPr>
          <p:cNvSpPr>
            <a:spLocks xmlns:a="http://schemas.openxmlformats.org/drawingml/2006/main" noGrp="1"/>
          </p:cNvSpPr>
          <p:nvPr/>
        </p:nvSpPr>
        <p:spPr>
          <a:xfrm xmlns:a="http://schemas.openxmlformats.org/drawingml/2006/main">
            <a:off x="68580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①</a:t>
            </a:r>
          </a:p>
        </p:txBody>
      </p:sp>
      <p:sp>
        <p:nvSpPr>
          <p:cNvPr id="10" name="Text 7">
            <a:extLst xmlns:a="http://schemas.openxmlformats.org/drawingml/2006/main">
              <a:ext uri="{FF2B5EF4-FFF2-40B4-BE49-F238E27FC236}">
                <a16:creationId xmlns:a16="http://schemas.microsoft.com/office/drawing/2014/main" id="{A3EA9CE0-8EFB-47CB-A1BF-3B1F8D3B3C2F}"/>
              </a:ext>
            </a:extLst>
          </p:cNvPr>
          <p:cNvSpPr>
            <a:spLocks xmlns:a="http://schemas.openxmlformats.org/drawingml/2006/main" noGrp="1"/>
          </p:cNvSpPr>
          <p:nvPr/>
        </p:nvSpPr>
        <p:spPr>
          <a:xfrm xmlns:a="http://schemas.openxmlformats.org/drawingml/2006/main">
            <a:off x="68580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Build</a:t>
            </a:r>
          </a:p>
        </p:txBody>
      </p:sp>
      <p:sp>
        <p:nvSpPr>
          <p:cNvPr id="11" name="Text 8">
            <a:extLst xmlns:a="http://schemas.openxmlformats.org/drawingml/2006/main">
              <a:ext uri="{FF2B5EF4-FFF2-40B4-BE49-F238E27FC236}">
                <a16:creationId xmlns:a16="http://schemas.microsoft.com/office/drawing/2014/main" id="{8068A12D-F3EE-4A05-824C-F4B8750E52B7}"/>
              </a:ext>
            </a:extLst>
          </p:cNvPr>
          <p:cNvSpPr>
            <a:spLocks xmlns:a="http://schemas.openxmlformats.org/drawingml/2006/main" noGrp="1"/>
          </p:cNvSpPr>
          <p:nvPr/>
        </p:nvSpPr>
        <p:spPr>
          <a:xfrm xmlns:a="http://schemas.openxmlformats.org/drawingml/2006/main">
            <a:off x="685800" y="209397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In the Jobs UI: set job parameters, then Task 1 ingest_bronze → Task 2 build_silver (depends_on).</a:t>
            </a:r>
          </a:p>
        </p:txBody>
      </p:sp>
      <p:sp>
        <p:nvSpPr>
          <p:cNvPr id="12" name="Shape 9">
            <a:extLst xmlns:a="http://schemas.openxmlformats.org/drawingml/2006/main">
              <a:ext uri="{FF2B5EF4-FFF2-40B4-BE49-F238E27FC236}">
                <a16:creationId xmlns:a16="http://schemas.microsoft.com/office/drawing/2014/main" id="{7CFB5C7A-A7C6-48CF-B895-E2243EAD0156}"/>
              </a:ext>
            </a:extLst>
          </p:cNvPr>
          <p:cNvSpPr>
            <a:spLocks xmlns:a="http://schemas.openxmlformats.org/drawingml/2006/main" noGrp="1"/>
          </p:cNvSpPr>
          <p:nvPr/>
        </p:nvSpPr>
        <p:spPr>
          <a:xfrm xmlns:a="http://schemas.openxmlformats.org/drawingml/2006/main">
            <a:off x="4686300" y="132588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3" name="Shape 10">
            <a:extLst xmlns:a="http://schemas.openxmlformats.org/drawingml/2006/main">
              <a:ext uri="{FF2B5EF4-FFF2-40B4-BE49-F238E27FC236}">
                <a16:creationId xmlns:a16="http://schemas.microsoft.com/office/drawing/2014/main" id="{63E69AEF-50D3-453B-97CC-576AFDDD5BA4}"/>
              </a:ext>
            </a:extLst>
          </p:cNvPr>
          <p:cNvSpPr>
            <a:spLocks xmlns:a="http://schemas.openxmlformats.org/drawingml/2006/main" noGrp="1"/>
          </p:cNvSpPr>
          <p:nvPr/>
        </p:nvSpPr>
        <p:spPr>
          <a:xfrm xmlns:a="http://schemas.openxmlformats.org/drawingml/2006/main">
            <a:off x="4686300" y="1325880"/>
            <a:ext cx="64008" cy="1325880"/>
          </a:xfrm>
          <a:prstGeom xmlns:a="http://schemas.openxmlformats.org/drawingml/2006/main" prst="rect">
            <a:avLst/>
          </a:prstGeom>
          <a:solidFill xmlns:a="http://schemas.openxmlformats.org/drawingml/2006/main">
            <a:srgbClr val="E31E24"/>
          </a:solidFill>
        </p:spPr>
      </p:sp>
      <p:sp>
        <p:nvSpPr>
          <p:cNvPr id="14" name="Text 11">
            <a:extLst xmlns:a="http://schemas.openxmlformats.org/drawingml/2006/main">
              <a:ext uri="{FF2B5EF4-FFF2-40B4-BE49-F238E27FC236}">
                <a16:creationId xmlns:a16="http://schemas.microsoft.com/office/drawing/2014/main" id="{0132CA78-A988-479B-8871-1BD1C15DBD74}"/>
              </a:ext>
            </a:extLst>
          </p:cNvPr>
          <p:cNvSpPr>
            <a:spLocks xmlns:a="http://schemas.openxmlformats.org/drawingml/2006/main" noGrp="1"/>
          </p:cNvSpPr>
          <p:nvPr/>
        </p:nvSpPr>
        <p:spPr>
          <a:xfrm xmlns:a="http://schemas.openxmlformats.org/drawingml/2006/main">
            <a:off x="4869180" y="143560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②</a:t>
            </a:r>
          </a:p>
        </p:txBody>
      </p:sp>
      <p:sp>
        <p:nvSpPr>
          <p:cNvPr id="15" name="Text 12">
            <a:extLst xmlns:a="http://schemas.openxmlformats.org/drawingml/2006/main">
              <a:ext uri="{FF2B5EF4-FFF2-40B4-BE49-F238E27FC236}">
                <a16:creationId xmlns:a16="http://schemas.microsoft.com/office/drawing/2014/main" id="{5ADCBE44-F0E7-4E7D-9EDF-7C17F75F592E}"/>
              </a:ext>
            </a:extLst>
          </p:cNvPr>
          <p:cNvSpPr>
            <a:spLocks xmlns:a="http://schemas.openxmlformats.org/drawingml/2006/main" noGrp="1"/>
          </p:cNvSpPr>
          <p:nvPr/>
        </p:nvSpPr>
        <p:spPr>
          <a:xfrm xmlns:a="http://schemas.openxmlformats.org/drawingml/2006/main">
            <a:off x="4869180" y="174650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Break</a:t>
            </a:r>
          </a:p>
        </p:txBody>
      </p:sp>
      <p:sp>
        <p:nvSpPr>
          <p:cNvPr id="16" name="Text 13">
            <a:extLst xmlns:a="http://schemas.openxmlformats.org/drawingml/2006/main">
              <a:ext uri="{FF2B5EF4-FFF2-40B4-BE49-F238E27FC236}">
                <a16:creationId xmlns:a16="http://schemas.microsoft.com/office/drawing/2014/main" id="{BBFFA228-5012-4E30-976A-68F95007A6B8}"/>
              </a:ext>
            </a:extLst>
          </p:cNvPr>
          <p:cNvSpPr>
            <a:spLocks xmlns:a="http://schemas.openxmlformats.org/drawingml/2006/main" noGrp="1"/>
          </p:cNvSpPr>
          <p:nvPr/>
        </p:nvSpPr>
        <p:spPr>
          <a:xfrm xmlns:a="http://schemas.openxmlformats.org/drawingml/2006/main">
            <a:off x="4869180" y="209397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Set simulate_failure=true. Task 1 fails every retry; Task 2 shows Upstream failed. Retries fix only transient bugs.</a:t>
            </a:r>
          </a:p>
        </p:txBody>
      </p:sp>
      <p:sp>
        <p:nvSpPr>
          <p:cNvPr id="17" name="Shape 14">
            <a:extLst xmlns:a="http://schemas.openxmlformats.org/drawingml/2006/main">
              <a:ext uri="{FF2B5EF4-FFF2-40B4-BE49-F238E27FC236}">
                <a16:creationId xmlns:a16="http://schemas.microsoft.com/office/drawing/2014/main" id="{F1F4F300-ABC6-4AC4-A97C-3A4DEF0FBBFA}"/>
              </a:ext>
            </a:extLst>
          </p:cNvPr>
          <p:cNvSpPr>
            <a:spLocks xmlns:a="http://schemas.openxmlformats.org/drawingml/2006/main" noGrp="1"/>
          </p:cNvSpPr>
          <p:nvPr/>
        </p:nvSpPr>
        <p:spPr>
          <a:xfrm xmlns:a="http://schemas.openxmlformats.org/drawingml/2006/main">
            <a:off x="502920" y="288036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18" name="Shape 15">
            <a:extLst xmlns:a="http://schemas.openxmlformats.org/drawingml/2006/main">
              <a:ext uri="{FF2B5EF4-FFF2-40B4-BE49-F238E27FC236}">
                <a16:creationId xmlns:a16="http://schemas.microsoft.com/office/drawing/2014/main" id="{DE91C589-69A3-45F1-AD26-7D9F924920AA}"/>
              </a:ext>
            </a:extLst>
          </p:cNvPr>
          <p:cNvSpPr>
            <a:spLocks xmlns:a="http://schemas.openxmlformats.org/drawingml/2006/main" noGrp="1"/>
          </p:cNvSpPr>
          <p:nvPr/>
        </p:nvSpPr>
        <p:spPr>
          <a:xfrm xmlns:a="http://schemas.openxmlformats.org/drawingml/2006/main">
            <a:off x="502920" y="2880360"/>
            <a:ext cx="64008" cy="1325880"/>
          </a:xfrm>
          <a:prstGeom xmlns:a="http://schemas.openxmlformats.org/drawingml/2006/main" prst="rect">
            <a:avLst/>
          </a:prstGeom>
          <a:solidFill xmlns:a="http://schemas.openxmlformats.org/drawingml/2006/main">
            <a:srgbClr val="E31E24"/>
          </a:solidFill>
        </p:spPr>
      </p:sp>
      <p:sp>
        <p:nvSpPr>
          <p:cNvPr id="19" name="Text 16">
            <a:extLst xmlns:a="http://schemas.openxmlformats.org/drawingml/2006/main">
              <a:ext uri="{FF2B5EF4-FFF2-40B4-BE49-F238E27FC236}">
                <a16:creationId xmlns:a16="http://schemas.microsoft.com/office/drawing/2014/main" id="{750988BD-663F-4B48-9104-547ABB36862F}"/>
              </a:ext>
            </a:extLst>
          </p:cNvPr>
          <p:cNvSpPr>
            <a:spLocks xmlns:a="http://schemas.openxmlformats.org/drawingml/2006/main" noGrp="1"/>
          </p:cNvSpPr>
          <p:nvPr/>
        </p:nvSpPr>
        <p:spPr>
          <a:xfrm xmlns:a="http://schemas.openxmlformats.org/drawingml/2006/main">
            <a:off x="685800" y="299008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③</a:t>
            </a:r>
          </a:p>
        </p:txBody>
      </p:sp>
      <p:sp>
        <p:nvSpPr>
          <p:cNvPr id="20" name="Text 17">
            <a:extLst xmlns:a="http://schemas.openxmlformats.org/drawingml/2006/main">
              <a:ext uri="{FF2B5EF4-FFF2-40B4-BE49-F238E27FC236}">
                <a16:creationId xmlns:a16="http://schemas.microsoft.com/office/drawing/2014/main" id="{4863DE49-8089-4FDC-8EFF-621BC539D11F}"/>
              </a:ext>
            </a:extLst>
          </p:cNvPr>
          <p:cNvSpPr>
            <a:spLocks xmlns:a="http://schemas.openxmlformats.org/drawingml/2006/main" noGrp="1"/>
          </p:cNvSpPr>
          <p:nvPr/>
        </p:nvSpPr>
        <p:spPr>
          <a:xfrm xmlns:a="http://schemas.openxmlformats.org/drawingml/2006/main">
            <a:off x="685800" y="330098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Repair</a:t>
            </a:r>
          </a:p>
        </p:txBody>
      </p:sp>
      <p:sp>
        <p:nvSpPr>
          <p:cNvPr id="21" name="Text 18">
            <a:extLst xmlns:a="http://schemas.openxmlformats.org/drawingml/2006/main">
              <a:ext uri="{FF2B5EF4-FFF2-40B4-BE49-F238E27FC236}">
                <a16:creationId xmlns:a16="http://schemas.microsoft.com/office/drawing/2014/main" id="{FF149B4B-04E4-4D24-BB34-BFE196E5669C}"/>
              </a:ext>
            </a:extLst>
          </p:cNvPr>
          <p:cNvSpPr>
            <a:spLocks xmlns:a="http://schemas.openxmlformats.org/drawingml/2006/main" noGrp="1"/>
          </p:cNvSpPr>
          <p:nvPr/>
        </p:nvSpPr>
        <p:spPr>
          <a:xfrm xmlns:a="http://schemas.openxmlformats.org/drawingml/2006/main">
            <a:off x="685800" y="364845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Set it false, then Repair run on the failed run's page. Only failed + downstream re-execute; green tasks are preserved.</a:t>
            </a:r>
          </a:p>
        </p:txBody>
      </p:sp>
      <p:sp>
        <p:nvSpPr>
          <p:cNvPr id="22" name="Shape 19">
            <a:extLst xmlns:a="http://schemas.openxmlformats.org/drawingml/2006/main">
              <a:ext uri="{FF2B5EF4-FFF2-40B4-BE49-F238E27FC236}">
                <a16:creationId xmlns:a16="http://schemas.microsoft.com/office/drawing/2014/main" id="{ED87B284-3337-47F6-AB9E-3157E4F118D1}"/>
              </a:ext>
            </a:extLst>
          </p:cNvPr>
          <p:cNvSpPr>
            <a:spLocks xmlns:a="http://schemas.openxmlformats.org/drawingml/2006/main" noGrp="1"/>
          </p:cNvSpPr>
          <p:nvPr/>
        </p:nvSpPr>
        <p:spPr>
          <a:xfrm xmlns:a="http://schemas.openxmlformats.org/drawingml/2006/main">
            <a:off x="4686300" y="2880360"/>
            <a:ext cx="3954780" cy="1325880"/>
          </a:xfrm>
          <a:prstGeom xmlns:a="http://schemas.openxmlformats.org/drawingml/2006/main" prst="rect">
            <a:avLst/>
          </a:prstGeom>
          <a:solidFill xmlns:a="http://schemas.openxmlformats.org/drawingml/2006/main">
            <a:srgbClr val="FFFFFF"/>
          </a:solidFill>
          <a:ln xmlns:a="http://schemas.openxmlformats.org/drawingml/2006/main" w="12700">
            <a:solidFill>
              <a:srgbClr val="D8DEE2"/>
            </a:solidFill>
            <a:prstDash val="solid"/>
          </a:ln>
          <a:effectLst xmlns:a="http://schemas.openxmlformats.org/drawingml/2006/main">
            <a:outerShdw blurRad="88900" dist="25400" dir="5400000" sx="100000" sy="100000" kx="0" ky="0" algn="bl" rotWithShape="0">
              <a:srgbClr val="9AA5AD">
                <a:alpha val="30000"/>
              </a:srgbClr>
            </a:outerShdw>
          </a:effectLst>
        </p:spPr>
      </p:sp>
      <p:sp>
        <p:nvSpPr>
          <p:cNvPr id="23" name="Shape 20">
            <a:extLst xmlns:a="http://schemas.openxmlformats.org/drawingml/2006/main">
              <a:ext uri="{FF2B5EF4-FFF2-40B4-BE49-F238E27FC236}">
                <a16:creationId xmlns:a16="http://schemas.microsoft.com/office/drawing/2014/main" id="{928F6DD0-09D8-4384-891A-0EA60B831332}"/>
              </a:ext>
            </a:extLst>
          </p:cNvPr>
          <p:cNvSpPr>
            <a:spLocks xmlns:a="http://schemas.openxmlformats.org/drawingml/2006/main" noGrp="1"/>
          </p:cNvSpPr>
          <p:nvPr/>
        </p:nvSpPr>
        <p:spPr>
          <a:xfrm xmlns:a="http://schemas.openxmlformats.org/drawingml/2006/main">
            <a:off x="4686300" y="2880360"/>
            <a:ext cx="64008" cy="1325880"/>
          </a:xfrm>
          <a:prstGeom xmlns:a="http://schemas.openxmlformats.org/drawingml/2006/main" prst="rect">
            <a:avLst/>
          </a:prstGeom>
          <a:solidFill xmlns:a="http://schemas.openxmlformats.org/drawingml/2006/main">
            <a:srgbClr val="E31E24"/>
          </a:solidFill>
        </p:spPr>
      </p:sp>
      <p:sp>
        <p:nvSpPr>
          <p:cNvPr id="24" name="Text 21">
            <a:extLst xmlns:a="http://schemas.openxmlformats.org/drawingml/2006/main">
              <a:ext uri="{FF2B5EF4-FFF2-40B4-BE49-F238E27FC236}">
                <a16:creationId xmlns:a16="http://schemas.microsoft.com/office/drawing/2014/main" id="{88333882-54A1-4ED3-AE98-DF8D6BC2291E}"/>
              </a:ext>
            </a:extLst>
          </p:cNvPr>
          <p:cNvSpPr>
            <a:spLocks xmlns:a="http://schemas.openxmlformats.org/drawingml/2006/main" noGrp="1"/>
          </p:cNvSpPr>
          <p:nvPr/>
        </p:nvSpPr>
        <p:spPr>
          <a:xfrm xmlns:a="http://schemas.openxmlformats.org/drawingml/2006/main">
            <a:off x="4869180" y="2990088"/>
            <a:ext cx="35890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31E24"/>
                </a:solidFill>
                <a:latin typeface="Arial"/>
                <a:ea typeface="Arial"/>
                <a:cs typeface="Arial"/>
              </a:rPr>
              <a:t>④</a:t>
            </a:r>
          </a:p>
        </p:txBody>
      </p:sp>
      <p:sp>
        <p:nvSpPr>
          <p:cNvPr id="25" name="Text 22">
            <a:extLst xmlns:a="http://schemas.openxmlformats.org/drawingml/2006/main">
              <a:ext uri="{FF2B5EF4-FFF2-40B4-BE49-F238E27FC236}">
                <a16:creationId xmlns:a16="http://schemas.microsoft.com/office/drawing/2014/main" id="{395D0110-D546-460A-89E7-F7360A8E0064}"/>
              </a:ext>
            </a:extLst>
          </p:cNvPr>
          <p:cNvSpPr>
            <a:spLocks xmlns:a="http://schemas.openxmlformats.org/drawingml/2006/main" noGrp="1"/>
          </p:cNvSpPr>
          <p:nvPr/>
        </p:nvSpPr>
        <p:spPr>
          <a:xfrm xmlns:a="http://schemas.openxmlformats.org/drawingml/2006/main">
            <a:off x="4869180" y="3300984"/>
            <a:ext cx="36073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250" b="1">
                <a:solidFill>
                  <a:srgbClr val="2C3E50"/>
                </a:solidFill>
                <a:latin typeface="Arial"/>
                <a:ea typeface="Arial"/>
                <a:cs typeface="Arial"/>
              </a:rPr>
              <a:t>Verify + bonus</a:t>
            </a:r>
          </a:p>
        </p:txBody>
      </p:sp>
      <p:sp>
        <p:nvSpPr>
          <p:cNvPr id="26" name="Text 23">
            <a:extLst xmlns:a="http://schemas.openxmlformats.org/drawingml/2006/main">
              <a:ext uri="{FF2B5EF4-FFF2-40B4-BE49-F238E27FC236}">
                <a16:creationId xmlns:a16="http://schemas.microsoft.com/office/drawing/2014/main" id="{5BD93F7C-E8FB-48F0-9A4C-4032D51263AE}"/>
              </a:ext>
            </a:extLst>
          </p:cNvPr>
          <p:cNvSpPr>
            <a:spLocks xmlns:a="http://schemas.openxmlformats.org/drawingml/2006/main" noGrp="1"/>
          </p:cNvSpPr>
          <p:nvPr/>
        </p:nvSpPr>
        <p:spPr>
          <a:xfrm xmlns:a="http://schemas.openxmlformats.org/drawingml/2006/main">
            <a:off x="4869180" y="3648456"/>
            <a:ext cx="36073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400"/>
              </a:lnSpc>
              <a:buNone/>
            </a:pPr>
            <a:r>
              <a:rPr sz="1050">
                <a:solidFill>
                  <a:srgbClr val="55606B"/>
                </a:solidFill>
                <a:latin typeface="Arial"/>
                <a:ea typeface="Arial"/>
                <a:cs typeface="Arial"/>
              </a:rPr>
              <a:t>Companion verifies silver. Stretch: quality-gate task. Bonus: run week3_dlt_pipeline as a pipeline.</a:t>
            </a:r>
          </a:p>
        </p:txBody>
      </p:sp>
      <p:sp>
        <p:nvSpPr>
          <p:cNvPr id="27" name="Shape 24">
            <a:extLst xmlns:a="http://schemas.openxmlformats.org/drawingml/2006/main">
              <a:ext uri="{FF2B5EF4-FFF2-40B4-BE49-F238E27FC236}">
                <a16:creationId xmlns:a16="http://schemas.microsoft.com/office/drawing/2014/main" id="{824A0F72-0E0B-4A2D-AB8E-251EF9D14A3C}"/>
              </a:ext>
            </a:extLst>
          </p:cNvPr>
          <p:cNvSpPr>
            <a:spLocks xmlns:a="http://schemas.openxmlformats.org/drawingml/2006/main" noGrp="1"/>
          </p:cNvSpPr>
          <p:nvPr/>
        </p:nvSpPr>
        <p:spPr>
          <a:xfrm xmlns:a="http://schemas.openxmlformats.org/drawingml/2006/main">
            <a:off x="502920" y="4160520"/>
            <a:ext cx="8138160" cy="530352"/>
          </a:xfrm>
          <a:prstGeom xmlns:a="http://schemas.openxmlformats.org/drawingml/2006/main" prst="rect">
            <a:avLst/>
          </a:prstGeom>
          <a:solidFill xmlns:a="http://schemas.openxmlformats.org/drawingml/2006/main">
            <a:srgbClr val="FDF3F3"/>
          </a:solidFill>
        </p:spPr>
      </p:sp>
      <p:sp>
        <p:nvSpPr>
          <p:cNvPr id="28" name="Shape 25">
            <a:extLst xmlns:a="http://schemas.openxmlformats.org/drawingml/2006/main">
              <a:ext uri="{FF2B5EF4-FFF2-40B4-BE49-F238E27FC236}">
                <a16:creationId xmlns:a16="http://schemas.microsoft.com/office/drawing/2014/main" id="{7EB482AA-D3B8-46B5-A6FA-C1E5DF3739C3}"/>
              </a:ext>
            </a:extLst>
          </p:cNvPr>
          <p:cNvSpPr>
            <a:spLocks xmlns:a="http://schemas.openxmlformats.org/drawingml/2006/main" noGrp="1"/>
          </p:cNvSpPr>
          <p:nvPr/>
        </p:nvSpPr>
        <p:spPr>
          <a:xfrm xmlns:a="http://schemas.openxmlformats.org/drawingml/2006/main">
            <a:off x="502920" y="4160520"/>
            <a:ext cx="54864" cy="530352"/>
          </a:xfrm>
          <a:prstGeom xmlns:a="http://schemas.openxmlformats.org/drawingml/2006/main" prst="rect">
            <a:avLst/>
          </a:prstGeom>
          <a:solidFill xmlns:a="http://schemas.openxmlformats.org/drawingml/2006/main">
            <a:srgbClr val="E31E24"/>
          </a:solidFill>
        </p:spPr>
      </p:sp>
      <p:sp>
        <p:nvSpPr>
          <p:cNvPr id="29" name="Text 26">
            <a:extLst xmlns:a="http://schemas.openxmlformats.org/drawingml/2006/main">
              <a:ext uri="{FF2B5EF4-FFF2-40B4-BE49-F238E27FC236}">
                <a16:creationId xmlns:a16="http://schemas.microsoft.com/office/drawing/2014/main" id="{80DF486A-9A7D-4060-8339-F4262BC68E14}"/>
              </a:ext>
            </a:extLst>
          </p:cNvPr>
          <p:cNvSpPr>
            <a:spLocks xmlns:a="http://schemas.openxmlformats.org/drawingml/2006/main" noGrp="1"/>
          </p:cNvSpPr>
          <p:nvPr/>
        </p:nvSpPr>
        <p:spPr>
          <a:xfrm xmlns:a="http://schemas.openxmlformats.org/drawingml/2006/main">
            <a:off x="704088" y="4215384"/>
            <a:ext cx="77724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50"/>
              </a:lnSpc>
              <a:buNone/>
            </a:pPr>
            <a:r>
              <a:rPr sz="950" b="1">
                <a:solidFill>
                  <a:srgbClr val="E31E24"/>
                </a:solidFill>
                <a:latin typeface="Arial"/>
                <a:ea typeface="Arial"/>
                <a:cs typeface="Arial"/>
              </a:rPr>
              <a:t>YOU RUN   </a:t>
            </a:r>
            <a:r>
              <a:rPr sz="1100">
                <a:solidFill>
                  <a:srgbClr val="2C3E50"/>
                </a:solidFill>
                <a:latin typeface="Arial"/>
                <a:ea typeface="Arial"/>
                <a:cs typeface="Arial"/>
              </a:rPr>
              <a:t>only the COMPANION notebook. The job runs week3_01 / week3_02 / week3_03. The lab lives in the Jobs &amp; Pipelines UI, not a notebook.</a:t>
            </a:r>
          </a:p>
        </p:txBody>
      </p:sp>
    </p:spTree>
    <p:extLst>
      <p:ext uri="{BB962C8B-B14F-4D97-AF65-F5344CB8AC3E}">
        <p14:creationId xmlns:p14="http://schemas.microsoft.com/office/powerpoint/2010/main" val="2130640945"/>
      </p:ext>
    </p:extLst>
  </p:cSld>
</p:sld>
</file>

<file path=ppt/slides/slide17.xml><?xml version="1.0" encoding="utf-8"?>
<p:sld xmlns:p="http://schemas.openxmlformats.org/presentationml/2006/main">
  <p:cSld>
    <p:bg>
      <p:bgPr>
        <a:solidFill xmlns:a="http://schemas.openxmlformats.org/drawingml/2006/main">
          <a:srgbClr val="2C3E5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171AD9-DE5F-40B3-A34D-5F9103D098B6}"/>
              </a:ext>
            </a:extLst>
          </p:cNvPr>
          <p:cNvSpPr>
            <a:spLocks xmlns:a="http://schemas.openxmlformats.org/drawingml/2006/main" noGrp="1"/>
          </p:cNvSpPr>
          <p:nvPr/>
        </p:nvSpPr>
        <p:spPr>
          <a:xfrm xmlns:a="http://schemas.openxmlformats.org/drawingml/2006/main">
            <a:off x="5029200" y="0"/>
            <a:ext cx="2377440" cy="2377440"/>
          </a:xfrm>
          <a:prstGeom xmlns:a="http://schemas.openxmlformats.org/drawingml/2006/main" prst="ellipse">
            <a:avLst/>
          </a:prstGeom>
          <a:ln xmlns:a="http://schemas.openxmlformats.org/drawingml/2006/main" w="12700">
            <a:solidFill>
              <a:srgbClr val="46637F"/>
            </a:solidFill>
            <a:prstDash val="solid"/>
          </a:ln>
        </p:spPr>
      </p:sp>
      <p:sp>
        <p:nvSpPr>
          <p:cNvPr id="3" name="Shape 1">
            <a:extLst xmlns:a="http://schemas.openxmlformats.org/drawingml/2006/main">
              <a:ext uri="{FF2B5EF4-FFF2-40B4-BE49-F238E27FC236}">
                <a16:creationId xmlns:a16="http://schemas.microsoft.com/office/drawing/2014/main" id="{9980093B-DB7C-4BD9-AB26-409D810ED00A}"/>
              </a:ext>
            </a:extLst>
          </p:cNvPr>
          <p:cNvSpPr>
            <a:spLocks xmlns:a="http://schemas.openxmlformats.org/drawingml/2006/main" noGrp="1"/>
          </p:cNvSpPr>
          <p:nvPr/>
        </p:nvSpPr>
        <p:spPr>
          <a:xfrm xmlns:a="http://schemas.openxmlformats.org/drawingml/2006/main">
            <a:off x="6400800" y="3108960"/>
            <a:ext cx="1554480" cy="1554480"/>
          </a:xfrm>
          <a:prstGeom xmlns:a="http://schemas.openxmlformats.org/drawingml/2006/main" prst="ellipse">
            <a:avLst/>
          </a:prstGeom>
          <a:ln xmlns:a="http://schemas.openxmlformats.org/drawingml/2006/main" w="12700">
            <a:solidFill>
              <a:srgbClr val="46637F"/>
            </a:solidFill>
            <a:prstDash val="solid"/>
          </a:ln>
        </p:spPr>
      </p:sp>
      <p:sp>
        <p:nvSpPr>
          <p:cNvPr id="4" name="Text 2">
            <a:extLst xmlns:a="http://schemas.openxmlformats.org/drawingml/2006/main">
              <a:ext uri="{FF2B5EF4-FFF2-40B4-BE49-F238E27FC236}">
                <a16:creationId xmlns:a16="http://schemas.microsoft.com/office/drawing/2014/main" id="{3FE7D06A-2865-4B85-8AC3-2C28F0439D74}"/>
              </a:ext>
            </a:extLst>
          </p:cNvPr>
          <p:cNvSpPr>
            <a:spLocks xmlns:a="http://schemas.openxmlformats.org/drawingml/2006/main" noGrp="1"/>
          </p:cNvSpPr>
          <p:nvPr/>
        </p:nvSpPr>
        <p:spPr>
          <a:xfrm xmlns:a="http://schemas.openxmlformats.org/drawingml/2006/main">
            <a:off x="50292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31E24"/>
                </a:solidFill>
                <a:latin typeface="Arial"/>
                <a:ea typeface="Arial"/>
                <a:cs typeface="Arial"/>
              </a:rPr>
              <a:t>WEEK 3 COMPLETE</a:t>
            </a:r>
          </a:p>
        </p:txBody>
      </p:sp>
      <p:sp>
        <p:nvSpPr>
          <p:cNvPr id="5" name="Text 3">
            <a:extLst xmlns:a="http://schemas.openxmlformats.org/drawingml/2006/main">
              <a:ext uri="{FF2B5EF4-FFF2-40B4-BE49-F238E27FC236}">
                <a16:creationId xmlns:a16="http://schemas.microsoft.com/office/drawing/2014/main" id="{36D20C6A-688E-47E7-BFC1-BDF3918389B9}"/>
              </a:ext>
            </a:extLst>
          </p:cNvPr>
          <p:cNvSpPr>
            <a:spLocks xmlns:a="http://schemas.openxmlformats.org/drawingml/2006/main" noGrp="1"/>
          </p:cNvSpPr>
          <p:nvPr/>
        </p:nvSpPr>
        <p:spPr>
          <a:xfrm xmlns:a="http://schemas.openxmlformats.org/drawingml/2006/main">
            <a:off x="502920" y="960120"/>
            <a:ext cx="7772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Arial"/>
                <a:ea typeface="Arial"/>
                <a:cs typeface="Arial"/>
              </a:rPr>
              <a:t>Your pipeline is now a product</a:t>
            </a:r>
          </a:p>
        </p:txBody>
      </p:sp>
      <p:sp>
        <p:nvSpPr>
          <p:cNvPr id="6" name="Shape 4">
            <a:extLst xmlns:a="http://schemas.openxmlformats.org/drawingml/2006/main">
              <a:ext uri="{FF2B5EF4-FFF2-40B4-BE49-F238E27FC236}">
                <a16:creationId xmlns:a16="http://schemas.microsoft.com/office/drawing/2014/main" id="{71549C66-1B8A-4A92-B007-F1B241725192}"/>
              </a:ext>
            </a:extLst>
          </p:cNvPr>
          <p:cNvSpPr>
            <a:spLocks xmlns:a="http://schemas.openxmlformats.org/drawingml/2006/main" noGrp="1"/>
          </p:cNvSpPr>
          <p:nvPr/>
        </p:nvSpPr>
        <p:spPr>
          <a:xfrm xmlns:a="http://schemas.openxmlformats.org/drawingml/2006/main">
            <a:off x="502920" y="1929384"/>
            <a:ext cx="91440" cy="91440"/>
          </a:xfrm>
          <a:prstGeom xmlns:a="http://schemas.openxmlformats.org/drawingml/2006/main" prst="rect">
            <a:avLst/>
          </a:prstGeom>
          <a:solidFill xmlns:a="http://schemas.openxmlformats.org/drawingml/2006/main">
            <a:srgbClr val="E31E24"/>
          </a:solidFill>
        </p:spPr>
      </p:sp>
      <p:sp>
        <p:nvSpPr>
          <p:cNvPr id="7" name="Text 5">
            <a:extLst xmlns:a="http://schemas.openxmlformats.org/drawingml/2006/main">
              <a:ext uri="{FF2B5EF4-FFF2-40B4-BE49-F238E27FC236}">
                <a16:creationId xmlns:a16="http://schemas.microsoft.com/office/drawing/2014/main" id="{A71F1AC4-032C-44DF-878A-4314273FB55E}"/>
              </a:ext>
            </a:extLst>
          </p:cNvPr>
          <p:cNvSpPr>
            <a:spLocks xmlns:a="http://schemas.openxmlformats.org/drawingml/2006/main" noGrp="1"/>
          </p:cNvSpPr>
          <p:nvPr/>
        </p:nvSpPr>
        <p:spPr>
          <a:xfrm xmlns:a="http://schemas.openxmlformats.org/drawingml/2006/main">
            <a:off x="740664" y="1828800"/>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300">
                <a:solidFill>
                  <a:srgbClr val="DCE4EA"/>
                </a:solidFill>
                <a:latin typeface="Arial"/>
                <a:ea typeface="Arial"/>
                <a:cs typeface="Arial"/>
              </a:rPr>
              <a:t>A scheduled, parameterized 2-task job — with a failure you repaired yourself</a:t>
            </a:r>
          </a:p>
        </p:txBody>
      </p:sp>
      <p:sp>
        <p:nvSpPr>
          <p:cNvPr id="8" name="Shape 6">
            <a:extLst xmlns:a="http://schemas.openxmlformats.org/drawingml/2006/main">
              <a:ext uri="{FF2B5EF4-FFF2-40B4-BE49-F238E27FC236}">
                <a16:creationId xmlns:a16="http://schemas.microsoft.com/office/drawing/2014/main" id="{0A48902B-4113-4000-AC4F-14721BB330EF}"/>
              </a:ext>
            </a:extLst>
          </p:cNvPr>
          <p:cNvSpPr>
            <a:spLocks xmlns:a="http://schemas.openxmlformats.org/drawingml/2006/main" noGrp="1"/>
          </p:cNvSpPr>
          <p:nvPr/>
        </p:nvSpPr>
        <p:spPr>
          <a:xfrm xmlns:a="http://schemas.openxmlformats.org/drawingml/2006/main">
            <a:off x="502920" y="2496312"/>
            <a:ext cx="91440" cy="91440"/>
          </a:xfrm>
          <a:prstGeom xmlns:a="http://schemas.openxmlformats.org/drawingml/2006/main" prst="rect">
            <a:avLst/>
          </a:prstGeom>
          <a:solidFill xmlns:a="http://schemas.openxmlformats.org/drawingml/2006/main">
            <a:srgbClr val="E31E24"/>
          </a:solidFill>
        </p:spPr>
      </p:sp>
      <p:sp>
        <p:nvSpPr>
          <p:cNvPr id="9" name="Text 7">
            <a:extLst xmlns:a="http://schemas.openxmlformats.org/drawingml/2006/main">
              <a:ext uri="{FF2B5EF4-FFF2-40B4-BE49-F238E27FC236}">
                <a16:creationId xmlns:a16="http://schemas.microsoft.com/office/drawing/2014/main" id="{A478854A-274D-48C8-B831-221901AD1FE0}"/>
              </a:ext>
            </a:extLst>
          </p:cNvPr>
          <p:cNvSpPr>
            <a:spLocks xmlns:a="http://schemas.openxmlformats.org/drawingml/2006/main" noGrp="1"/>
          </p:cNvSpPr>
          <p:nvPr/>
        </p:nvSpPr>
        <p:spPr>
          <a:xfrm xmlns:a="http://schemas.openxmlformats.org/drawingml/2006/main">
            <a:off x="740664" y="2395728"/>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300">
                <a:solidFill>
                  <a:srgbClr val="DCE4EA"/>
                </a:solidFill>
                <a:latin typeface="Arial"/>
                <a:ea typeface="Arial"/>
                <a:cs typeface="Arial"/>
              </a:rPr>
              <a:t>Triggers chosen by data availability, not habit</a:t>
            </a:r>
          </a:p>
        </p:txBody>
      </p:sp>
      <p:sp>
        <p:nvSpPr>
          <p:cNvPr id="10" name="Shape 8">
            <a:extLst xmlns:a="http://schemas.openxmlformats.org/drawingml/2006/main">
              <a:ext uri="{FF2B5EF4-FFF2-40B4-BE49-F238E27FC236}">
                <a16:creationId xmlns:a16="http://schemas.microsoft.com/office/drawing/2014/main" id="{38DD783A-6A8D-4C5E-9190-2EB14AD54AA1}"/>
              </a:ext>
            </a:extLst>
          </p:cNvPr>
          <p:cNvSpPr>
            <a:spLocks xmlns:a="http://schemas.openxmlformats.org/drawingml/2006/main" noGrp="1"/>
          </p:cNvSpPr>
          <p:nvPr/>
        </p:nvSpPr>
        <p:spPr>
          <a:xfrm xmlns:a="http://schemas.openxmlformats.org/drawingml/2006/main">
            <a:off x="502920" y="3063240"/>
            <a:ext cx="91440" cy="91440"/>
          </a:xfrm>
          <a:prstGeom xmlns:a="http://schemas.openxmlformats.org/drawingml/2006/main" prst="rect">
            <a:avLst/>
          </a:prstGeom>
          <a:solidFill xmlns:a="http://schemas.openxmlformats.org/drawingml/2006/main">
            <a:srgbClr val="E31E24"/>
          </a:solidFill>
        </p:spPr>
      </p:sp>
      <p:sp>
        <p:nvSpPr>
          <p:cNvPr id="11" name="Text 9">
            <a:extLst xmlns:a="http://schemas.openxmlformats.org/drawingml/2006/main">
              <a:ext uri="{FF2B5EF4-FFF2-40B4-BE49-F238E27FC236}">
                <a16:creationId xmlns:a16="http://schemas.microsoft.com/office/drawing/2014/main" id="{FFE74677-D4D6-4A89-AC4B-9A91EBC89FB9}"/>
              </a:ext>
            </a:extLst>
          </p:cNvPr>
          <p:cNvSpPr>
            <a:spLocks xmlns:a="http://schemas.openxmlformats.org/drawingml/2006/main" noGrp="1"/>
          </p:cNvSpPr>
          <p:nvPr/>
        </p:nvSpPr>
        <p:spPr>
          <a:xfrm xmlns:a="http://schemas.openxmlformats.org/drawingml/2006/main">
            <a:off x="740664" y="2962656"/>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300">
                <a:solidFill>
                  <a:srgbClr val="DCE4EA"/>
                </a:solidFill>
                <a:latin typeface="Arial"/>
                <a:ea typeface="Arial"/>
                <a:cs typeface="Arial"/>
              </a:rPr>
              <a:t>Git folders: branch → commit → push → PR (in the provider)</a:t>
            </a:r>
          </a:p>
        </p:txBody>
      </p:sp>
      <p:sp>
        <p:nvSpPr>
          <p:cNvPr id="12" name="Shape 10">
            <a:extLst xmlns:a="http://schemas.openxmlformats.org/drawingml/2006/main">
              <a:ext uri="{FF2B5EF4-FFF2-40B4-BE49-F238E27FC236}">
                <a16:creationId xmlns:a16="http://schemas.microsoft.com/office/drawing/2014/main" id="{3DF4A5F4-EC20-4BB2-BFB0-A464D8DAE7E3}"/>
              </a:ext>
            </a:extLst>
          </p:cNvPr>
          <p:cNvSpPr>
            <a:spLocks xmlns:a="http://schemas.openxmlformats.org/drawingml/2006/main" noGrp="1"/>
          </p:cNvSpPr>
          <p:nvPr/>
        </p:nvSpPr>
        <p:spPr>
          <a:xfrm xmlns:a="http://schemas.openxmlformats.org/drawingml/2006/main">
            <a:off x="502920" y="3630168"/>
            <a:ext cx="91440" cy="91440"/>
          </a:xfrm>
          <a:prstGeom xmlns:a="http://schemas.openxmlformats.org/drawingml/2006/main" prst="rect">
            <a:avLst/>
          </a:prstGeom>
          <a:solidFill xmlns:a="http://schemas.openxmlformats.org/drawingml/2006/main">
            <a:srgbClr val="E31E24"/>
          </a:solidFill>
        </p:spPr>
      </p:sp>
      <p:sp>
        <p:nvSpPr>
          <p:cNvPr id="13" name="Text 11">
            <a:extLst xmlns:a="http://schemas.openxmlformats.org/drawingml/2006/main">
              <a:ext uri="{FF2B5EF4-FFF2-40B4-BE49-F238E27FC236}">
                <a16:creationId xmlns:a16="http://schemas.microsoft.com/office/drawing/2014/main" id="{CD24CE92-C70E-4232-B88D-4B3673328A43}"/>
              </a:ext>
            </a:extLst>
          </p:cNvPr>
          <p:cNvSpPr>
            <a:spLocks xmlns:a="http://schemas.openxmlformats.org/drawingml/2006/main" noGrp="1"/>
          </p:cNvSpPr>
          <p:nvPr/>
        </p:nvSpPr>
        <p:spPr>
          <a:xfrm xmlns:a="http://schemas.openxmlformats.org/drawingml/2006/main">
            <a:off x="740664" y="3529584"/>
            <a:ext cx="5120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300">
                <a:solidFill>
                  <a:srgbClr val="DCE4EA"/>
                </a:solidFill>
                <a:latin typeface="Arial"/>
                <a:ea typeface="Arial"/>
                <a:cs typeface="Arial"/>
              </a:rPr>
              <a:t>Bundles: four blocks, three verbs, promotion without code edits</a:t>
            </a:r>
          </a:p>
        </p:txBody>
      </p:sp>
      <p:sp>
        <p:nvSpPr>
          <p:cNvPr id="14" name="Shape 12">
            <a:extLst xmlns:a="http://schemas.openxmlformats.org/drawingml/2006/main">
              <a:ext uri="{FF2B5EF4-FFF2-40B4-BE49-F238E27FC236}">
                <a16:creationId xmlns:a16="http://schemas.microsoft.com/office/drawing/2014/main" id="{45235DA8-124F-482C-A436-CE65B2C8FD5D}"/>
              </a:ext>
            </a:extLst>
          </p:cNvPr>
          <p:cNvSpPr>
            <a:spLocks xmlns:a="http://schemas.openxmlformats.org/drawingml/2006/main" noGrp="1"/>
          </p:cNvSpPr>
          <p:nvPr/>
        </p:nvSpPr>
        <p:spPr>
          <a:xfrm xmlns:a="http://schemas.openxmlformats.org/drawingml/2006/main">
            <a:off x="6035040" y="1828800"/>
            <a:ext cx="2606040" cy="2286000"/>
          </a:xfrm>
          <a:prstGeom xmlns:a="http://schemas.openxmlformats.org/drawingml/2006/main" prst="rect">
            <a:avLst/>
          </a:prstGeom>
          <a:solidFill xmlns:a="http://schemas.openxmlformats.org/drawingml/2006/main">
            <a:srgbClr val="E31E24"/>
          </a:solidFill>
        </p:spPr>
      </p:sp>
      <p:sp>
        <p:nvSpPr>
          <p:cNvPr id="15" name="Text 13">
            <a:extLst xmlns:a="http://schemas.openxmlformats.org/drawingml/2006/main">
              <a:ext uri="{FF2B5EF4-FFF2-40B4-BE49-F238E27FC236}">
                <a16:creationId xmlns:a16="http://schemas.microsoft.com/office/drawing/2014/main" id="{1F2BB249-6670-4F4C-B7B9-0471DD4DBD62}"/>
              </a:ext>
            </a:extLst>
          </p:cNvPr>
          <p:cNvSpPr>
            <a:spLocks xmlns:a="http://schemas.openxmlformats.org/drawingml/2006/main" noGrp="1"/>
          </p:cNvSpPr>
          <p:nvPr/>
        </p:nvSpPr>
        <p:spPr>
          <a:xfrm xmlns:a="http://schemas.openxmlformats.org/drawingml/2006/main">
            <a:off x="6263640" y="2057400"/>
            <a:ext cx="2194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Arial"/>
                <a:ea typeface="Arial"/>
                <a:cs typeface="Arial"/>
              </a:rPr>
              <a:t>NEXT</a:t>
            </a:r>
          </a:p>
        </p:txBody>
      </p:sp>
      <p:sp>
        <p:nvSpPr>
          <p:cNvPr id="16" name="Text 14">
            <a:extLst xmlns:a="http://schemas.openxmlformats.org/drawingml/2006/main">
              <a:ext uri="{FF2B5EF4-FFF2-40B4-BE49-F238E27FC236}">
                <a16:creationId xmlns:a16="http://schemas.microsoft.com/office/drawing/2014/main" id="{C4D45FEF-8D83-42CF-9EF0-1EA3356B312D}"/>
              </a:ext>
            </a:extLst>
          </p:cNvPr>
          <p:cNvSpPr>
            <a:spLocks xmlns:a="http://schemas.openxmlformats.org/drawingml/2006/main" noGrp="1"/>
          </p:cNvSpPr>
          <p:nvPr/>
        </p:nvSpPr>
        <p:spPr>
          <a:xfrm xmlns:a="http://schemas.openxmlformats.org/drawingml/2006/main">
            <a:off x="6263640" y="2377440"/>
            <a:ext cx="21945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400" b="1">
                <a:solidFill>
                  <a:srgbClr val="FFFFFF"/>
                </a:solidFill>
                <a:latin typeface="Arial"/>
                <a:ea typeface="Arial"/>
                <a:cs typeface="Arial"/>
              </a:rPr>
              <a:t>Governance +</a:t>
            </a:r>
          </a:p>
          <a:p xmlns:a="http://schemas.openxmlformats.org/drawingml/2006/main">
            <a:pPr marL="0" indent="0">
              <a:lnSpc>
                <a:spcPts val="1900"/>
              </a:lnSpc>
              <a:buNone/>
            </a:pPr>
            <a:r>
              <a:rPr sz="1400" b="1">
                <a:solidFill>
                  <a:srgbClr val="FFFFFF"/>
                </a:solidFill>
                <a:latin typeface="Arial"/>
                <a:ea typeface="Arial"/>
                <a:cs typeface="Arial"/>
              </a:rPr>
              <a:t>Optimization —</a:t>
            </a:r>
          </a:p>
          <a:p xmlns:a="http://schemas.openxmlformats.org/drawingml/2006/main">
            <a:pPr marL="0" indent="0">
              <a:lnSpc>
                <a:spcPts val="1900"/>
              </a:lnSpc>
              <a:buNone/>
            </a:pPr>
            <a:r>
              <a:rPr sz="1400" b="1">
                <a:solidFill>
                  <a:srgbClr val="FFFFFF"/>
                </a:solidFill>
                <a:latin typeface="Arial"/>
                <a:ea typeface="Arial"/>
                <a:cs typeface="Arial"/>
              </a:rPr>
              <a:t>GRANTs, masks,</a:t>
            </a:r>
          </a:p>
          <a:p xmlns:a="http://schemas.openxmlformats.org/drawingml/2006/main">
            <a:pPr marL="0" indent="0">
              <a:lnSpc>
                <a:spcPts val="1900"/>
              </a:lnSpc>
              <a:buNone/>
            </a:pPr>
            <a:r>
              <a:rPr sz="1400" b="1">
                <a:solidFill>
                  <a:srgbClr val="FFFFFF"/>
                </a:solidFill>
                <a:latin typeface="Arial"/>
                <a:ea typeface="Arial"/>
                <a:cs typeface="Arial"/>
              </a:rPr>
              <a:t>Spark UI, Liquid</a:t>
            </a:r>
          </a:p>
          <a:p xmlns:a="http://schemas.openxmlformats.org/drawingml/2006/main">
            <a:pPr marL="0" indent="0">
              <a:lnSpc>
                <a:spcPts val="1900"/>
              </a:lnSpc>
              <a:buNone/>
            </a:pPr>
            <a:r>
              <a:rPr sz="1400" b="1">
                <a:solidFill>
                  <a:srgbClr val="FFFFFF"/>
                </a:solidFill>
                <a:latin typeface="Arial"/>
                <a:ea typeface="Arial"/>
                <a:cs typeface="Arial"/>
              </a:rPr>
              <a:t>Clustering</a:t>
            </a:r>
          </a:p>
        </p:txBody>
      </p:sp>
      <p:sp>
        <p:nvSpPr>
          <p:cNvPr id="17" name="Text 15">
            <a:extLst xmlns:a="http://schemas.openxmlformats.org/drawingml/2006/main">
              <a:ext uri="{FF2B5EF4-FFF2-40B4-BE49-F238E27FC236}">
                <a16:creationId xmlns:a16="http://schemas.microsoft.com/office/drawing/2014/main" id="{FC3ED671-CF29-450C-B0BA-D9D5E59ECC94}"/>
              </a:ext>
            </a:extLst>
          </p:cNvPr>
          <p:cNvSpPr>
            <a:spLocks xmlns:a="http://schemas.openxmlformats.org/drawingml/2006/main" noGrp="1"/>
          </p:cNvSpPr>
          <p:nvPr/>
        </p:nvSpPr>
        <p:spPr>
          <a:xfrm xmlns:a="http://schemas.openxmlformats.org/drawingml/2006/main">
            <a:off x="502920" y="4846320"/>
            <a:ext cx="5029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7F8C8D"/>
                </a:solidFill>
                <a:latin typeface="Arial"/>
                <a:ea typeface="Arial"/>
                <a:cs typeface="Arial"/>
              </a:rPr>
              <a:t>CREO TECHNOLOGIES  ·  DATABRICKS DATA ENGINEER ASSOCIATE</a:t>
            </a:r>
          </a:p>
        </p:txBody>
      </p:sp>
      <p:sp>
        <p:nvSpPr>
          <p:cNvPr id="18" name="Text 16">
            <a:extLst xmlns:a="http://schemas.openxmlformats.org/drawingml/2006/main">
              <a:ext uri="{FF2B5EF4-FFF2-40B4-BE49-F238E27FC236}">
                <a16:creationId xmlns:a16="http://schemas.microsoft.com/office/drawing/2014/main" id="{8440DE73-B760-4EB2-8DFA-1659D50ABCC8}"/>
              </a:ext>
            </a:extLst>
          </p:cNvPr>
          <p:cNvSpPr>
            <a:spLocks xmlns:a="http://schemas.openxmlformats.org/drawingml/2006/main" noGrp="1"/>
          </p:cNvSpPr>
          <p:nvPr/>
        </p:nvSpPr>
        <p:spPr>
          <a:xfrm xmlns:a="http://schemas.openxmlformats.org/drawingml/2006/main">
            <a:off x="4983480" y="4846320"/>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7F8C8D"/>
                </a:solidFill>
                <a:latin typeface="Arial"/>
                <a:ea typeface="Arial"/>
                <a:cs typeface="Arial"/>
              </a:rPr>
              <a:t>WEEK 3  ·  JUNE 2026  ·  17</a:t>
            </a:r>
          </a:p>
        </p:txBody>
      </p:sp>
    </p:spTree>
    <p:extLst>
      <p:ext uri="{BB962C8B-B14F-4D97-AF65-F5344CB8AC3E}">
        <p14:creationId xmlns:p14="http://schemas.microsoft.com/office/powerpoint/2010/main" val="17000649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2026-07-10T05:53:14.5290000Z</dcterms:created>
  <dcterms:modified xsi:type="dcterms:W3CDTF">2026-07-10T05:53:14.5290000Z</dcterms:modified>
</coreProperties>
</file>