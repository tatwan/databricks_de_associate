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c1cb6c2fd9499e" /><Relationship Type="http://schemas.openxmlformats.org/officeDocument/2006/relationships/extended-properties" Target="/docProps/app.xml" Id="Rddc5c3364a5f4127" /><Relationship Type="http://schemas.openxmlformats.org/officeDocument/2006/relationships/officeDocument" Target="/ppt/presentation.xml" Id="Rd2c1bdea29094f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47e4e46e714194"/>
  </p:sldMasterIdLst>
  <p:notesMasterIdLst>
    <p:notesMasterId xmlns:r="http://schemas.openxmlformats.org/officeDocument/2006/relationships" r:id="R13cbe5ac839c4cbc"/>
  </p:notesMasterIdLst>
  <p:sldIdLst>
    <p:sldId xmlns:r="http://schemas.openxmlformats.org/officeDocument/2006/relationships" id="256" r:id="R6f9de930834c429a"/>
    <p:sldId xmlns:r="http://schemas.openxmlformats.org/officeDocument/2006/relationships" id="257" r:id="Rd2f2b2da004c499d"/>
    <p:sldId xmlns:r="http://schemas.openxmlformats.org/officeDocument/2006/relationships" id="258" r:id="R07c5b78324db49a7"/>
    <p:sldId xmlns:r="http://schemas.openxmlformats.org/officeDocument/2006/relationships" id="259" r:id="R6226f1e51f3e4af8"/>
    <p:sldId xmlns:r="http://schemas.openxmlformats.org/officeDocument/2006/relationships" id="260" r:id="Rd7c0d54b4a9444b7"/>
    <p:sldId xmlns:r="http://schemas.openxmlformats.org/officeDocument/2006/relationships" id="261" r:id="Re49501c3b9044bf1"/>
    <p:sldId xmlns:r="http://schemas.openxmlformats.org/officeDocument/2006/relationships" id="262" r:id="R33b3afeb2eb3495b"/>
    <p:sldId xmlns:r="http://schemas.openxmlformats.org/officeDocument/2006/relationships" id="263" r:id="R3613b8ce7d8a4d8a"/>
    <p:sldId xmlns:r="http://schemas.openxmlformats.org/officeDocument/2006/relationships" id="264" r:id="Ra2fec4731a744bcc"/>
    <p:sldId xmlns:r="http://schemas.openxmlformats.org/officeDocument/2006/relationships" id="265" r:id="R1354f8403ceb4835"/>
    <p:sldId xmlns:r="http://schemas.openxmlformats.org/officeDocument/2006/relationships" id="266" r:id="R8446f847c53e4415"/>
    <p:sldId xmlns:r="http://schemas.openxmlformats.org/officeDocument/2006/relationships" id="267" r:id="R1ce20db625f64998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8ccba550de46af" /><Relationship Type="http://schemas.openxmlformats.org/officeDocument/2006/relationships/slideMaster" Target="/ppt/slideMasters/slideMaster1.xml" Id="R5447e4e46e714194" /><Relationship Type="http://schemas.openxmlformats.org/officeDocument/2006/relationships/notesMaster" Target="/ppt/notesMasters/notesMaster1.xml" Id="R13cbe5ac839c4cbc" /><Relationship Type="http://schemas.openxmlformats.org/officeDocument/2006/relationships/presProps" Target="/ppt/presProps.xml" Id="Ra3d9eb81a8984a0a" /><Relationship Type="http://schemas.openxmlformats.org/officeDocument/2006/relationships/viewProps" Target="/ppt/viewProps.xml" Id="Ra37a4713f1d243f0" /><Relationship Type="http://schemas.openxmlformats.org/officeDocument/2006/relationships/tableStyles" Target="/ppt/tableStyles.xml" Id="R115f3adbf3774aaa" /><Relationship Type="http://schemas.openxmlformats.org/officeDocument/2006/relationships/slide" Target="/ppt/slides/slide1.xml" Id="R6f9de930834c429a" /><Relationship Type="http://schemas.openxmlformats.org/officeDocument/2006/relationships/slide" Target="/ppt/slides/slide2.xml" Id="Rd2f2b2da004c499d" /><Relationship Type="http://schemas.openxmlformats.org/officeDocument/2006/relationships/slide" Target="/ppt/slides/slide3.xml" Id="R07c5b78324db49a7" /><Relationship Type="http://schemas.openxmlformats.org/officeDocument/2006/relationships/slide" Target="/ppt/slides/slide4.xml" Id="R6226f1e51f3e4af8" /><Relationship Type="http://schemas.openxmlformats.org/officeDocument/2006/relationships/slide" Target="/ppt/slides/slide5.xml" Id="Rd7c0d54b4a9444b7" /><Relationship Type="http://schemas.openxmlformats.org/officeDocument/2006/relationships/slide" Target="/ppt/slides/slide6.xml" Id="Re49501c3b9044bf1" /><Relationship Type="http://schemas.openxmlformats.org/officeDocument/2006/relationships/slide" Target="/ppt/slides/slide7.xml" Id="R33b3afeb2eb3495b" /><Relationship Type="http://schemas.openxmlformats.org/officeDocument/2006/relationships/slide" Target="/ppt/slides/slide8.xml" Id="R3613b8ce7d8a4d8a" /><Relationship Type="http://schemas.openxmlformats.org/officeDocument/2006/relationships/slide" Target="/ppt/slides/slide9.xml" Id="Ra2fec4731a744bcc" /><Relationship Type="http://schemas.openxmlformats.org/officeDocument/2006/relationships/slide" Target="/ppt/slides/slide10.xml" Id="R1354f8403ceb4835" /><Relationship Type="http://schemas.openxmlformats.org/officeDocument/2006/relationships/slide" Target="/ppt/slides/slide11.xml" Id="R8446f847c53e4415" /><Relationship Type="http://schemas.openxmlformats.org/officeDocument/2006/relationships/slide" Target="/ppt/slides/slide12.xml" Id="R1ce20db625f649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148ca5fb2943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98552c732840df" /><Relationship Type="http://schemas.openxmlformats.org/officeDocument/2006/relationships/notesMaster" Target="/ppt/notesMasters/notesMaster1.xml" Id="R6c3460cf45f44e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10ea0b96224df8" /><Relationship Type="http://schemas.openxmlformats.org/officeDocument/2006/relationships/notesMaster" Target="/ppt/notesMasters/notesMaster1.xml" Id="Re3064e8b587840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b88a1470b64be2" /><Relationship Type="http://schemas.openxmlformats.org/officeDocument/2006/relationships/notesMaster" Target="/ppt/notesMasters/notesMaster1.xml" Id="Rb382a18fdaa74d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51c31edc7045c1" /><Relationship Type="http://schemas.openxmlformats.org/officeDocument/2006/relationships/notesMaster" Target="/ppt/notesMasters/notesMaster1.xml" Id="R44512b44b7a84d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fb100dbfd042b1" /><Relationship Type="http://schemas.openxmlformats.org/officeDocument/2006/relationships/notesMaster" Target="/ppt/notesMasters/notesMaster1.xml" Id="R202733981c2a42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87be7f0569450b" /><Relationship Type="http://schemas.openxmlformats.org/officeDocument/2006/relationships/notesMaster" Target="/ppt/notesMasters/notesMaster1.xml" Id="R2aee92e47b274f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710b059a3f4596" /><Relationship Type="http://schemas.openxmlformats.org/officeDocument/2006/relationships/notesMaster" Target="/ppt/notesMasters/notesMaster1.xml" Id="R69cad8109bba4f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e774a9beae4522" /><Relationship Type="http://schemas.openxmlformats.org/officeDocument/2006/relationships/notesMaster" Target="/ppt/notesMasters/notesMaster1.xml" Id="R86505bc4d20f47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997c4f5a054789" /><Relationship Type="http://schemas.openxmlformats.org/officeDocument/2006/relationships/notesMaster" Target="/ppt/notesMasters/notesMaster1.xml" Id="R50e91494980646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06899a66764335" /><Relationship Type="http://schemas.openxmlformats.org/officeDocument/2006/relationships/notesMaster" Target="/ppt/notesMasters/notesMaster1.xml" Id="R11d821df87d346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01cf97683049fa" /><Relationship Type="http://schemas.openxmlformats.org/officeDocument/2006/relationships/notesMaster" Target="/ppt/notesMasters/notesMaster1.xml" Id="Rd155f736cdc24b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532015650f4410" /><Relationship Type="http://schemas.openxmlformats.org/officeDocument/2006/relationships/notesMaster" Target="/ppt/notesMasters/notesMaster1.xml" Id="R32bb63e9578b4f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show-of-hands per domain ('below 70% on the mock?') and write tallies on screen — the review agenda comes from this, live. Normalize imperfect scores: a 60% with a clear diagnosis a week out is a passing trajectory.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70% marker is a course diagnostic target, not an official Databricks passing score. Use the seven domain scores to choose the review order: any domain at or below 50% leads; 50-70% gets targeted docs and a lab rebuild; strong domains get only a final skim.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story once, point at the milestones, start the clock. Coach style: answer 'where is X', refuse 'how do I X' for the first 30 minutes. Everything was taught — reaching for something untaught means overcomplicating.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Announce time checkpoints aloud at 15/30/40 minutes (you should be on M3/M5/M6). M1–M6 = strong performance; M7–M8 = distinction tier. Hint cards exist and cost nothing but pride.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Planted traps: R007 is duplicated (silver must dedupe it) and order 2001 doesn't exist (quarantine must catch it). Learners whose silver shows 12–13 rows missed one. The constraint validation INTENTIONALLY fails — the error is the green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Learner-driven autopsies stick. ~3 minutes per question, 8–10 questions from the cohort's weakest domains. Everyone votes BEFORE the driver eliminates — public commitment makes wrong instincts visible. End each with a one-sentence rule for the wall.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Cold oral check. These are explicit May 4, 2026 ingestion objectives that the capstone does not naturally exercise. Ask learners to choose a tool from a one-sentence scenario. Spend at most 30 seconds per line; assign Week 2 reading for any fuzzy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Cold oral check for transformation. Require the discriminator, not a definition: which join and why; DISTINCT vs latest-row; which Gold object; what each tuning setting influences. This slide repairs coverage without adding another lab.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all seven lines aloud after the two recovery slides. The governance line reflects current product documentation: DENY is not supported by Unity Catalog. Any line that still feels vague becomes a precise final-week assignment.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misconception checks, not lecture bullets. On trap 6, explain the guide/docs mismatch: DENY exists for legacy hive_metastore but is invalid for Unity Catalog objects. For UC, fix group grants or use masks, filters, ABAC, and workspace bindings.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Push booking this week. Reiterate that the plan is weakest-domain first and retrieval-heavy. Confirm the current registration link from the official certification page before delivery if the portal flow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close short. Celebrate the governed, productionized pipeline and the diagnostic habits. NDA reminder: share results and study advice, not live exam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9ab34cf794f2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38823b2c394c47" /><Relationship Type="http://schemas.openxmlformats.org/officeDocument/2006/relationships/slideLayout" Target="/ppt/slideLayouts/slideLayout1.xml" Id="R16d605eff798472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d605eff798472c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620bab8e64eb2" /><Relationship Type="http://schemas.openxmlformats.org/officeDocument/2006/relationships/notesSlide" Target="/ppt/notesSlides/notesSlide1.xml" Id="R427133df1b0f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121e0884642a7" /><Relationship Type="http://schemas.openxmlformats.org/officeDocument/2006/relationships/notesSlide" Target="/ppt/notesSlides/notesSlide2.xml" Id="Rc3ced97a65f040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ac14e7a59476b" /><Relationship Type="http://schemas.openxmlformats.org/officeDocument/2006/relationships/notesSlide" Target="/ppt/notesSlides/notesSlide3.xml" Id="R30f8c1a585c14b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32b0bd7684f03" /><Relationship Type="http://schemas.openxmlformats.org/officeDocument/2006/relationships/notesSlide" Target="/ppt/notesSlides/notesSlide4.xml" Id="R4c264051aa544b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41bb512b848db" /><Relationship Type="http://schemas.openxmlformats.org/officeDocument/2006/relationships/notesSlide" Target="/ppt/notesSlides/notesSlide5.xml" Id="R51f33543686e44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fff8eaa1f480e" /><Relationship Type="http://schemas.openxmlformats.org/officeDocument/2006/relationships/notesSlide" Target="/ppt/notesSlides/notesSlide6.xml" Id="R7e261a7184904e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ff1d412484d2a" /><Relationship Type="http://schemas.openxmlformats.org/officeDocument/2006/relationships/notesSlide" Target="/ppt/notesSlides/notesSlide7.xml" Id="Rddb339079f1747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2ce2e8305418c" /><Relationship Type="http://schemas.openxmlformats.org/officeDocument/2006/relationships/notesSlide" Target="/ppt/notesSlides/notesSlide8.xml" Id="R845637055b684e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4a90af42f40f5" /><Relationship Type="http://schemas.openxmlformats.org/officeDocument/2006/relationships/notesSlide" Target="/ppt/notesSlides/notesSlide9.xml" Id="R93511e5ca22842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7adc4a6da4102" /><Relationship Type="http://schemas.openxmlformats.org/officeDocument/2006/relationships/notesSlide" Target="/ppt/notesSlides/notesSlide10.xml" Id="Rc39a580ba9d54a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a396fa84649bd" /><Relationship Type="http://schemas.openxmlformats.org/officeDocument/2006/relationships/notesSlide" Target="/ppt/notesSlides/notesSlide11.xml" Id="R7341b1cf99ad46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9d78940be44cd" /><Relationship Type="http://schemas.openxmlformats.org/officeDocument/2006/relationships/notesSlide" Target="/ppt/notesSlides/notesSlide12.xml" Id="Rb1f54887061e42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3E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E40D3B0-1398-43CC-BC68-56870650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91440"/>
            <a:ext cx="2377440" cy="2377440"/>
          </a:xfrm>
          <a:prstGeom xmlns:a="http://schemas.openxmlformats.org/drawingml/2006/main" prst="ellipse">
            <a:avLst/>
          </a:prstGeom>
          <a:ln xmlns:a="http://schemas.openxmlformats.org/drawingml/2006/main" w="12700">
            <a:solidFill>
              <a:srgbClr val="46637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6A97EBA-8BF3-4D13-8531-AD1AF5AA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496" y="3657600"/>
            <a:ext cx="1554480" cy="1554480"/>
          </a:xfrm>
          <a:prstGeom xmlns:a="http://schemas.openxmlformats.org/drawingml/2006/main" prst="ellipse">
            <a:avLst/>
          </a:prstGeom>
          <a:ln xmlns:a="http://schemas.openxmlformats.org/drawingml/2006/main" w="12700">
            <a:solidFill>
              <a:srgbClr val="46637F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0BBF950-B19F-4F61-B135-FE75D2B2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" y="41148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E6922EF-6792-42E6-B9DC-798C8545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12801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4F36CCC-91C9-474C-A529-C862080D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CREO TECHNOLOGIES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726B9B-AA5C-4D74-8A83-F98A67CB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AB7C4"/>
                </a:solidFill>
                <a:latin typeface="Arial"/>
                <a:ea typeface="Arial"/>
                <a:cs typeface="Arial"/>
              </a:rPr>
              <a:t>INSTRUCTOR-LED CERTIFICATION SERIES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90EF641-B8F9-49D9-AD1A-330B0A4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51206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600"/>
              </a:lnSpc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Databricks Certified</a:t>
            </a:r>
          </a:p>
          <a:p xmlns:a="http://schemas.openxmlformats.org/drawingml/2006/main">
            <a:pPr marL="0" indent="0">
              <a:lnSpc>
                <a:spcPts val="3600"/>
              </a:lnSpc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Engineer Associate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AF30A36-F1AF-4CBD-B890-78B2CD5D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4937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250">
                <a:solidFill>
                  <a:srgbClr val="C9D4DE"/>
                </a:solidFill>
                <a:latin typeface="Arial"/>
                <a:ea typeface="Arial"/>
                <a:cs typeface="Arial"/>
              </a:rPr>
              <a:t>▸  All seven domains — integration mode</a:t>
            </a:r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250">
                <a:solidFill>
                  <a:srgbClr val="C9D4DE"/>
                </a:solidFill>
                <a:latin typeface="Arial"/>
                <a:ea typeface="Arial"/>
                <a:cs typeface="Arial"/>
              </a:rPr>
              <a:t>▸  50-minute capstone: BrewMart returns → net revenue</a:t>
            </a:r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250">
                <a:solidFill>
                  <a:srgbClr val="C9D4DE"/>
                </a:solidFill>
                <a:latin typeface="Arial"/>
                <a:ea typeface="Arial"/>
                <a:cs typeface="Arial"/>
              </a:rPr>
              <a:t>▸  Mock review driven by YOUR domain scores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2A73119-9D64-4C4B-9C74-058C08A0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0"/>
            <a:ext cx="32461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805192-A170-4C17-ACF3-67C1D0B6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77724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EE2B51-7ACF-490C-932A-79E1C24A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960120"/>
            <a:ext cx="26517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E1912BC-1849-4FB1-B462-C731E4B5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017520"/>
            <a:ext cx="2606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Capstone &amp; Exam Readiness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48B80E3-0649-442F-B7DE-EF0085DE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251960"/>
            <a:ext cx="2606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FFD9DA"/>
                </a:solidFill>
                <a:latin typeface="Arial"/>
                <a:ea typeface="Arial"/>
                <a:cs typeface="Arial"/>
              </a:rPr>
              <a:t>Build it end-to-end · Review the mock · Walk in ready</a:t>
            </a:r>
          </a:p>
        </p:txBody>
      </p:sp>
    </p:spTree>
    <p:extLst>
      <p:ext uri="{BB962C8B-B14F-4D97-AF65-F5344CB8AC3E}">
        <p14:creationId xmlns:p14="http://schemas.microsoft.com/office/powerpoint/2010/main" val="2066260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52CC23-C8D3-4DA7-86CC-DC9B9823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556C85-10CA-4DC3-A987-8137F992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Your mock, your map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0B0C0E-3044-4FC8-860F-5AB613F8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4E18CEB-859F-4D67-8B42-54943D72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5  ·  JUNE 2026  ·  2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A98DAEB-66B1-46E3-B917-8BA0DC45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2529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7559320-0DF4-440E-85A2-8CED367A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529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0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MOCK QUESTIONS TAKEN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008E5F7-BED0-487B-9942-52CE3291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08760"/>
            <a:ext cx="0" cy="1005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2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3589B90-BD8B-4ADF-8291-1DE9ED36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1371600"/>
            <a:ext cx="2529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7E2BD83-8216-433E-AEAA-4D8908B4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2286000"/>
            <a:ext cx="2529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0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DOMAIN SCORES IN HAND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884375-3E28-4B13-87CC-68015EDD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1508760"/>
            <a:ext cx="0" cy="1005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2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AF42D07-32B0-4F3F-BDBA-BB2D43A8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1371600"/>
            <a:ext cx="2529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33275C4-7C8B-4514-8622-8603699B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2286000"/>
            <a:ext cx="2529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0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COURSE TARGET — NOT AN OFFICIAL PASS SCORE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826A160-B881-454A-A8BE-BB23521E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54680"/>
            <a:ext cx="8138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6E622CB-372A-46AD-8C23-F34E0362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5468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F418C8D-FCE9-4039-B500-BB1ED898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209544"/>
            <a:ext cx="777240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READ YOUR GRID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Any domain ≤ 50% leads your final-week plan. 50–70%: targeted docs + redo that week's lab. 85%+: leave it alone until the final-day skim. A failed mock means a TARGETED week — not a postponed exam.</a:t>
            </a:r>
          </a:p>
        </p:txBody>
      </p:sp>
    </p:spTree>
    <p:extLst>
      <p:ext uri="{BB962C8B-B14F-4D97-AF65-F5344CB8AC3E}">
        <p14:creationId xmlns:p14="http://schemas.microsoft.com/office/powerpoint/2010/main" val="938725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E00380-81A1-4814-9DC4-09630BE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THE CAPSTONE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DD45C6-4CDC-4FB7-8269-11700FCE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BrewMart returns → net revenue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F93D96-9FB5-4D26-A8A8-61314E82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124E955-FDF4-455E-AB61-D4703A69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5  ·  JUNE 2026  ·  3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3E3D793-A556-4B3B-9974-9EFB99F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830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092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7A834C8-1F69-4B66-A528-5738FF78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830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returns</a:t>
            </a:r>
          </a:p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4775E9E-F958-401E-9C50-E35BF579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706624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volume upload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F1CC49B-2C3D-48A8-AC32-5F4B6178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043684"/>
            <a:ext cx="42062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F33B6C8-02C3-4417-B620-1E1A5C65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17830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6B3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871042D-AA70-4423-90F6-2B637F15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17830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9EFAE4E-D80E-4DA8-B799-BDDCBAB3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706624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COPY INTO</a:t>
            </a:r>
          </a:p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rerun = 0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33CB068-8347-4801-BB70-6E94F94E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3684"/>
            <a:ext cx="42062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D803054-5DA8-48D1-96E8-83564F76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7830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BA6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824AC1E-DC65-4D98-A4E1-2D2E5BD1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7830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SILVER +</a:t>
            </a:r>
          </a:p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QUARANTINE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5B2E33F-3E26-42ED-9967-F84CB3C7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2706624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quality gate:</a:t>
            </a:r>
          </a:p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order must exist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5577051-5877-4BAF-A5EF-7B100E8E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43684"/>
            <a:ext cx="42062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404F5F3-7D49-46A3-B150-1A614C6A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17830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5FFDD93-18D8-4733-882E-1D03D541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17830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NET REVENUE</a:t>
            </a:r>
          </a:p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B857000-587F-4491-97C3-698D97D3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706624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CLUSTER BY</a:t>
            </a:r>
          </a:p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(store, date)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327DCBD-32CB-4080-B2C0-176AD465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043684"/>
            <a:ext cx="42062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9FDCC12F-A2DC-4D74-8DDA-5A253094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7830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8A2D84B-4E01-4D6E-96DB-45D85324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7830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JOB +</a:t>
            </a:r>
          </a:p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GRANTS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9144FE3-096F-475E-A076-E1CB6A70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6624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paused schedule</a:t>
            </a:r>
          </a:p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+ least privilege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D810258-40C6-43CD-BDE6-8CBF482A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81381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AAF553C-CAB5-4A7D-81B3-1ADB0E26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54864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2DE6BA3-72D3-40C5-AA87-E53E2EA6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712464"/>
            <a:ext cx="7772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THE BUSINESS RULE THAT BITES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Returns don't carry prices. Net = gross − (returned qty × the ORDER's unit price) — a join encodes the business rule. And one return references an order that doesn't exist. Where does it go?</a:t>
            </a:r>
          </a:p>
        </p:txBody>
      </p:sp>
    </p:spTree>
    <p:extLst>
      <p:ext uri="{BB962C8B-B14F-4D97-AF65-F5344CB8AC3E}">
        <p14:creationId xmlns:p14="http://schemas.microsoft.com/office/powerpoint/2010/main" val="991945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0A91A-DDFF-495C-BBD6-C41888D9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50 MINUTES ON THE CLOCK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9F52BAA-7F2D-41A0-8E47-BBD8E4DF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Eight milestones, three gates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2E2A7D5-FA81-4041-8D7C-4201D5FC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6E2991D-101C-438B-A317-6B6AE7F9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5  ·  JUNE 2026  ·  4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502920" y="1298448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4983480"/>
                <a:gridCol w="1097280"/>
                <a:gridCol w="13716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Milestone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M1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Upload week5_returns.csv to returns_incoming/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0:03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M2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returns_bronze via COPY INTO — prove rerun = 0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0:08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M3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Quality-gated silver + quarantine (orphans KEPT, not dropped)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0:20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M4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net_revenue_daily with CLUSTER BY (store, order_date)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0:30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M5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CHECK constraint — prove a bad INSERT fails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0:33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M6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2-task job, PAUSED daily schedule, one green run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0:41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M7 · M8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View + GRANT · validations + lineage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0:50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234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19CC35-EEF9-4868-952A-7A954EE8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SELF-CHECK AS YOU GO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6E0C06-F263-4F96-BB21-C60B3700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The numbers that mean you're right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C64CFB8-EC7C-4CB3-97BE-34416F5D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AFBEEF0-A9FA-49B8-8274-69594716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5  ·  JUNE 2026  ·  5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E0D8A71-FCBD-4D5D-9A81-30BA879E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18516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C2AFCA1-55FD-4CB0-B16F-1608FA21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18516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0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BRONZE ROWS (INCL. DUP)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BC53FD5-53FE-43A8-9F27-29A7823B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1600200"/>
            <a:ext cx="0" cy="1005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2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7EED81E-8CC2-4013-B1B2-28E3EEB1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460" y="1463040"/>
            <a:ext cx="18516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91FB083-90BC-4943-BF6D-F2D47926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460" y="2377440"/>
            <a:ext cx="18516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0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SILVER ROWS (DEDUPED + GATED)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DF81027-1DF8-4905-9046-58AF4EA7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600200"/>
            <a:ext cx="0" cy="1005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2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EEDE12-BB4E-4555-A0C7-5655805B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63040"/>
            <a:ext cx="18516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2001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5865FE3-34CF-4BE1-BBCB-3CB6C09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77440"/>
            <a:ext cx="18516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0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THE ONE QUARANTINED ORDER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42A19F4-C4D8-4FC6-AEA2-64AEC910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0" cy="1005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2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79561AC-BBC1-4D3C-962E-BBEBCDF2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540" y="1463040"/>
            <a:ext cx="18516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7A8B81E-F9CB-419D-A13A-6919C864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540" y="2377440"/>
            <a:ext cx="18516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0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ROWS WHERE NET &gt; GROSS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9A921F06-FAD2-43B5-942C-05C7EAB4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8138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A022B62-BC48-42ED-B358-8EF9A52E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F5E20D6-0309-4A2C-A675-FA9F3DC6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46704"/>
            <a:ext cx="777240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THE M3 DESIGN QUESTION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Quarantine vs. WHERE-drop vs. constraint: a WHERE silently loses the orphan; a constraint blocks the whole batch; quarantine keeps the pipeline flowing AND the problem visible. This decision is the capstone's heart — and an exam question.</a:t>
            </a:r>
          </a:p>
        </p:txBody>
      </p:sp>
    </p:spTree>
    <p:extLst>
      <p:ext uri="{BB962C8B-B14F-4D97-AF65-F5344CB8AC3E}">
        <p14:creationId xmlns:p14="http://schemas.microsoft.com/office/powerpoint/2010/main" val="39347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499F8F1-5693-419A-A65A-E272226F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MOCK REVIEW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C44825-0183-4A57-8851-11543B4F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The question autopsy — you drive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AE2B97E-20F6-46FA-A4B2-22ED2C84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9989F5A-2C58-453E-99FC-411E91C6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5  ·  JUNE 2026  ·  6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35CB75A-8B22-4507-B346-635F1ED5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1783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166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D52909D-5DC3-49D6-8A8C-2E34976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17830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① READ</a:t>
            </a:r>
          </a:p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stem aloud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1140ACE-4461-4F96-B400-2C5C9E67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1997964"/>
            <a:ext cx="4389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4665C70-5786-4B5F-95B7-2C83E3EA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737360"/>
            <a:ext cx="1783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D76430D-D6E5-42E4-9E0B-76B83CC9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737360"/>
            <a:ext cx="17830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② NAME the</a:t>
            </a:r>
          </a:p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forcing constraint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06C1B07-DF62-44D3-9F09-8B8ADD5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997964"/>
            <a:ext cx="4389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D44574F-8404-4085-B4F7-6377B808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496" y="1737360"/>
            <a:ext cx="1783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212BCB7-CE5A-41A0-880D-75ECE578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496" y="1737360"/>
            <a:ext cx="17830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③ ELIMINATE</a:t>
            </a:r>
          </a:p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confidence order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16BDD5-ED12-4695-B4EF-F38BFCBE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997964"/>
            <a:ext cx="4389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BDA0BF1-61D4-444F-ABA4-198348FD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1737360"/>
            <a:ext cx="1783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0D32E6A-B9D6-4393-BED6-3C3FD746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1737360"/>
            <a:ext cx="17830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④ STATE</a:t>
            </a:r>
          </a:p>
          <a:p xmlns:a="http://schemas.openxmlformats.org/drawingml/2006/main">
            <a:pPr marL="0" indent="0" algn="ctr">
              <a:lnSpc>
                <a:spcPts val="115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rule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448FCE0-9EDD-4C1A-908A-DAF00CD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11880"/>
            <a:ext cx="8138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5356356-015A-452F-A770-2465BE91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1188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D0A4221-3742-41A6-AE8C-E8655351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666744"/>
            <a:ext cx="777240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DISTRACTOR WANTED POSTERS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Invented syntax · real-feature-wrong-job · old-name bait · over-powered tool. When half the room picks the same wrong option, that distractor type gets named and starred on the rules wall.</a:t>
            </a:r>
          </a:p>
        </p:txBody>
      </p:sp>
    </p:spTree>
    <p:extLst>
      <p:ext uri="{BB962C8B-B14F-4D97-AF65-F5344CB8AC3E}">
        <p14:creationId xmlns:p14="http://schemas.microsoft.com/office/powerpoint/2010/main" val="11246509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A5B72F-47F7-4A60-B332-6B7C0B24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OFFICIAL GUIDE · COVERAGE RECOVERY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9B977C-65F0-495A-9AE7-4B8D51E7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Ingestion objectives the capstone does not cover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4E5EF3-7C17-4335-8780-DEB7E55B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58CDB4-733F-40C4-A5C6-85E5C6CF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5  ·  JUNE 2026  ·  7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911176A-64C9-4AE0-9012-30847391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8F91088-57D5-4776-8F92-CFA58D20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LOAD PATTERN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D263420-C199-4DA9-9893-739A26DD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1293876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Batch vs streaming vs incremental — choose by arrival, latency, scale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3DCEFAA-1926-45AC-B60F-9E4C5C65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55648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FD76440-572E-419C-85B6-723B24C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55648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COPY INTO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B11BC84-EDC1-4932-BE7F-ED502689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1769364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Cloud files → UC table · SQL · file tracking · rerun-safe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1048DAB-91E2-4054-B685-DE5C29C6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31136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D232F8D-9C42-4AE6-8CF6-29AF5415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31136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 LOADER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0764BCD-FDAA-435B-807C-943FFA86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244852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Directory listing vs notifications · schema enforcement + evolution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48793FC-CD4F-423E-BFBB-9A5CC1AE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06624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A842E6D-7149-4FFC-AF2F-713C26B4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06624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LAKEFLOW CONNECT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72F4B2D-C286-4ECB-9D8B-0CD49F8A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720340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Managed vs standard connectors · least code for supported sources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A09B310-9113-4F2A-A7BD-85056E4F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82112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195B48C-A418-43C4-8EA4-ABD484AE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82112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2C8398A-9A9E-4ABE-9573-233633ED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3195828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Use when the organization standardized on Fivetran or similar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E6005AA-2BDA-4844-B059-FCB889CE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C6B63F9-F4C3-4051-9520-F547718C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A02BF2F-376D-47F6-8660-D13AABEC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3671316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JDBC / ODBC / REST in a notebook · schedule with Lakeflow Jobs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DB8EFDF-05E5-45F8-9DB9-5F809A94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33088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E0554F5-121C-49C3-9674-548060F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33088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NESTED DATA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41ED0B0-739E-41F5-A1E2-AA22BAE7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4146804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JSON structs + arrays · preserve nested or explode into rows</a:t>
            </a:r>
          </a:p>
        </p:txBody>
      </p:sp>
    </p:spTree>
    <p:extLst>
      <p:ext uri="{BB962C8B-B14F-4D97-AF65-F5344CB8AC3E}">
        <p14:creationId xmlns:p14="http://schemas.microsoft.com/office/powerpoint/2010/main" val="1600328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A5B72F-47F7-4A60-B332-6B7C0B24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OFFICIAL GUIDE · COVERAGE RECOVERY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9B977C-65F0-495A-9AE7-4B8D51E7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Transformation objectives the capstone only samples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4E5EF3-7C17-4335-8780-DEB7E55B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58CDB4-733F-40C4-A5C6-85E5C6CF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5  ·  JUNE 2026  ·  8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911176A-64C9-4AE0-9012-30847391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8F91088-57D5-4776-8F92-CFA58D20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D263420-C199-4DA9-9893-739A26DD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1293876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Nulls · types · filters · add/drop/rename/split columns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3DCEFAA-1926-45AC-B60F-9E4C5C65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55648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FD76440-572E-419C-85B6-723B24C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55648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JOINS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B11BC84-EDC1-4932-BE7F-ED502689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1769364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Inner · left · cross · multi-key · broadcast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1048DAB-91E2-4054-B685-DE5C29C6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31136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D232F8D-9C42-4AE6-8CF6-29AF5415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31136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DEDUP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0764BCD-FDAA-435B-807C-943FFA86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244852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DISTINCT vs latest-row window — choose the required survivor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48793FC-CD4F-423E-BFBB-9A5CC1AE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06624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A842E6D-7149-4FFC-AF2F-713C26B4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06624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AGGREGATE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72F4B2D-C286-4ECB-9D8B-0CD49F8A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720340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count · approx_count_distinct · mean · summary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A09B310-9113-4F2A-A7BD-85056E4F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82112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195B48C-A418-43C4-8EA4-ABD484AE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82112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GOLD OBJECTS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2C8398A-9A9E-4ABE-9573-233633ED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3195828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View · materialized view · streaming table · managed table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E6005AA-2BDA-4844-B059-FCB889CE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C6B63F9-F4C3-4051-9520-F547718C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A02BF2F-376D-47F6-8660-D13AABEC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3671316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Query checks · constraints · quarantine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DB8EFDF-05E5-45F8-9DB9-5F809A94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33088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E0554F5-121C-49C3-9674-548060F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33088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TUNING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41ED0B0-739E-41F5-A1E2-AA22BAE7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4146804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Shuffle partitions · default parallelism · memory · broadcast threshold</a:t>
            </a:r>
          </a:p>
        </p:txBody>
      </p:sp>
    </p:spTree>
    <p:extLst>
      <p:ext uri="{BB962C8B-B14F-4D97-AF65-F5344CB8AC3E}">
        <p14:creationId xmlns:p14="http://schemas.microsoft.com/office/powerpoint/2010/main" val="1600328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A5B72F-47F7-4A60-B332-6B7C0B24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PHOTOGRAPH THIS SLIDE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9B977C-65F0-495A-9AE7-4B8D51E7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The course in seven lines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4E5EF3-7C17-4335-8780-DEB7E55B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58CDB4-733F-40C4-A5C6-85E5C6CF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5  ·  JUNE 2026  ·  9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911176A-64C9-4AE0-9012-30847391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8F91088-57D5-4776-8F92-CFA58D20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D263420-C199-4DA9-9893-739A26DD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1293876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One copy (Delta) + one governance tree (UC) + right-sized compute — serverless = hands-off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3DCEFAA-1926-45AC-B60F-9E4C5C65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55648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FD76440-572E-419C-85B6-723B24C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55648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B11BC84-EDC1-4932-BE7F-ED502689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1769364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Files@scale → Auto Loader · SQL batch → COPY INTO · SaaS → managed connector · custom → notebook+Jobs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1048DAB-91E2-4054-B685-DE5C29C6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31136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D232F8D-9C42-4AE6-8CF6-29AF5415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31136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0764BCD-FDAA-435B-807C-943FFA86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244852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Bronze absorbs, silver enforces, gold serves · MERGE = idempotent upsert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48793FC-CD4F-423E-BFBB-9A5CC1AE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06624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A842E6D-7149-4FFC-AF2F-713C26B4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06624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JOBS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72F4B2D-C286-4ECB-9D8B-0CD49F8A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720340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DAG of tasks · transient→retry, broken→fix+repair · time→schedule, data→file-arrival/table-update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A09B310-9113-4F2A-A7BD-85056E4F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82112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195B48C-A418-43C4-8EA4-ABD484AE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82112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CI/CD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2C8398A-9A9E-4ABE-9573-233633ED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3195828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Git folders for code, bundles for everything · validate→deploy→run · PR lives in the provider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E6005AA-2BDA-4844-B059-FCB889CE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C6B63F9-F4C3-4051-9520-F547718C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TROUBLESHOOTING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A02BF2F-376D-47F6-8660-D13AABEC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3671316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Before-work = infra/library, during = skew/spill/OOM · trends→run history, one run→Spark UI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DB8EFDF-05E5-45F8-9DB9-5F809A94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33088"/>
            <a:ext cx="14813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E0554F5-121C-49C3-9674-548060F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33088"/>
            <a:ext cx="14813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41ED0B0-739E-41F5-A1E2-AA22BAE7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4146804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50"/>
              </a:lnSpc>
              <a:buNone/>
            </a:pPr>
            <a:r>
              <a:rPr sz="1000">
                <a:solidFill>
                  <a:srgbClr val="2C3E50"/>
                </a:solidFill>
                <a:latin typeface="Arial"/>
                <a:ea typeface="Arial"/>
                <a:cs typeface="Arial"/>
              </a:rPr>
              <a:t>USE+USE+SELECT · table masks/filters · ABAC at scale · DENY is not Unity Catalog</a:t>
            </a:r>
          </a:p>
        </p:txBody>
      </p:sp>
    </p:spTree>
    <p:extLst>
      <p:ext uri="{BB962C8B-B14F-4D97-AF65-F5344CB8AC3E}">
        <p14:creationId xmlns:p14="http://schemas.microsoft.com/office/powerpoint/2010/main" val="1600328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F05E08-18B9-4CC9-B454-4833D335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ONE LAST PASS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EA4134-3E0E-4F02-ADD2-D2E05312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The course-wide top eight traps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DCB5EB7-9E1E-409D-A815-81661EA9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A3F8D13-0845-4EB7-92AB-97AA607E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5  ·  JUNE 2026  ·  10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A8090EE-F61C-40B5-9093-FEA0719F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86309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E5D4A26-577C-47FA-9213-A45E46C4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64008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BFA3BEA-E130-4F85-970A-853B6F37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5608"/>
            <a:ext cx="149733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5CE5EC5-EEAE-437F-AB10-3FEAA622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6504"/>
            <a:ext cx="151561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DROP semantics swapped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931CC23-EECB-4DE3-9520-C3F14C6A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3976"/>
            <a:ext cx="151561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Managed deletes data; external leaves files.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8350C1C-937D-4AF9-8715-479C4E3F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1325880"/>
            <a:ext cx="186309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DE718CC-EA04-4522-B812-E8F493B8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1325880"/>
            <a:ext cx="64008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F19D4FD-0BA8-4CD0-ABBC-52352CEF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1435608"/>
            <a:ext cx="149733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14110D0-41FB-4125-B129-FFCDF6E9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1746504"/>
            <a:ext cx="151561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CTAS with a type list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6E3B79B-9D76-42DA-81CF-4F04533F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2093976"/>
            <a:ext cx="151561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Invented syntax — CAST in the SELECT.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64BEEE9-68EC-40FB-AD8E-29855D62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25880"/>
            <a:ext cx="186309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2BA9F2A-7AF0-4D6D-8CD8-A02D4F5D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25880"/>
            <a:ext cx="64008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8206C2D-3635-4411-BE11-A1EDE22C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1435608"/>
            <a:ext cx="149733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58C5DFA-787B-4738-BC23-BDA68B2B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1746504"/>
            <a:ext cx="151561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“COPY INTO reruns duplicate”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98BCD34-4190-444E-8806-54DF6D8F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2093976"/>
            <a:ext cx="151561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False — file tracking. (df.union() dedupes is also false.)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1D46C6C-70AD-40FA-AAC5-17DBC5BB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1325880"/>
            <a:ext cx="186309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3D0ADF0-652D-4EE7-AA19-FE1CEC37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1325880"/>
            <a:ext cx="64008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93F0476-6276-4D6F-AD37-CAF34A7B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1435608"/>
            <a:ext cx="149733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23C794C-84D2-4918-BDD2-51964291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1746504"/>
            <a:ext cx="151561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“Repair reruns everything”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EC50CF1-910D-4D4C-9BD6-FBC775E3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093976"/>
            <a:ext cx="151561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Failed + downstream only.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F12DDED-AE4B-498E-944B-F8B6956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35808"/>
            <a:ext cx="186309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9936266A-A3BA-42F1-B0EA-5B1579EB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35808"/>
            <a:ext cx="64008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A3EE566-67B8-4A7A-BC7B-84BCBEAB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5536"/>
            <a:ext cx="149733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EF34E4-9AA2-45E2-9A43-F2324DCD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6432"/>
            <a:ext cx="151561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deploy = run / PR in workspace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C341DD9-9E72-421B-AB4A-4BB0CECB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3904"/>
            <a:ext cx="151561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Deploy places, run executes; PR lives in the provider.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B6651068-BE92-4906-A106-C7A7E237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035808"/>
            <a:ext cx="186309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B177EA38-7DA5-4540-8D55-42132978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035808"/>
            <a:ext cx="64008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70264CD1-5EB3-46EC-BCF6-C0510E6B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3145536"/>
            <a:ext cx="149733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86217B6C-C04E-4592-ACF9-72AA4C31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3456432"/>
            <a:ext cx="151561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DENY on Unity Catalog</a:t>
            </a:r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E1F57E5B-2E3C-493D-A402-B8237653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3803904"/>
            <a:ext cx="151561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Invalid — DENY is legacy hive_metastore. Owners still aren't mask-exempt.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C3FB9ED5-17E1-4581-B0E3-F754EAB9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35808"/>
            <a:ext cx="186309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007FC50-FA35-48B2-80CF-586CD68B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35808"/>
            <a:ext cx="64008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F33477C6-FEA3-4ECA-AD14-F7ACBD3F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3145536"/>
            <a:ext cx="149733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99126B1A-3562-4689-95E6-50A90492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3456432"/>
            <a:ext cx="151561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VACUUM for speed</a:t>
            </a:r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D13075BA-B818-4F95-B372-1E801D0B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3803904"/>
            <a:ext cx="151561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OPTIMIZE compacts for speed; VACUUM trims storage + time travel.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B0965EF3-82F5-411B-9FCA-1B893994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3035808"/>
            <a:ext cx="186309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745E528-92FB-4EAD-8E95-995512B8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3035808"/>
            <a:ext cx="64008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45F70E57-1CBB-4625-9C3D-A4064AD9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145536"/>
            <a:ext cx="149733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B79E1F80-D158-4141-B736-8C25CA95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456432"/>
            <a:ext cx="151561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Most powerful ≠ best</a:t>
            </a:r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1ECCFBE9-6126-46C7-BFCF-AC23AC3B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803904"/>
            <a:ext cx="151561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Pick the simplest tool satisfying every stated constraint.</a:t>
            </a:r>
          </a:p>
        </p:txBody>
      </p:sp>
    </p:spTree>
    <p:extLst>
      <p:ext uri="{BB962C8B-B14F-4D97-AF65-F5344CB8AC3E}">
        <p14:creationId xmlns:p14="http://schemas.microsoft.com/office/powerpoint/2010/main" val="669226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0C5F5A-59C2-458E-99A2-D24BD8AD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NO SURPRISES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3D800C-C24C-47CF-8F30-0F0D6664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Book it, plan the week, take it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7F456D-ADD9-47C9-B210-DE19F6AB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86915A6-64F0-4A8E-A766-DA9CA201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5  ·  JUNE 2026  ·  11</a:t>
            </a:r>
          </a:p>
        </p:txBody>
      </p:sp>
      <p:graphicFrame>
        <p:nvGraphicFramePr>
          <p:cNvPr id="23" name="Table 0"/>
          <p:cNvGraphicFramePr/>
          <p:nvPr/>
        </p:nvGraphicFramePr>
        <p:xfrm>
          <a:off xmlns:a="http://schemas.openxmlformats.org/drawingml/2006/main" x="502920" y="1325880"/>
          <a:ext xmlns:a="http://schemas.openxmlformats.org/drawingml/2006/main" cx="49377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1520"/>
                <a:gridCol w="420624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1–2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Weakest domain: docs + redo that week's lab from scratch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3–4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Second-weakest: same + retake its quiz cold (90%+)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Missed mock questions only + rules wall + exam-guide outline read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Rest, or the seven one-liners only · prep the room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Exam: 2 min/question · flag and move · answer everything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6AAA9A9E-E59B-4D8E-81B6-184E5342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298448"/>
            <a:ext cx="30175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1"/>
          </a:solidFill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ACCECCD-B836-401C-9673-FB296ED1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426464"/>
            <a:ext cx="2615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LOGISTICS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C98C8AF-45B0-49DC-ADD2-C400E6FA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CB508DE-9BEF-44D4-BE26-67F010CE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682496"/>
            <a:ext cx="2386584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>
                <a:solidFill>
                  <a:srgbClr val="2C3E50"/>
                </a:solidFill>
                <a:latin typeface="Arial"/>
                <a:ea typeface="Arial"/>
                <a:cs typeface="Arial"/>
              </a:rPr>
              <a:t>Register: webassessor.com/databricks ($200)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82AF677-8763-4084-B4FC-34CA71F8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4414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78E51E-50E4-41AC-BB18-2C075EE9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340864"/>
            <a:ext cx="2386584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>
                <a:solidFill>
                  <a:srgbClr val="2C3E50"/>
                </a:solidFill>
                <a:latin typeface="Arial"/>
                <a:ea typeface="Arial"/>
                <a:cs typeface="Arial"/>
              </a:rPr>
              <a:t>Kryterion system check on the ACTUAL exam machine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E2FA0D6-F225-4EB3-B02E-C16B9039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099816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020D43D-F9FB-46A4-8CFE-77796641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999232"/>
            <a:ext cx="2386584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>
                <a:solidFill>
                  <a:srgbClr val="2C3E50"/>
                </a:solidFill>
                <a:latin typeface="Arial"/>
                <a:ea typeface="Arial"/>
                <a:cs typeface="Arial"/>
              </a:rPr>
              <a:t>Government ID + clean desk + stable network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BA2B30D3-0A80-45CE-8CF6-0609F95C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758184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4DBCE5A-676A-4086-99BE-961C72D5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657600"/>
            <a:ext cx="2386584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>
                <a:solidFill>
                  <a:srgbClr val="2C3E50"/>
                </a:solidFill>
                <a:latin typeface="Arial"/>
                <a:ea typeface="Arial"/>
                <a:cs typeface="Arial"/>
              </a:rPr>
              <a:t>Results typically prompt; recert every 2 years</a:t>
            </a:r>
          </a:p>
        </p:txBody>
      </p:sp>
    </p:spTree>
    <p:extLst>
      <p:ext uri="{BB962C8B-B14F-4D97-AF65-F5344CB8AC3E}">
        <p14:creationId xmlns:p14="http://schemas.microsoft.com/office/powerpoint/2010/main" val="9928270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C3E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4EC32B-633D-45C0-BF00-9352A9B1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2377440" cy="2377440"/>
          </a:xfrm>
          <a:prstGeom xmlns:a="http://schemas.openxmlformats.org/drawingml/2006/main" prst="ellipse">
            <a:avLst/>
          </a:prstGeom>
          <a:ln xmlns:a="http://schemas.openxmlformats.org/drawingml/2006/main" w="12700">
            <a:solidFill>
              <a:srgbClr val="46637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799914E-809F-4284-9F9F-2B5E0EE8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8960"/>
            <a:ext cx="1554480" cy="1554480"/>
          </a:xfrm>
          <a:prstGeom xmlns:a="http://schemas.openxmlformats.org/drawingml/2006/main" prst="ellipse">
            <a:avLst/>
          </a:prstGeom>
          <a:ln xmlns:a="http://schemas.openxmlformats.org/drawingml/2006/main" w="12700">
            <a:solidFill>
              <a:srgbClr val="46637F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B219E6-E183-4653-A671-B922C316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COURSE COMPLETE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44D30E-B88D-435C-9C3D-10AB2E94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0120"/>
            <a:ext cx="7772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built the whole thing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E81DE43-51C0-46FA-9250-5592764B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9384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71B6E8-7070-462A-8C1C-A2CEEF19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828800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>
                <a:solidFill>
                  <a:srgbClr val="DCE4EA"/>
                </a:solidFill>
                <a:latin typeface="Arial"/>
                <a:ea typeface="Arial"/>
                <a:cs typeface="Arial"/>
              </a:rPr>
              <a:t>A governed lakehouse — from a free workspace to grants, masks, and lineage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83EF754-1A39-4BE7-9415-81E9A0F9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96312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1B66D5D-3BB0-408A-B1DF-D65CD712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395728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>
                <a:solidFill>
                  <a:srgbClr val="DCE4EA"/>
                </a:solidFill>
                <a:latin typeface="Arial"/>
                <a:ea typeface="Arial"/>
                <a:cs typeface="Arial"/>
              </a:rPr>
              <a:t>A production pipeline — scheduled, repaired, promoted as code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27F1FC2-53B9-4F6A-8923-96E0D016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6324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158310-D89F-4C49-B49B-4F6E2A0F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62656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>
                <a:solidFill>
                  <a:srgbClr val="DCE4EA"/>
                </a:solidFill>
                <a:latin typeface="Arial"/>
                <a:ea typeface="Arial"/>
                <a:cs typeface="Arial"/>
              </a:rPr>
              <a:t>45 mock questions autopsied into rules you own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CF3C0E2-EEA5-4234-9D23-1522571C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3016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3A4E510-6A4F-4A8F-9138-B3EC18D2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29584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>
                <a:solidFill>
                  <a:srgbClr val="DCE4EA"/>
                </a:solidFill>
                <a:latin typeface="Arial"/>
                <a:ea typeface="Arial"/>
                <a:cs typeface="Arial"/>
              </a:rPr>
              <a:t>Share your result in the course channel (within NDA) — the next cohort needs you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10AFB9B-FBA6-4C32-AF58-99F8FBB5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28800"/>
            <a:ext cx="26060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7A61712-0B07-4D78-AD3B-76D302C8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ED87157-08F4-4D9C-9E1B-E24263F5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77440"/>
            <a:ext cx="2194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exam.</a:t>
            </a:r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Then: Data</a:t>
            </a:r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</a:t>
            </a:r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Professional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40EA9F8-F294-4A50-A5AA-C791CE19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3BC6735-F73F-4AB7-8F02-6E0B2B55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5  ·  JUNE 2026  ·  12</a:t>
            </a:r>
          </a:p>
        </p:txBody>
      </p:sp>
    </p:spTree>
    <p:extLst>
      <p:ext uri="{BB962C8B-B14F-4D97-AF65-F5344CB8AC3E}">
        <p14:creationId xmlns:p14="http://schemas.microsoft.com/office/powerpoint/2010/main" val="6376070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2026-07-10T05:51:39.1900000Z</dcterms:created>
  <dcterms:modified xsi:type="dcterms:W3CDTF">2026-07-10T05:51:39.1900000Z</dcterms:modified>
</coreProperties>
</file>