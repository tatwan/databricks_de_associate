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424b62d64a4361" /><Relationship Type="http://schemas.openxmlformats.org/officeDocument/2006/relationships/extended-properties" Target="/docProps/app.xml" Id="R5a41917f6bf441ff" /><Relationship Type="http://schemas.openxmlformats.org/officeDocument/2006/relationships/officeDocument" Target="/ppt/presentation.xml" Id="R58421c10c4434e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93bcf6c6334fe8"/>
  </p:sldMasterIdLst>
  <p:notesMasterIdLst>
    <p:notesMasterId xmlns:r="http://schemas.openxmlformats.org/officeDocument/2006/relationships" r:id="R741653e3d64443d3"/>
  </p:notesMasterIdLst>
  <p:sldIdLst>
    <p:sldId xmlns:r="http://schemas.openxmlformats.org/officeDocument/2006/relationships" id="256" r:id="R8bba211e60f7493f"/>
    <p:sldId xmlns:r="http://schemas.openxmlformats.org/officeDocument/2006/relationships" id="257" r:id="R0e352b932d8545ef"/>
    <p:sldId xmlns:r="http://schemas.openxmlformats.org/officeDocument/2006/relationships" id="258" r:id="R152aa5b35b264741"/>
    <p:sldId xmlns:r="http://schemas.openxmlformats.org/officeDocument/2006/relationships" id="259" r:id="R1ecc563d39e74cd6"/>
    <p:sldId xmlns:r="http://schemas.openxmlformats.org/officeDocument/2006/relationships" id="260" r:id="R2965347b8a7849f8"/>
    <p:sldId xmlns:r="http://schemas.openxmlformats.org/officeDocument/2006/relationships" id="261" r:id="R50f779737bda4a61"/>
    <p:sldId xmlns:r="http://schemas.openxmlformats.org/officeDocument/2006/relationships" id="262" r:id="R91794d94759d42bc"/>
    <p:sldId xmlns:r="http://schemas.openxmlformats.org/officeDocument/2006/relationships" id="263" r:id="R2e679a756d59465b"/>
    <p:sldId xmlns:r="http://schemas.openxmlformats.org/officeDocument/2006/relationships" id="264" r:id="R30db3bff8d6f499d"/>
    <p:sldId xmlns:r="http://schemas.openxmlformats.org/officeDocument/2006/relationships" id="265" r:id="R317fbf46b91542a7"/>
    <p:sldId xmlns:r="http://schemas.openxmlformats.org/officeDocument/2006/relationships" id="266" r:id="R01e97d2dbd8c4271"/>
    <p:sldId xmlns:r="http://schemas.openxmlformats.org/officeDocument/2006/relationships" id="267" r:id="R9988347950634642"/>
    <p:sldId xmlns:r="http://schemas.openxmlformats.org/officeDocument/2006/relationships" id="268" r:id="R3d6f95ec81644bfe"/>
    <p:sldId xmlns:r="http://schemas.openxmlformats.org/officeDocument/2006/relationships" id="269" r:id="R90169f970f9a434a"/>
    <p:sldId xmlns:r="http://schemas.openxmlformats.org/officeDocument/2006/relationships" id="270" r:id="Rf97a4ede8b3544cf"/>
    <p:sldId xmlns:r="http://schemas.openxmlformats.org/officeDocument/2006/relationships" id="271" r:id="Re59a93b6324141c2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a475d02d7d4eb6" /><Relationship Type="http://schemas.openxmlformats.org/officeDocument/2006/relationships/slideMaster" Target="/ppt/slideMasters/slideMaster1.xml" Id="Rf893bcf6c6334fe8" /><Relationship Type="http://schemas.openxmlformats.org/officeDocument/2006/relationships/notesMaster" Target="/ppt/notesMasters/notesMaster1.xml" Id="R741653e3d64443d3" /><Relationship Type="http://schemas.openxmlformats.org/officeDocument/2006/relationships/presProps" Target="/ppt/presProps.xml" Id="R76f7c370a9a64492" /><Relationship Type="http://schemas.openxmlformats.org/officeDocument/2006/relationships/viewProps" Target="/ppt/viewProps.xml" Id="Rb755ac041a7044d6" /><Relationship Type="http://schemas.openxmlformats.org/officeDocument/2006/relationships/tableStyles" Target="/ppt/tableStyles.xml" Id="Rb9cc23f697c44840" /><Relationship Type="http://schemas.openxmlformats.org/officeDocument/2006/relationships/slide" Target="/ppt/slides/slide1.xml" Id="R8bba211e60f7493f" /><Relationship Type="http://schemas.openxmlformats.org/officeDocument/2006/relationships/slide" Target="/ppt/slides/slide2.xml" Id="R0e352b932d8545ef" /><Relationship Type="http://schemas.openxmlformats.org/officeDocument/2006/relationships/slide" Target="/ppt/slides/slide3.xml" Id="R152aa5b35b264741" /><Relationship Type="http://schemas.openxmlformats.org/officeDocument/2006/relationships/slide" Target="/ppt/slides/slide4.xml" Id="R1ecc563d39e74cd6" /><Relationship Type="http://schemas.openxmlformats.org/officeDocument/2006/relationships/slide" Target="/ppt/slides/slide5.xml" Id="R2965347b8a7849f8" /><Relationship Type="http://schemas.openxmlformats.org/officeDocument/2006/relationships/slide" Target="/ppt/slides/slide6.xml" Id="R50f779737bda4a61" /><Relationship Type="http://schemas.openxmlformats.org/officeDocument/2006/relationships/slide" Target="/ppt/slides/slide7.xml" Id="R91794d94759d42bc" /><Relationship Type="http://schemas.openxmlformats.org/officeDocument/2006/relationships/slide" Target="/ppt/slides/slide8.xml" Id="R2e679a756d59465b" /><Relationship Type="http://schemas.openxmlformats.org/officeDocument/2006/relationships/slide" Target="/ppt/slides/slide9.xml" Id="R30db3bff8d6f499d" /><Relationship Type="http://schemas.openxmlformats.org/officeDocument/2006/relationships/slide" Target="/ppt/slides/slide10.xml" Id="R317fbf46b91542a7" /><Relationship Type="http://schemas.openxmlformats.org/officeDocument/2006/relationships/slide" Target="/ppt/slides/slide11.xml" Id="R01e97d2dbd8c4271" /><Relationship Type="http://schemas.openxmlformats.org/officeDocument/2006/relationships/slide" Target="/ppt/slides/slide12.xml" Id="R9988347950634642" /><Relationship Type="http://schemas.openxmlformats.org/officeDocument/2006/relationships/slide" Target="/ppt/slides/slide13.xml" Id="R3d6f95ec81644bfe" /><Relationship Type="http://schemas.openxmlformats.org/officeDocument/2006/relationships/slide" Target="/ppt/slides/slide14.xml" Id="R90169f970f9a434a" /><Relationship Type="http://schemas.openxmlformats.org/officeDocument/2006/relationships/slide" Target="/ppt/slides/slide15.xml" Id="Rf97a4ede8b3544cf" /><Relationship Type="http://schemas.openxmlformats.org/officeDocument/2006/relationships/slide" Target="/ppt/slides/slide16.xml" Id="Re59a93b6324141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1c1038ae4a46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accb431d784331" /><Relationship Type="http://schemas.openxmlformats.org/officeDocument/2006/relationships/notesMaster" Target="/ppt/notesMasters/notesMaster1.xml" Id="R0913811fd2f143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1c9643856649d3" /><Relationship Type="http://schemas.openxmlformats.org/officeDocument/2006/relationships/notesMaster" Target="/ppt/notesMasters/notesMaster1.xml" Id="R532ae85dfcf042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15a86931724516" /><Relationship Type="http://schemas.openxmlformats.org/officeDocument/2006/relationships/notesMaster" Target="/ppt/notesMasters/notesMaster1.xml" Id="R400e953f950f4b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ad0384e3934381" /><Relationship Type="http://schemas.openxmlformats.org/officeDocument/2006/relationships/notesMaster" Target="/ppt/notesMasters/notesMaster1.xml" Id="Rc62c910f0d8445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9a99cb894e43d2" /><Relationship Type="http://schemas.openxmlformats.org/officeDocument/2006/relationships/notesMaster" Target="/ppt/notesMasters/notesMaster1.xml" Id="R2bcc42d963f741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a22ae280f54e75" /><Relationship Type="http://schemas.openxmlformats.org/officeDocument/2006/relationships/notesMaster" Target="/ppt/notesMasters/notesMaster1.xml" Id="R7a22ef10278d42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10e28a4bca4e27" /><Relationship Type="http://schemas.openxmlformats.org/officeDocument/2006/relationships/notesMaster" Target="/ppt/notesMasters/notesMaster1.xml" Id="R0ee03ccf997549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cefe4a3e614cb3" /><Relationship Type="http://schemas.openxmlformats.org/officeDocument/2006/relationships/notesMaster" Target="/ppt/notesMasters/notesMaster1.xml" Id="R83444dc8123943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388e582dc54fcd" /><Relationship Type="http://schemas.openxmlformats.org/officeDocument/2006/relationships/notesMaster" Target="/ppt/notesMasters/notesMaster1.xml" Id="R858ff2d80f5d46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0a7543b2954f47" /><Relationship Type="http://schemas.openxmlformats.org/officeDocument/2006/relationships/notesMaster" Target="/ppt/notesMasters/notesMaster1.xml" Id="Rd1bdbabb793348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a59e8fdcb24e9c" /><Relationship Type="http://schemas.openxmlformats.org/officeDocument/2006/relationships/notesMaster" Target="/ppt/notesMasters/notesMaster1.xml" Id="R2119afdc0595454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2199c0482b4a32" /><Relationship Type="http://schemas.openxmlformats.org/officeDocument/2006/relationships/notesMaster" Target="/ppt/notesMasters/notesMaster1.xml" Id="R08028c99e3064cf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1bea88bd55347cc" /><Relationship Type="http://schemas.openxmlformats.org/officeDocument/2006/relationships/notesMaster" Target="/ppt/notesMasters/notesMaster1.xml" Id="Rf49edf68e96a4a4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f6408232b8c4459" /><Relationship Type="http://schemas.openxmlformats.org/officeDocument/2006/relationships/notesMaster" Target="/ppt/notesMasters/notesMaster1.xml" Id="R049960243dc7414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a8366d4aa03496d" /><Relationship Type="http://schemas.openxmlformats.org/officeDocument/2006/relationships/notesMaster" Target="/ppt/notesMasters/notesMaster1.xml" Id="R7ac93e9756bf4bb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6872d8dc8c74812" /><Relationship Type="http://schemas.openxmlformats.org/officeDocument/2006/relationships/notesMaster" Target="/ppt/notesMasters/notesMaster1.xml" Id="R11a0d13e849c4d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Week 4 STARTER quiz first (Markdown Mash, 5 Qs on Week 3: repair semantics, triggers, CLI verbs, PR location, widgets). Then reframe: everything so far assumed you could see all the data — real orgs don't work that way, and neither does the exam. These are the two most UNDER-studied domains. Tonight: the 45-question mock goes home with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 the Week 1 tree with locks. Inheritance is load-bearing: SELECT granted on a SCHEMA covers all current AND FUTURE tables in it — the official sample-question pattern. Service principals = machine identities; prod jobs run as them, not as Dave.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May 4, 2026 guide names DENY, but current Databricks SQL docs say DENY is unsupported by Unity Catalog and applies only to legacy hive_metastore. Teach the platform truth explicitly. For UC, the read chain is USE CATALOG + USE SCHEMA + SELECT; REVOKE removes one grant and another group grant may still allow access.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Quiz the room cold on DROP semantics — should be instant by Week 4. New material: UNDROP (managed drops recoverable within a retention window) and conversion existence. Depth on conversion syntax is low-yield; know it's possible and what changes.</a:t>
            </a:r>
          </a:p>
          <a:p xmlns:a="http://schemas.openxmlformats.org/drawingml/2006/main"/>
          <a:p xmlns:a="http://schemas.openxmlformats.org/drawingml/2006/main">
            <a:r>
              <a:t>NEW: the notebook now has a hands-on UNDROP drill (demo 2.8) — drop and recover a scratch managed table live, plus VACUUM and TIMESTAMP AS OF. Don't just assert these; run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pattern is two steps, always: CREATE FUNCTION (decides), ALTER TABLE (binds). Big demo moment: OWNERS ARE NOT EXEMPT — you'll see your own emails masked. Beats 15 filtered views: one table, no bypass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conceptual — exam objective is 'understand'. The discriminator is SCALE: one sensitive table → mask/filter directly; hundreds of tables + central security team + consistent policy → ABAC. Same machinery (filters/masks), central tag-driven trigger.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Lineage: UC builds table- AND column-level lineage from actual query execution — no scanner, no registration (the anti-Purview moment). Audit: system tables, queryable with SQL — system.access.audit. Free Edition may restrict system tables; the answer shape still scores.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Background only: Delta Sharing and Lakehouse Federation are not named in the May 4, 2026 outline. If behind, skip this slide. If used, keep it to 60 seconds: Sharing exposes live governed data outward; Federation queries external systems without ingestion.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Physical truth: tables are files; speed is layout. OPTIMIZE compacts small files (the streaming-append disease). VACUUM reclaims storage and TRIMS TIME TRAVEL — swapped purposes are a standard distractor. Liquid Clustering replaces partitioning AND Z-order: keys changeable without rewrite.</a:t>
            </a:r>
          </a:p>
          <a:p xmlns:a="http://schemas.openxmlformats.org/drawingml/2006/main"/>
          <a:p xmlns:a="http://schemas.openxmlformats.org/drawingml/2006/main">
            <a:r>
              <a:t>NEW: notebook demo 2.8 runs VACUUM live (it deletes ~nothing — everything is inside retention; the command shape is the target) and does the DROP→UNDROP + TIMESTAMP AS OF drill.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Predictive optimization maintains eligible Unity Catalog managed tables by running operations such as OPTIMIZE, VACUUM, and ANALYZE. Automatic clustering-key choice is specifically CLUSTER BY AUTO; do not blur every maintenance decision into key selection.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symptom → metric → first remedy. The exam DESCRIBES a Spark UI and wants the word. Connect to Week 2: broadcast joins were shuffle-avoidance. Serverless learners will use the query profile — same concepts, friendlier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four parameters are listed BY NAME in the outline — memorization targets, direction matters not magic numbers. The failure triage master key: did it fail BEFORE any work (infra/library) or DURING (data/memory)? collect()/toPandas() kills the DRIVER — executors look healthy; that's the planted clue.</a:t>
            </a:r>
          </a:p>
          <a:p xmlns:a="http://schemas.openxmlformats.org/drawingml/2006/main"/>
          <a:p xmlns:a="http://schemas.openxmlformats.org/drawingml/2006/main">
            <a:r>
              <a:t>PLATFORM CALLBACK (Domain 1, 2 min — notebook 2.10): control plane = Databricks-managed (UI, scheduler, UC metastore); compute plane = where code runs — classic in the CUSTOMER'S cloud account, serverless in Databricks-managed. Infra failures on this slide happen in the compute plane; your grants/lineage live in the control plane. Cheap exam points.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Domain 1 callback. SQL-only work points to a SQL warehouse. Scheduled production work points to job compute or serverless. Interactive development points to all-purpose or serverless. Avoid absolute cost claims: workload shape and pricing determine cost.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 briefing: run the reset cell first. Instructor demonstrates Part 2; learners complete TODO tasks 1–7. Require GRANT/SHOW/REVOKE evidence, bound mask and row filter, clustered gold, lineage before cleanup, and full visibility after cleanup.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Exam pacing: 45 scored questions in 90 minutes is two minutes each on average. Use fast pass, flagged pass, final sweep. The 70% course threshold used next week is diagnostic only; Databricks does not publish it as the exam pass mark.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Assign the mock as 45 questions, 90 minutes, closed-book, one sitting. Learners must bring seven domain scores, not only a total. Week 5 review follows the actual weak domains.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b499955e0f458d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0aa7695a404041" /><Relationship Type="http://schemas.openxmlformats.org/officeDocument/2006/relationships/slideLayout" Target="/ppt/slideLayouts/slideLayout1.xml" Id="R6e23d4ad77424dd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23d4ad77424dd0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e59826e624958" /><Relationship Type="http://schemas.openxmlformats.org/officeDocument/2006/relationships/notesSlide" Target="/ppt/notesSlides/notesSlide1.xml" Id="R4ae7e266ebec44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5e86204084ecb" /><Relationship Type="http://schemas.openxmlformats.org/officeDocument/2006/relationships/notesSlide" Target="/ppt/notesSlides/notesSlide2.xml" Id="R0597e370c56149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e6d0e60d24bb8" /><Relationship Type="http://schemas.openxmlformats.org/officeDocument/2006/relationships/notesSlide" Target="/ppt/notesSlides/notesSlide3.xml" Id="R15d72cab33c648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c20ea0d8a4c96" /><Relationship Type="http://schemas.openxmlformats.org/officeDocument/2006/relationships/notesSlide" Target="/ppt/notesSlides/notesSlide4.xml" Id="R7050c62b341b47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349bd416f456b" /><Relationship Type="http://schemas.openxmlformats.org/officeDocument/2006/relationships/notesSlide" Target="/ppt/notesSlides/notesSlide5.xml" Id="Rec6859cbf7a34b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834e9483143ed" /><Relationship Type="http://schemas.openxmlformats.org/officeDocument/2006/relationships/notesSlide" Target="/ppt/notesSlides/notesSlide6.xml" Id="R0633e1bfe4aa46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14cb809bd49eb" /><Relationship Type="http://schemas.openxmlformats.org/officeDocument/2006/relationships/notesSlide" Target="/ppt/notesSlides/notesSlide7.xml" Id="Rd16111d94da449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de578725d42ad" /><Relationship Type="http://schemas.openxmlformats.org/officeDocument/2006/relationships/notesSlide" Target="/ppt/notesSlides/notesSlide8.xml" Id="Rd9eeb7444ea541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58ca01d7646d1" /><Relationship Type="http://schemas.openxmlformats.org/officeDocument/2006/relationships/notesSlide" Target="/ppt/notesSlides/notesSlide9.xml" Id="R5ccfcf50afcc45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79d9ed17349ee" /><Relationship Type="http://schemas.openxmlformats.org/officeDocument/2006/relationships/notesSlide" Target="/ppt/notesSlides/notesSlide10.xml" Id="R3c1079c73c0047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83c8ec00d848d6" /><Relationship Type="http://schemas.openxmlformats.org/officeDocument/2006/relationships/notesSlide" Target="/ppt/notesSlides/notesSlide11.xml" Id="R3d479f2228f34b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675d1fdb447bf" /><Relationship Type="http://schemas.openxmlformats.org/officeDocument/2006/relationships/notesSlide" Target="/ppt/notesSlides/notesSlide12.xml" Id="Ra9b978033e1d4c5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7740e06d64d6c" /><Relationship Type="http://schemas.openxmlformats.org/officeDocument/2006/relationships/notesSlide" Target="/ppt/notesSlides/notesSlide13.xml" Id="R48714059270940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6e19023e9450b" /><Relationship Type="http://schemas.openxmlformats.org/officeDocument/2006/relationships/notesSlide" Target="/ppt/notesSlides/notesSlide14.xml" Id="Ree2435dd9fc541c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02852c1c64160" /><Relationship Type="http://schemas.openxmlformats.org/officeDocument/2006/relationships/notesSlide" Target="/ppt/notesSlides/notesSlide15.xml" Id="R73b0a6680512480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12b9021dc4eb5" /><Relationship Type="http://schemas.openxmlformats.org/officeDocument/2006/relationships/notesSlide" Target="/ppt/notesSlides/notesSlide16.xml" Id="Raf9f6fa06aac4f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C3E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E7A4F18-F34F-4E09-9327-47A3EADE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104" y="91440"/>
            <a:ext cx="2377440" cy="2377440"/>
          </a:xfrm>
          <a:prstGeom xmlns:a="http://schemas.openxmlformats.org/drawingml/2006/main" prst="ellipse">
            <a:avLst/>
          </a:prstGeom>
          <a:ln xmlns:a="http://schemas.openxmlformats.org/drawingml/2006/main" w="12700">
            <a:solidFill>
              <a:srgbClr val="46637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4003EC1-DAB4-48C1-B494-8DC85B60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496" y="3657600"/>
            <a:ext cx="1554480" cy="1554480"/>
          </a:xfrm>
          <a:prstGeom xmlns:a="http://schemas.openxmlformats.org/drawingml/2006/main" prst="ellipse">
            <a:avLst/>
          </a:prstGeom>
          <a:ln xmlns:a="http://schemas.openxmlformats.org/drawingml/2006/main" w="12700">
            <a:solidFill>
              <a:srgbClr val="46637F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829D138-5D60-403C-993C-B6D7C8F7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" y="411480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9F4439F-8A46-4C19-9FC9-0A9C3633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43584"/>
            <a:ext cx="12801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A73B3BE-5D4D-4B32-BE0A-CEA4C186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CREO TECHNOLOGIES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A7A45F7-CC4F-424A-8893-CEE93E02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AAB7C4"/>
                </a:solidFill>
                <a:latin typeface="Arial"/>
                <a:ea typeface="Arial"/>
                <a:cs typeface="Arial"/>
              </a:rPr>
              <a:t>INSTRUCTOR-LED CERTIFICATION SERIES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FD2E583-1579-4185-B4B8-92A2CC4C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17320"/>
            <a:ext cx="512064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3600"/>
              </a:lnSpc>
              <a:buNone/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Databricks Certified</a:t>
            </a:r>
          </a:p>
          <a:p xmlns:a="http://schemas.openxmlformats.org/drawingml/2006/main">
            <a:pPr marL="0" indent="0">
              <a:lnSpc>
                <a:spcPts val="3600"/>
              </a:lnSpc>
              <a:buNone/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Engineer Associate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9D38374-CEBA-47FB-A906-91B9B278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17520"/>
            <a:ext cx="49377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250">
                <a:solidFill>
                  <a:srgbClr val="C9D4DE"/>
                </a:solidFill>
                <a:latin typeface="Arial"/>
                <a:ea typeface="Arial"/>
                <a:cs typeface="Arial"/>
              </a:rPr>
              <a:t>▸  Governance &amp; Security (~15%) — full coverage</a:t>
            </a:r>
          </a:p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250">
                <a:solidFill>
                  <a:srgbClr val="C9D4DE"/>
                </a:solidFill>
                <a:latin typeface="Arial"/>
                <a:ea typeface="Arial"/>
                <a:cs typeface="Arial"/>
              </a:rPr>
              <a:t>▸  Troubleshooting &amp; Optimization (~10%) — the</a:t>
            </a:r>
          </a:p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250">
                <a:solidFill>
                  <a:srgbClr val="C9D4DE"/>
                </a:solidFill>
                <a:latin typeface="Arial"/>
                <a:ea typeface="Arial"/>
                <a:cs typeface="Arial"/>
              </a:rPr>
              <a:t>    performance half</a:t>
            </a:r>
          </a:p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250">
                <a:solidFill>
                  <a:srgbClr val="C9D4DE"/>
                </a:solidFill>
                <a:latin typeface="Arial"/>
                <a:ea typeface="Arial"/>
                <a:cs typeface="Arial"/>
              </a:rPr>
              <a:t>▸  Exam strategy + tonight: the 45-question mock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063BFE0-D1A9-49EA-BE2D-17A34EB9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0"/>
            <a:ext cx="324612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C711067-BFEC-48C0-8E7A-1300FD2A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777240"/>
            <a:ext cx="2560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WEEK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4B34BA9-0737-40BB-8A55-E7970C3C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960120"/>
            <a:ext cx="26517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4BF867C-FD3E-4504-8B81-B4CB0B0F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017520"/>
            <a:ext cx="26060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Governance &amp; Optimization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21945D3-CD5B-4DF4-97D5-004D5DF4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251960"/>
            <a:ext cx="2606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FFD9DA"/>
                </a:solidFill>
                <a:latin typeface="Arial"/>
                <a:ea typeface="Arial"/>
                <a:cs typeface="Arial"/>
              </a:rPr>
              <a:t>GRANT/REVOKE · Masks &amp; Filters · Spark UI · Liquid Clustering</a:t>
            </a:r>
          </a:p>
        </p:txBody>
      </p:sp>
    </p:spTree>
    <p:extLst>
      <p:ext uri="{BB962C8B-B14F-4D97-AF65-F5344CB8AC3E}">
        <p14:creationId xmlns:p14="http://schemas.microsoft.com/office/powerpoint/2010/main" val="17413292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3020BF7-4A69-48B6-AE52-5AEDB064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8138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EXAM DOMAIN 7 · THE FOUNDATION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8079CBD-BAD8-4F73-9DA3-809FE9B8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Securables inherit; grant to groups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77F9794-AFAD-4EFE-AB76-42292376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CREO TECHNOLOGIES  ·  DATABRICKS DATA ENGINEER ASSOCIATE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16433A6-F2CA-4B16-8990-6DEDCE75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84632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WEEK 4  ·  JUNE 2026  ·  2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F0D3774-E28B-4412-B38B-59B0A694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35608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1669556-AA8F-4BD0-B66E-F9C34DE5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1335024"/>
            <a:ext cx="3849624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16"/>
              </a:lnSpc>
              <a:buNone/>
            </a:pPr>
            <a:r>
              <a:rPr sz="13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Privileges inherit DOWN  </a:t>
            </a:r>
            <a:r>
              <a:rPr sz="1300">
                <a:solidFill>
                  <a:srgbClr val="55606B"/>
                </a:solidFill>
                <a:latin typeface="Arial"/>
                <a:ea typeface="Arial"/>
                <a:cs typeface="Arial"/>
              </a:rPr>
              <a:t>catalog grant → flows to schemas and tables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D0FA236F-044B-43BE-AB6A-6FCD2A20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85416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A5AA938-244D-4E42-97EB-77AB27E6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084832"/>
            <a:ext cx="3849624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16"/>
              </a:lnSpc>
              <a:buNone/>
            </a:pPr>
            <a:r>
              <a:rPr sz="13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Grant to groups  </a:t>
            </a:r>
            <a:r>
              <a:rPr sz="1300">
                <a:solidFill>
                  <a:srgbClr val="55606B"/>
                </a:solidFill>
                <a:latin typeface="Arial"/>
                <a:ea typeface="Arial"/>
                <a:cs typeface="Arial"/>
              </a:rPr>
              <a:t>individual grants don't scale; exams favor groups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D9C826E-479A-4FB5-A5BD-E658647B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35224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10575CA-CCDB-47C8-AB96-5C5891F2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834640"/>
            <a:ext cx="3849624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16"/>
              </a:lnSpc>
              <a:buNone/>
            </a:pPr>
            <a:r>
              <a:rPr sz="13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Service principals  </a:t>
            </a:r>
            <a:r>
              <a:rPr sz="1300">
                <a:solidFill>
                  <a:srgbClr val="55606B"/>
                </a:solidFill>
                <a:latin typeface="Arial"/>
                <a:ea typeface="Arial"/>
                <a:cs typeface="Arial"/>
              </a:rPr>
              <a:t>machine identities for jobs and CI/CD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75BB53C-B5CE-4823-8DD0-41D32619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85032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51BA1F9-E5AB-4015-89A9-BC787B67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3584448"/>
            <a:ext cx="3849624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16"/>
              </a:lnSpc>
              <a:buNone/>
            </a:pPr>
            <a:r>
              <a:rPr sz="13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Ownership  </a:t>
            </a:r>
            <a:r>
              <a:rPr sz="1300">
                <a:solidFill>
                  <a:srgbClr val="55606B"/>
                </a:solidFill>
                <a:latin typeface="Arial"/>
                <a:ea typeface="Arial"/>
                <a:cs typeface="Arial"/>
              </a:rPr>
              <a:t>owners (or higher admins) can grant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2964FC8-2102-4356-9D9A-6C3EAE53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298448"/>
            <a:ext cx="3749040" cy="3246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0F1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968BDC8-7464-4595-AFCD-5CF5D74B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8" y="1426464"/>
            <a:ext cx="334670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7F8C8D"/>
                </a:solidFill>
                <a:latin typeface="Arial"/>
                <a:ea typeface="Arial"/>
                <a:cs typeface="Arial"/>
              </a:rPr>
              <a:t>WHO GETS ACCESS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26C559CC-702E-4F57-A6F3-AEE4599C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691640"/>
            <a:ext cx="329184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2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9AA5AD">
                <a:alpha val="30000"/>
              </a:srgbClr>
            </a:outerShdw>
          </a:effectLst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37C5CD9-161A-4E22-A35D-6DB3D381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691640"/>
            <a:ext cx="64008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E50"/>
          </a:solidFill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5DEBFC9-50C3-46EF-BD34-E1E77936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837944"/>
            <a:ext cx="294436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5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3253263-CA8F-4B3B-90FD-CDE7D673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203704"/>
            <a:ext cx="29443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5606B"/>
                </a:solidFill>
                <a:latin typeface="Arial"/>
                <a:ea typeface="Arial"/>
                <a:cs typeface="Arial"/>
              </a:rPr>
              <a:t>a person — dave@creo.com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E6647968-33CE-4EB8-907B-0A49919B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761488"/>
            <a:ext cx="329184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2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9AA5AD">
                <a:alpha val="30000"/>
              </a:srgbClr>
            </a:outerShdw>
          </a:effectLst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D593D54C-B106-4A28-9121-E4EE2E5C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761488"/>
            <a:ext cx="64008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73ECD576-2E85-40E7-AD7A-F80362AC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907792"/>
            <a:ext cx="294436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5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Group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4258E48-5C89-4197-9C5C-F4452BEC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273552"/>
            <a:ext cx="29443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5606B"/>
                </a:solidFill>
                <a:latin typeface="Arial"/>
                <a:ea typeface="Arial"/>
                <a:cs typeface="Arial"/>
              </a:rPr>
              <a:t>analysts, engineers — grant HERE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31AE807B-04FB-4893-ACEA-83978536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831336"/>
            <a:ext cx="329184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2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9AA5AD">
                <a:alpha val="30000"/>
              </a:srgbClr>
            </a:outerShdw>
          </a:effectLst>
        </p:spPr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F93A1D9-F90E-4E47-A4AC-FC7C6A0D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831336"/>
            <a:ext cx="64008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E50"/>
          </a:solidFill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D6AFDF92-0032-419C-A0D7-0EAD110D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977640"/>
            <a:ext cx="294436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5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Service principal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7E172E78-A349-4C8D-A6AD-26D0E1C1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4343400"/>
            <a:ext cx="29443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5606B"/>
                </a:solidFill>
                <a:latin typeface="Arial"/>
                <a:ea typeface="Arial"/>
                <a:cs typeface="Arial"/>
              </a:rPr>
              <a:t>a machine — the prod job's identity</a:t>
            </a:r>
          </a:p>
        </p:txBody>
      </p:sp>
    </p:spTree>
    <p:extLst>
      <p:ext uri="{BB962C8B-B14F-4D97-AF65-F5344CB8AC3E}">
        <p14:creationId xmlns:p14="http://schemas.microsoft.com/office/powerpoint/2010/main" val="2634400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65C2818-A037-41E9-B652-1F85D2C1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8138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EXAM DOMAIN 7 · OFFICIAL SAMPLE Q2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DE9A095-9A9B-42BD-9191-2370DEA4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GRANT + REVOKE — and the chain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BA3F34F-6B8A-4951-A84C-90FEF323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CREO TECHNOLOGIES  ·  DATABRICKS DATA ENGINEER ASSOCIATE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6B6D9DA-12A8-46E4-A594-4BF04449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84632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WEEK 4  ·  JUNE 2026  ·  3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9D35799-610D-4543-95C7-8F5A44A7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4983480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604D3FB-2E96-49DB-87A9-272F9A0C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498348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E50"/>
          </a:solidFill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69CFA3EA-9F1B-4B2E-87C5-C1BC2777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141732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3525600-0173-4EE5-BB57-1FE627AA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1344168"/>
            <a:ext cx="4526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AB7C4"/>
                </a:solidFill>
                <a:latin typeface="Consolas"/>
                <a:ea typeface="Consolas"/>
                <a:cs typeface="Consolas"/>
              </a:rPr>
              <a:t>grants.sql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B42B9C2-FF37-4F64-97B4-651C9D69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1691640"/>
            <a:ext cx="4599432" cy="2542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8FA3B5"/>
                </a:solidFill>
                <a:latin typeface="Consolas"/>
                <a:ea typeface="Consolas"/>
                <a:cs typeface="Consolas"/>
              </a:rPr>
              <a:t>-- the UC read chain: all three or no access</a:t>
            </a:r>
          </a:p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EAF0F4"/>
                </a:solidFill>
                <a:latin typeface="Consolas"/>
                <a:ea typeface="Consolas"/>
                <a:cs typeface="Consolas"/>
              </a:rPr>
              <a:t>GRANT USE CATALOG ON CATALOG main TO analysts;</a:t>
            </a:r>
          </a:p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EAF0F4"/>
                </a:solidFill>
                <a:latin typeface="Consolas"/>
                <a:ea typeface="Consolas"/>
                <a:cs typeface="Consolas"/>
              </a:rPr>
              <a:t>GRANT USE SCHEMA ON SCHEMA main.sales TO analysts;</a:t>
            </a:r>
          </a:p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EAF0F4"/>
                </a:solidFill>
                <a:latin typeface="Consolas"/>
                <a:ea typeface="Consolas"/>
                <a:cs typeface="Consolas"/>
              </a:rPr>
              <a:t>GRANT SELECT ON SCHEMA main.sales TO analysts;</a:t>
            </a:r>
          </a:p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EAF0F4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EAF0F4"/>
                </a:solidFill>
                <a:latin typeface="Consolas"/>
                <a:ea typeface="Consolas"/>
                <a:cs typeface="Consolas"/>
              </a:rPr>
              <a:t>SHOW GRANTS ON SCHEMA main.sales;</a:t>
            </a:r>
          </a:p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EAF0F4"/>
                </a:solidFill>
                <a:latin typeface="Consolas"/>
                <a:ea typeface="Consolas"/>
                <a:cs typeface="Consolas"/>
              </a:rPr>
              <a:t>REVOKE SELECT ON SCHEMA main.sales FROM analysts;</a:t>
            </a:r>
          </a:p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EAF0F4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EAF0F4"/>
                </a:solidFill>
                <a:latin typeface="Consolas"/>
                <a:ea typeface="Consolas"/>
                <a:cs typeface="Consolas"/>
              </a:rPr>
              <a:t>-- DENY is not valid for Unity Catalog objects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5879FCA-8D52-46C0-89A6-187A87C7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527048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8D4A0A6-9F32-4293-9130-946E9014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176" y="1426464"/>
            <a:ext cx="2660904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584"/>
              </a:lnSpc>
              <a:buNone/>
            </a:pPr>
            <a:r>
              <a:rPr sz="12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The chain  </a:t>
            </a:r>
            <a:r>
              <a:rPr sz="1200">
                <a:solidFill>
                  <a:srgbClr val="55606B"/>
                </a:solidFill>
                <a:latin typeface="Arial"/>
                <a:ea typeface="Arial"/>
                <a:cs typeface="Arial"/>
              </a:rPr>
              <a:t>USE CATALOG + USE SCHEMA + SELECT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97486030-897E-4081-BA37-55A270FF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441448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3A4CF2AE-C608-490B-842D-360F4558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176" y="2340864"/>
            <a:ext cx="2660904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584"/>
              </a:lnSpc>
              <a:buNone/>
            </a:pPr>
            <a:r>
              <a:rPr sz="12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REVOKE  </a:t>
            </a:r>
            <a:r>
              <a:rPr sz="1200">
                <a:solidFill>
                  <a:srgbClr val="55606B"/>
                </a:solidFill>
                <a:latin typeface="Arial"/>
                <a:ea typeface="Arial"/>
                <a:cs typeface="Arial"/>
              </a:rPr>
              <a:t>removes one grant — other paths survive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B330DAB4-6994-4EE5-BA9B-5D66A67B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355848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FDE3120C-11D7-44CB-9A34-C342242A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176" y="3255264"/>
            <a:ext cx="2660904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584"/>
              </a:lnSpc>
              <a:buNone/>
            </a:pPr>
            <a:r>
              <a:rPr sz="12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DENY (legacy only)
not supported on Unity Catalog objects</a:t>
            </a:r>
          </a:p>
        </p:txBody>
      </p:sp>
    </p:spTree>
    <p:extLst>
      <p:ext uri="{BB962C8B-B14F-4D97-AF65-F5344CB8AC3E}">
        <p14:creationId xmlns:p14="http://schemas.microsoft.com/office/powerpoint/2010/main" val="17270835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1B8C300-FF9B-4D06-A86C-B2053A9E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8138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EXAM DOMAIN 7 · OPERATIONS EDITION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6118BC3-2CB5-47B1-9852-8CFD2946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Managed vs. external: create, drop, UNDROP, convert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A7A72E2-B007-4A92-AE24-155D5556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CREO TECHNOLOGIES  ·  DATABRICKS DATA ENGINEER ASSOCIATE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49D46D0-2583-4260-89CA-1CEB0C96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84632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WEEK 4  ·  JUNE 2026  ·  4</a:t>
            </a:r>
          </a:p>
        </p:txBody>
      </p:sp>
      <p:graphicFrame>
        <p:nvGraphicFramePr>
          <p:cNvPr id="16" name="Table 0"/>
          <p:cNvGraphicFramePr/>
          <p:nvPr/>
        </p:nvGraphicFramePr>
        <p:xfrm>
          <a:off xmlns:a="http://schemas.openxmlformats.org/drawingml/2006/main" x="502920" y="1325880"/>
          <a:ext xmlns:a="http://schemas.openxmlformats.org/drawingml/2006/main" cx="81381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03120"/>
                <a:gridCol w="3017520"/>
                <a:gridCol w="3017520"/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Operation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Managed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External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DROP TABLE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Metadata AND data deleted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Metadata only — files remain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UNDROP TABLE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✓ within retention window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n/a (files never left)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Who owns the files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Unity Catalog storage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Your external location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Predictive optimization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✓ eligible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✗ not eligible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Choose when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Default — let Databricks optimize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Hard storage requirements, external readers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F86932C7-0E10-40BE-8E6D-1AC8CD40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69080"/>
            <a:ext cx="81381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3F3"/>
          </a:solidFill>
        </p:spPr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B8DA842B-9BD1-453B-9761-DDB2993B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69080"/>
            <a:ext cx="54864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D6E5C9D1-0142-4BA5-AA3D-32602861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123944"/>
            <a:ext cx="777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9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NUANCE THE EXAM LIKES   </a:t>
            </a:r>
            <a:r>
              <a:rPr sz="1100">
                <a:solidFill>
                  <a:srgbClr val="2C3E50"/>
                </a:solidFill>
                <a:latin typeface="Arial"/>
                <a:ea typeface="Arial"/>
                <a:cs typeface="Arial"/>
              </a:rPr>
              <a:t>“Managed drops are instantly unrecoverable” — FALSE. UNDROP exists. And conversion between types is possible (directional operations).</a:t>
            </a:r>
          </a:p>
        </p:txBody>
      </p:sp>
    </p:spTree>
    <p:extLst>
      <p:ext uri="{BB962C8B-B14F-4D97-AF65-F5344CB8AC3E}">
        <p14:creationId xmlns:p14="http://schemas.microsoft.com/office/powerpoint/2010/main" val="14928648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D61F7FC-4DF6-4A98-993D-B82780A2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8138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EXAM DOMAIN 7 · VERBATIM OBJECTIVE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F9F56EB-CDB6-4320-AB9E-CDEACBFA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Column masks and row filters: policy in the table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B1E87CF-B889-48C6-821E-E7DF52FC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CREO TECHNOLOGIES  ·  DATABRICKS DATA ENGINEER ASSOCIATE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1CABDAD-BCCD-47C8-9008-106A5013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84632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WEEK 4  ·  JUNE 2026  ·  5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20173FC-1400-40AB-AEB6-DD3F648C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4983480" cy="3246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CB1D6F1-ACF8-4263-8DA3-A273E921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498348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E50"/>
          </a:solidFill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FF263F20-7121-4210-BD7F-248D3A06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141732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689B229-8872-418B-8B84-FA353992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1344168"/>
            <a:ext cx="4526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AB7C4"/>
                </a:solidFill>
                <a:latin typeface="Consolas"/>
                <a:ea typeface="Consolas"/>
                <a:cs typeface="Consolas"/>
              </a:rPr>
              <a:t>masks_filters.sql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E5FEE28-C943-4AA2-8549-547AEAA2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1691640"/>
            <a:ext cx="4599432" cy="2770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8FA3B5"/>
                </a:solidFill>
                <a:latin typeface="Consolas"/>
                <a:ea typeface="Consolas"/>
                <a:cs typeface="Consolas"/>
              </a:rPr>
              <a:t>-- ① a function that decides</a:t>
            </a:r>
          </a:p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EAF0F4"/>
                </a:solidFill>
                <a:latin typeface="Consolas"/>
                <a:ea typeface="Consolas"/>
                <a:cs typeface="Consolas"/>
              </a:rPr>
              <a:t>CREATE FUNCTION email_mask(email STRING)</a:t>
            </a:r>
          </a:p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EAF0F4"/>
                </a:solidFill>
                <a:latin typeface="Consolas"/>
                <a:ea typeface="Consolas"/>
                <a:cs typeface="Consolas"/>
              </a:rPr>
              <a:t>RETURN CASE</a:t>
            </a:r>
          </a:p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EAF0F4"/>
                </a:solidFill>
                <a:latin typeface="Consolas"/>
                <a:ea typeface="Consolas"/>
                <a:cs typeface="Consolas"/>
              </a:rPr>
              <a:t>  WHEN is_account_group_member('support')</a:t>
            </a:r>
          </a:p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EAF0F4"/>
                </a:solidFill>
                <a:latin typeface="Consolas"/>
                <a:ea typeface="Consolas"/>
                <a:cs typeface="Consolas"/>
              </a:rPr>
              <a:t>       THEN email</a:t>
            </a:r>
          </a:p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EAF0F4"/>
                </a:solidFill>
                <a:latin typeface="Consolas"/>
                <a:ea typeface="Consolas"/>
                <a:cs typeface="Consolas"/>
              </a:rPr>
              <a:t>  ELSE regexp_replace(email,'^[^@]+','***') END;</a:t>
            </a:r>
          </a:p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EAF0F4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8FA3B5"/>
                </a:solidFill>
                <a:latin typeface="Consolas"/>
                <a:ea typeface="Consolas"/>
                <a:cs typeface="Consolas"/>
              </a:rPr>
              <a:t>-- ② bind it</a:t>
            </a:r>
          </a:p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EAF0F4"/>
                </a:solidFill>
                <a:latin typeface="Consolas"/>
                <a:ea typeface="Consolas"/>
                <a:cs typeface="Consolas"/>
              </a:rPr>
              <a:t>ALTER TABLE customers</a:t>
            </a:r>
          </a:p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EAF0F4"/>
                </a:solidFill>
                <a:latin typeface="Consolas"/>
                <a:ea typeface="Consolas"/>
                <a:cs typeface="Consolas"/>
              </a:rPr>
              <a:t>  ALTER COLUMN email SET MASK email_mask;</a:t>
            </a:r>
          </a:p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EAF0F4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EAF0F4"/>
                </a:solidFill>
                <a:latin typeface="Consolas"/>
                <a:ea typeface="Consolas"/>
                <a:cs typeface="Consolas"/>
              </a:rPr>
              <a:t>ALTER TABLE customers</a:t>
            </a:r>
          </a:p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EAF0F4"/>
                </a:solidFill>
                <a:latin typeface="Consolas"/>
                <a:ea typeface="Consolas"/>
                <a:cs typeface="Consolas"/>
              </a:rPr>
              <a:t>  SET ROW FILTER atlanta_only ON (city);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4255138-EA54-486F-9E81-81E468AB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527048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624D616-866C-4E45-AF85-02CE03FA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176" y="1426464"/>
            <a:ext cx="2660904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518"/>
              </a:lnSpc>
              <a:buNone/>
            </a:pPr>
            <a:r>
              <a:rPr sz="115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Query-time  </a:t>
            </a:r>
            <a:r>
              <a:rPr sz="1150">
                <a:solidFill>
                  <a:srgbClr val="55606B"/>
                </a:solidFill>
                <a:latin typeface="Arial"/>
                <a:ea typeface="Arial"/>
                <a:cs typeface="Arial"/>
              </a:rPr>
              <a:t>storage untouched; every path covered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FAF84A4-D4C5-4FB9-8861-30CB0B42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313432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C822096-74A8-4D98-9AE2-D07FE48C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176" y="2212848"/>
            <a:ext cx="2660904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518"/>
              </a:lnSpc>
              <a:buNone/>
            </a:pPr>
            <a:r>
              <a:rPr sz="115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Mask  </a:t>
            </a:r>
            <a:r>
              <a:rPr sz="1150">
                <a:solidFill>
                  <a:srgbClr val="55606B"/>
                </a:solidFill>
                <a:latin typeface="Arial"/>
                <a:ea typeface="Arial"/>
                <a:cs typeface="Arial"/>
              </a:rPr>
              <a:t>rewrites a COLUMN's value per user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C19FF14-53FF-49F8-978C-211CB4C6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099816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67C97C7-1318-4686-9D17-657B4AC2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176" y="2999232"/>
            <a:ext cx="2660904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518"/>
              </a:lnSpc>
              <a:buNone/>
            </a:pPr>
            <a:r>
              <a:rPr sz="115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Row filter  </a:t>
            </a:r>
            <a:r>
              <a:rPr sz="1150">
                <a:solidFill>
                  <a:srgbClr val="55606B"/>
                </a:solidFill>
                <a:latin typeface="Arial"/>
                <a:ea typeface="Arial"/>
                <a:cs typeface="Arial"/>
              </a:rPr>
              <a:t>boolean fn decides ROW visibility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4DDE34ED-FFC9-438A-B7E9-25580324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886200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7BF90940-0B47-4859-BC5D-1ED77E98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176" y="3785616"/>
            <a:ext cx="2660904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518"/>
              </a:lnSpc>
              <a:buNone/>
            </a:pPr>
            <a:r>
              <a:rPr sz="115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Owners too  </a:t>
            </a:r>
            <a:r>
              <a:rPr sz="1150">
                <a:solidFill>
                  <a:srgbClr val="55606B"/>
                </a:solidFill>
                <a:latin typeface="Arial"/>
                <a:ea typeface="Arial"/>
                <a:cs typeface="Arial"/>
              </a:rPr>
              <a:t>no automatic exemption</a:t>
            </a:r>
          </a:p>
        </p:txBody>
      </p:sp>
    </p:spTree>
    <p:extLst>
      <p:ext uri="{BB962C8B-B14F-4D97-AF65-F5344CB8AC3E}">
        <p14:creationId xmlns:p14="http://schemas.microsoft.com/office/powerpoint/2010/main" val="4598195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CB3D452-5026-4EE1-816A-16B364C1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8138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EXAM DOMAIN 7 · CONCEPT (ADMIN FEATURE)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7DB2E57-3DA8-41C7-B308-0AE4857E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ABAC: tag once, police everywhere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4DEADE4-E830-4C36-A4D8-26B2B869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CREO TECHNOLOGIES  ·  DATABRICKS DATA ENGINEER ASSOCIATE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CEB19F0-10E0-4DDD-8E55-4DBB973D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84632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WEEK 4  ·  JUNE 2026  ·  6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52297BF4-482C-45F8-92DE-256FD050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2103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166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AC678C3-D2F0-4615-A517-7A685076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21031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TAG</a:t>
            </a:r>
          </a:p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columns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71433B5-2C1C-447B-B24D-1061018E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52344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100"/>
              </a:lnSpc>
              <a:buNone/>
            </a:pPr>
            <a:r>
              <a:rPr sz="900">
                <a:solidFill>
                  <a:srgbClr val="7F8C8D"/>
                </a:solidFill>
                <a:latin typeface="Arial"/>
                <a:ea typeface="Arial"/>
                <a:cs typeface="Arial"/>
              </a:rPr>
              <a:t>pii_email on</a:t>
            </a:r>
          </a:p>
          <a:p xmlns:a="http://schemas.openxmlformats.org/drawingml/2006/main">
            <a:pPr marL="0" indent="0" algn="ctr">
              <a:lnSpc>
                <a:spcPts val="1100"/>
              </a:lnSpc>
              <a:buNone/>
            </a:pPr>
            <a:r>
              <a:rPr sz="900">
                <a:solidFill>
                  <a:srgbClr val="7F8C8D"/>
                </a:solidFill>
                <a:latin typeface="Arial"/>
                <a:ea typeface="Arial"/>
                <a:cs typeface="Arial"/>
              </a:rPr>
              <a:t>3,000 tables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55FC580C-E7B6-4233-BD44-67629C0E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072" y="2066544"/>
            <a:ext cx="60350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337FE348-A988-4F3D-A4F0-A92C732D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83080"/>
            <a:ext cx="2103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DA344E0-350A-46C8-A79A-B2240FBD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83080"/>
            <a:ext cx="21031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POLICY</a:t>
            </a:r>
          </a:p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 tag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5DA920B-7DB5-4846-85B8-C982F23A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752344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100"/>
              </a:lnSpc>
              <a:buNone/>
            </a:pPr>
            <a:r>
              <a:rPr sz="900">
                <a:solidFill>
                  <a:srgbClr val="7F8C8D"/>
                </a:solidFill>
                <a:latin typeface="Arial"/>
                <a:ea typeface="Arial"/>
                <a:cs typeface="Arial"/>
              </a:rPr>
              <a:t>one masking rule,</a:t>
            </a:r>
          </a:p>
          <a:p xmlns:a="http://schemas.openxmlformats.org/drawingml/2006/main">
            <a:pPr marL="0" indent="0" algn="ctr">
              <a:lnSpc>
                <a:spcPts val="1100"/>
              </a:lnSpc>
              <a:buNone/>
            </a:pPr>
            <a:r>
              <a:rPr sz="900">
                <a:solidFill>
                  <a:srgbClr val="7F8C8D"/>
                </a:solidFill>
                <a:latin typeface="Arial"/>
                <a:ea typeface="Arial"/>
                <a:cs typeface="Arial"/>
              </a:rPr>
              <a:t>written once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2B3AE832-BC61-402B-8542-04D53623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32" y="2066544"/>
            <a:ext cx="60350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752F3AB7-4A97-4A6F-B0B6-BDF08305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783080"/>
            <a:ext cx="2103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E50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666B6D4-1D31-416C-8E04-FC5E6595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783080"/>
            <a:ext cx="21031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APPLIED</a:t>
            </a:r>
          </a:p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everywhere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3F70A26-63A1-478B-87C0-BDF6BAE9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52344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100"/>
              </a:lnSpc>
              <a:buNone/>
            </a:pPr>
            <a:r>
              <a:rPr sz="900">
                <a:solidFill>
                  <a:srgbClr val="7F8C8D"/>
                </a:solidFill>
                <a:latin typeface="Arial"/>
                <a:ea typeface="Arial"/>
                <a:cs typeface="Arial"/>
              </a:rPr>
              <a:t>every tagged column,</a:t>
            </a:r>
          </a:p>
          <a:p xmlns:a="http://schemas.openxmlformats.org/drawingml/2006/main">
            <a:pPr marL="0" indent="0" algn="ctr">
              <a:lnSpc>
                <a:spcPts val="1100"/>
              </a:lnSpc>
              <a:buNone/>
            </a:pPr>
            <a:r>
              <a:rPr sz="900">
                <a:solidFill>
                  <a:srgbClr val="7F8C8D"/>
                </a:solidFill>
                <a:latin typeface="Arial"/>
                <a:ea typeface="Arial"/>
                <a:cs typeface="Arial"/>
              </a:rPr>
              <a:t>current and future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96803F6F-D931-41CE-B75E-08DB4BA6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57600"/>
            <a:ext cx="813816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3F3"/>
          </a:solidFill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FDB4E20-5C4E-4481-B030-C654F025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57600"/>
            <a:ext cx="54864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C046AA7-82A5-4C95-933A-5C3B3779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712464"/>
            <a:ext cx="7772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9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EXAM CONCEPT — PAID/ADMIN WORKSPACE   </a:t>
            </a:r>
            <a:r>
              <a:rPr sz="1100">
                <a:solidFill>
                  <a:srgbClr val="2C3E50"/>
                </a:solidFill>
                <a:latin typeface="Arial"/>
                <a:ea typeface="Arial"/>
                <a:cs typeface="Arial"/>
              </a:rPr>
              <a:t>“A security team must apply identical masking to every column tagged sensitive_pii across thousands of tables” → ABAC. Per-table functions at that scale is the wrong answer by design.</a:t>
            </a:r>
          </a:p>
        </p:txBody>
      </p:sp>
    </p:spTree>
    <p:extLst>
      <p:ext uri="{BB962C8B-B14F-4D97-AF65-F5344CB8AC3E}">
        <p14:creationId xmlns:p14="http://schemas.microsoft.com/office/powerpoint/2010/main" val="15582216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05F599C-9A74-47AA-B2FA-7C1DE9FE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8138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EXAM DOMAIN 7 · TWO QUICK OBJECTIVES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DBCD27-AA42-4469-B19B-11585AB1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Lineage is automatic; audit is queryable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405A1F7-81CF-4189-B0D5-6E80A22D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CREO TECHNOLOGIES  ·  DATABRICKS DATA ENGINEER ASSOCIATE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7D90F48-82A4-467B-9A21-EB16C960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84632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WEEK 4  ·  JUNE 2026  ·  7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D57F641-D256-4763-875B-72CBF1D3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81328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998E8D3-2065-421A-A476-86D1EBEF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1380744"/>
            <a:ext cx="3849624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16"/>
              </a:lnSpc>
              <a:buNone/>
            </a:pPr>
            <a:r>
              <a:rPr sz="13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Lineage  </a:t>
            </a:r>
            <a:r>
              <a:rPr sz="1300">
                <a:solidFill>
                  <a:srgbClr val="55606B"/>
                </a:solidFill>
                <a:latin typeface="Arial"/>
                <a:ea typeface="Arial"/>
                <a:cs typeface="Arial"/>
              </a:rPr>
              <a:t>Catalog Explorer → table → Lineage tab; spans SQL, notebooks, jobs, pipelines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5D630D81-64CE-4D6D-9321-600E191A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0BA56B7-9585-4046-AE1F-15D04C0A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249424"/>
            <a:ext cx="3849624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16"/>
              </a:lnSpc>
              <a:buNone/>
            </a:pPr>
            <a:r>
              <a:rPr sz="13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Use cases  </a:t>
            </a:r>
            <a:r>
              <a:rPr sz="1300">
                <a:solidFill>
                  <a:srgbClr val="55606B"/>
                </a:solidFill>
                <a:latin typeface="Arial"/>
                <a:ea typeface="Arial"/>
                <a:cs typeface="Arial"/>
              </a:rPr>
              <a:t>impact analysis, root cause, compliance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D0173E1-CAA7-48BB-8CAE-0E85B386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18688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2732930-A44D-4EA5-92E7-7D79A3E2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3118104"/>
            <a:ext cx="3849624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16"/>
              </a:lnSpc>
              <a:buNone/>
            </a:pPr>
            <a:r>
              <a:rPr sz="13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Audit logs  </a:t>
            </a:r>
            <a:r>
              <a:rPr sz="1300">
                <a:solidFill>
                  <a:srgbClr val="55606B"/>
                </a:solidFill>
                <a:latin typeface="Arial"/>
                <a:ea typeface="Arial"/>
                <a:cs typeface="Arial"/>
              </a:rPr>
              <a:t>who did what, when — system tables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796778DA-A050-43E5-BD54-2FFC01C5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325880"/>
            <a:ext cx="374904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D114683-9D4C-40C5-93F1-869F5F2A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325880"/>
            <a:ext cx="37490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E50"/>
          </a:solidFill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96A1B5D-0F7E-4850-9F6D-02170A41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0056" y="141732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A8A5F33-CD49-4FE2-9F66-3BE5FF41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936" y="1344168"/>
            <a:ext cx="32918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AB7C4"/>
                </a:solidFill>
                <a:latin typeface="Consolas"/>
                <a:ea typeface="Consolas"/>
                <a:cs typeface="Consolas"/>
              </a:rPr>
              <a:t>audit.sql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E672D29-91FF-444D-80D8-A1F08678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8" y="1691640"/>
            <a:ext cx="3364992" cy="1810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8FA3B5"/>
                </a:solidFill>
                <a:latin typeface="Consolas"/>
                <a:ea typeface="Consolas"/>
                <a:cs typeface="Consolas"/>
              </a:rPr>
              <a:t>-- the audit answer shape</a:t>
            </a:r>
          </a:p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EAF0F4"/>
                </a:solidFill>
                <a:latin typeface="Consolas"/>
                <a:ea typeface="Consolas"/>
                <a:cs typeface="Consolas"/>
              </a:rPr>
              <a:t>SELECT user_identity, action_name,</a:t>
            </a:r>
          </a:p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EAF0F4"/>
                </a:solidFill>
                <a:latin typeface="Consolas"/>
                <a:ea typeface="Consolas"/>
                <a:cs typeface="Consolas"/>
              </a:rPr>
              <a:t>       request_params, event_time</a:t>
            </a:r>
          </a:p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EAF0F4"/>
                </a:solidFill>
                <a:latin typeface="Consolas"/>
                <a:ea typeface="Consolas"/>
                <a:cs typeface="Consolas"/>
              </a:rPr>
              <a:t>FROM   system.access.audit</a:t>
            </a:r>
          </a:p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EAF0F4"/>
                </a:solidFill>
                <a:latin typeface="Consolas"/>
                <a:ea typeface="Consolas"/>
                <a:cs typeface="Consolas"/>
              </a:rPr>
              <a:t>WHERE  event_date = current_date();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5D629EB1-58C0-43BD-B0CD-18FB51D8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794760"/>
            <a:ext cx="374904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3F3"/>
          </a:solidFill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571C20D5-93DE-4667-A4B0-C53E4618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794760"/>
            <a:ext cx="54864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50894068-835C-4819-8975-8F596713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8" y="3849624"/>
            <a:ext cx="338328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9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TRAP   </a:t>
            </a:r>
            <a:r>
              <a:rPr sz="1100">
                <a:solidFill>
                  <a:srgbClr val="2C3E50"/>
                </a:solidFill>
                <a:latin typeface="Arial"/>
                <a:ea typeface="Arial"/>
                <a:cs typeface="Arial"/>
              </a:rPr>
              <a:t>“Lineage needs a third-party scanner.” It doesn't — UC captures it automatically from execution.</a:t>
            </a:r>
          </a:p>
        </p:txBody>
      </p:sp>
    </p:spTree>
    <p:extLst>
      <p:ext uri="{BB962C8B-B14F-4D97-AF65-F5344CB8AC3E}">
        <p14:creationId xmlns:p14="http://schemas.microsoft.com/office/powerpoint/2010/main" val="8852994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629042-4145-44D3-9076-14EE8A83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8138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BACKGROUND · REMOVED FROM THE 2026 EXAM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FA86B72-3D1B-4F49-9E61-7DC72A8D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Delta Sharing out, Federation in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8846E78-CA90-448A-96EF-5B5EFC5A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CREO TECHNOLOGIES  ·  DATABRICKS DATA ENGINEER ASSOCIATE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0654EA2-3C7D-4130-BB61-DB791DE4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84632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WEEK 4  ·  JUNE 2026  ·  8</a:t>
            </a:r>
          </a:p>
        </p:txBody>
      </p:sp>
      <p:graphicFrame>
        <p:nvGraphicFramePr>
          <p:cNvPr id="16" name="Table 0"/>
          <p:cNvGraphicFramePr/>
          <p:nvPr/>
        </p:nvGraphicFramePr>
        <p:xfrm>
          <a:off xmlns:a="http://schemas.openxmlformats.org/drawingml/2006/main" x="502920" y="1325880"/>
          <a:ext xmlns:a="http://schemas.openxmlformats.org/drawingml/2006/main" cx="81381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63040"/>
                <a:gridCol w="3337560"/>
                <a:gridCol w="3337560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Delta Sharing (data OUT)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Lakehouse Federation (queries OUT, no copy IN)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What it does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Recipients query your LIVE tables — no extracts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Query external DBs through UC — no ingestion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Two flavors / parts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D2D (recipient has UC) · open protocol (any tool)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Connection + foreign catalog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Choose when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“Partner needs live data” — even without Databricks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“Query the operational Postgres without a pipeline”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Watch out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Cross-cloud/region egress costs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Exploration &amp; light access — not heavy repeated ETL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A344FDA9-7183-4151-8EB9-197103A7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6052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3F3"/>
          </a:solidFill>
        </p:spPr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1736906D-8998-4E96-B7D4-04599CE9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6052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92B6FB5F-18FB-4991-9661-1CFFD47A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215384"/>
            <a:ext cx="777240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9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TRAP   </a:t>
            </a:r>
            <a:r>
              <a:rPr sz="1100">
                <a:solidFill>
                  <a:srgbClr val="2C3E50"/>
                </a:solidFill>
                <a:latin typeface="Arial"/>
                <a:ea typeface="Arial"/>
                <a:cs typeface="Arial"/>
              </a:rPr>
              <a:t>“Delta Sharing emails a copy.” Zero-copy live access is the entire advantage — and why egress matters.</a:t>
            </a:r>
          </a:p>
        </p:txBody>
      </p:sp>
    </p:spTree>
    <p:extLst>
      <p:ext uri="{BB962C8B-B14F-4D97-AF65-F5344CB8AC3E}">
        <p14:creationId xmlns:p14="http://schemas.microsoft.com/office/powerpoint/2010/main" val="5911123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DA65FC-04AE-4FFA-805D-115DC7D1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8138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EXAM DOMAIN 6 · LAYOUT FEATURES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46F93F0-A9F6-4E55-BE90-15897C72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OPTIMIZE, VACUUM, and Liquid Clustering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0B9ECD6-A3AF-4B6B-94F4-F966B8DA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CREO TECHNOLOGIES  ·  DATABRICKS DATA ENGINEER ASSOCIATE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816D1B3-21C8-43DE-9394-32288A22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84632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WEEK 4  ·  JUNE 2026  ·  9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C09F9F6C-FA30-4149-BD47-2A5927DF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4983480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9AC00B1-80C8-4A4E-919B-BB9E7DC0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498348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E50"/>
          </a:solidFill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5D6AA7D9-1561-47A3-82ED-0E86D63F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141732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8BCE30F-5110-4D41-9863-610339BD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1344168"/>
            <a:ext cx="4526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AB7C4"/>
                </a:solidFill>
                <a:latin typeface="Consolas"/>
                <a:ea typeface="Consolas"/>
                <a:cs typeface="Consolas"/>
              </a:rPr>
              <a:t>layout.sql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11479AB-2B44-423D-A324-1A69A757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1691640"/>
            <a:ext cx="4599432" cy="2542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8FA3B5"/>
                </a:solidFill>
                <a:latin typeface="Consolas"/>
                <a:ea typeface="Consolas"/>
                <a:cs typeface="Consolas"/>
              </a:rPr>
              <a:t>-- layout at creation (liquid clustering)</a:t>
            </a:r>
          </a:p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EAF0F4"/>
                </a:solidFill>
                <a:latin typeface="Consolas"/>
                <a:ea typeface="Consolas"/>
                <a:cs typeface="Consolas"/>
              </a:rPr>
              <a:t>CREATE TABLE gold_daily</a:t>
            </a:r>
          </a:p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EAF0F4"/>
                </a:solidFill>
                <a:latin typeface="Consolas"/>
                <a:ea typeface="Consolas"/>
                <a:cs typeface="Consolas"/>
              </a:rPr>
              <a:t>CLUSTER BY (store, order_date) AS SELECT ...;</a:t>
            </a:r>
          </a:p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EAF0F4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EAF0F4"/>
                </a:solidFill>
                <a:latin typeface="Consolas"/>
                <a:ea typeface="Consolas"/>
                <a:cs typeface="Consolas"/>
              </a:rPr>
              <a:t>ALTER TABLE gold_daily CLUSTER BY (region);</a:t>
            </a:r>
          </a:p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8FA3B5"/>
                </a:solidFill>
                <a:latin typeface="Consolas"/>
                <a:ea typeface="Consolas"/>
                <a:cs typeface="Consolas"/>
              </a:rPr>
              <a:t>-- ^ change keys WITHOUT rewriting the table</a:t>
            </a:r>
          </a:p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EAF0F4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EAF0F4"/>
                </a:solidFill>
                <a:latin typeface="Consolas"/>
                <a:ea typeface="Consolas"/>
                <a:cs typeface="Consolas"/>
              </a:rPr>
              <a:t>OPTIMIZE gold_daily;  -- compact small files</a:t>
            </a:r>
          </a:p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EAF0F4"/>
                </a:solidFill>
                <a:latin typeface="Consolas"/>
                <a:ea typeface="Consolas"/>
                <a:cs typeface="Consolas"/>
              </a:rPr>
              <a:t>VACUUM   gold_daily;  -- delete old files</a:t>
            </a:r>
          </a:p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050">
                <a:solidFill>
                  <a:srgbClr val="8FA3B5"/>
                </a:solidFill>
                <a:latin typeface="Consolas"/>
                <a:ea typeface="Consolas"/>
                <a:cs typeface="Consolas"/>
              </a:rPr>
              <a:t>                      -- (limits time travel!)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CAF3B5D4-879E-46CB-BF8A-3A0E44A3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527048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5882AB4-90D7-49A0-98C3-5B54DFCB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176" y="1426464"/>
            <a:ext cx="2660904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518"/>
              </a:lnSpc>
              <a:buNone/>
            </a:pPr>
            <a:r>
              <a:rPr sz="115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Partitioning  </a:t>
            </a:r>
            <a:r>
              <a:rPr sz="1150">
                <a:solidFill>
                  <a:srgbClr val="55606B"/>
                </a:solidFill>
                <a:latin typeface="Arial"/>
                <a:ea typeface="Arial"/>
                <a:cs typeface="Arial"/>
              </a:rPr>
              <a:t>legacy: rigid dirs, cardinality traps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FBC584B-29B6-4E38-B92E-0F9E4FE1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441448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B48DA4C-F6A5-4185-9146-DF589F84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176" y="2340864"/>
            <a:ext cx="2660904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518"/>
              </a:lnSpc>
              <a:buNone/>
            </a:pPr>
            <a:r>
              <a:rPr sz="115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Z-ORDER  </a:t>
            </a:r>
            <a:r>
              <a:rPr sz="1150">
                <a:solidFill>
                  <a:srgbClr val="55606B"/>
                </a:solidFill>
                <a:latin typeface="Arial"/>
                <a:ea typeface="Arial"/>
                <a:cs typeface="Arial"/>
              </a:rPr>
              <a:t>manual OPTIMIZE-time re-sorts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70291E6D-DF10-4D9B-97E3-9992947D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355848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B33193FE-05EC-40FB-9BFD-86F8E629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176" y="3255264"/>
            <a:ext cx="2660904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518"/>
              </a:lnSpc>
              <a:buNone/>
            </a:pPr>
            <a:r>
              <a:rPr sz="115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Liquid  </a:t>
            </a:r>
            <a:r>
              <a:rPr sz="1150">
                <a:solidFill>
                  <a:srgbClr val="55606B"/>
                </a:solidFill>
                <a:latin typeface="Arial"/>
                <a:ea typeface="Arial"/>
                <a:cs typeface="Arial"/>
              </a:rPr>
              <a:t>incremental, key-changeable — the current exam answer</a:t>
            </a:r>
          </a:p>
        </p:txBody>
      </p:sp>
    </p:spTree>
    <p:extLst>
      <p:ext uri="{BB962C8B-B14F-4D97-AF65-F5344CB8AC3E}">
        <p14:creationId xmlns:p14="http://schemas.microsoft.com/office/powerpoint/2010/main" val="7333955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31DE061-9FF9-4194-B925-7618F629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8138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EXAM DOMAIN 6 · CONCEPT (PREMIUM+)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98F809D-7266-4395-B734-19BDCE4D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Predictive optimization: maintenance on autopilot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CD48A7D-9654-4F81-9B3E-183D2160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CREO TECHNOLOGIES  ·  DATABRICKS DATA ENGINEER ASSOCIATE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33C4B52-7160-4F24-935F-46B77825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84632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WEEK 4  ·  JUNE 2026  ·  10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E1042C8-18C2-4EB7-970B-F9D6784D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256032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2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9AA5AD">
                <a:alpha val="30000"/>
              </a:srgbClr>
            </a:outerShdw>
          </a:effectLst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BA1DCC9-A916-49A1-B6B8-2EB7E2C4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64008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32D9752-7D0A-4CC8-90F2-416A0ABB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2184"/>
            <a:ext cx="22128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5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What it runs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FC5FF46-EDB4-43B5-8751-5EFB5432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7944"/>
            <a:ext cx="2212848" cy="97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5606B"/>
                </a:solidFill>
                <a:latin typeface="Arial"/>
                <a:ea typeface="Arial"/>
                <a:cs typeface="Arial"/>
              </a:rPr>
              <a:t>OPTIMIZE · VACUUM · ANALYZE — automatically, based on observed usage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83EADE4D-DA7F-4F6B-83E2-5424D3F2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325880"/>
            <a:ext cx="256032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2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9AA5AD">
                <a:alpha val="30000"/>
              </a:srgbClr>
            </a:outerShdw>
          </a:effectLst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2F912BA-EC3F-4E4B-8D56-D45E061F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325880"/>
            <a:ext cx="64008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8497048-A465-4E36-BA11-D52E6290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472184"/>
            <a:ext cx="22128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5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Where it works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DB252CE-993C-42D2-9BC8-578DC829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837944"/>
            <a:ext cx="2212848" cy="97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5606B"/>
                </a:solidFill>
                <a:latin typeface="Arial"/>
                <a:ea typeface="Arial"/>
                <a:cs typeface="Arial"/>
              </a:rPr>
              <a:t>Unity Catalog MANAGED tables only — a big reason managed is the recommendation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AE1E5CBE-C51E-47B1-90A5-31330471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325880"/>
            <a:ext cx="256032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2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9AA5AD">
                <a:alpha val="30000"/>
              </a:srgbClr>
            </a:outerShdw>
          </a:effectLst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B1E7879-EDDD-453A-83F6-723B0242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325880"/>
            <a:ext cx="64008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A5E1430-A3BD-4D3B-AE02-B4CEBC25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472184"/>
            <a:ext cx="22128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5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What it is NOT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C54A4FBB-9132-4C28-B407-59E2EAAF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37944"/>
            <a:ext cx="2212848" cy="97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5606B"/>
                </a:solidFill>
                <a:latin typeface="Arial"/>
                <a:ea typeface="Arial"/>
                <a:cs typeface="Arial"/>
              </a:rPr>
              <a:t>A query tuner. It maintains TABLES; query plans are still Spark's job (and yours)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5DB88DA-1609-4F21-9E39-3FE8202E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66160"/>
            <a:ext cx="81381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3F3"/>
          </a:solidFill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292FFED2-E892-4D1E-A9FE-DE7E0064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66160"/>
            <a:ext cx="54864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3ABC430B-0FC8-47B3-BC9D-C8868D4B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621024"/>
            <a:ext cx="777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9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EXAM CONCEPT   </a:t>
            </a:r>
            <a:r>
              <a:rPr sz="1100">
                <a:solidFill>
                  <a:srgbClr val="2C3E50"/>
                </a:solidFill>
                <a:latin typeface="Arial"/>
                <a:ea typeface="Arial"/>
                <a:cs typeface="Arial"/>
              </a:rPr>
              <a:t>Premium+ feature — not exercisable in Free Edition; fully testable on the exam.</a:t>
            </a:r>
          </a:p>
        </p:txBody>
      </p:sp>
    </p:spTree>
    <p:extLst>
      <p:ext uri="{BB962C8B-B14F-4D97-AF65-F5344CB8AC3E}">
        <p14:creationId xmlns:p14="http://schemas.microsoft.com/office/powerpoint/2010/main" val="18832342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EDFD241-41AD-45DF-A08A-AB0A67B7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8138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EXAM DOMAIN 6 · VERBATIM OBJECTIVE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4F2B017-EC3C-4D5D-B3A2-FC1EF15F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Spark UI: skew, shuffle, spill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83B4A7C-5FE8-444B-8ACC-0003A44C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CREO TECHNOLOGIES  ·  DATABRICKS DATA ENGINEER ASSOCIATE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6DFF1ED-A894-4C9B-AB22-1111373B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84632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WEEK 4  ·  JUNE 2026  ·  11</a:t>
            </a:r>
          </a:p>
        </p:txBody>
      </p:sp>
      <p:graphicFrame>
        <p:nvGraphicFramePr>
          <p:cNvPr id="16" name="Table 0"/>
          <p:cNvGraphicFramePr/>
          <p:nvPr/>
        </p:nvGraphicFramePr>
        <p:xfrm>
          <a:off xmlns:a="http://schemas.openxmlformats.org/drawingml/2006/main" x="502920" y="1325880"/>
          <a:ext xmlns:a="http://schemas.openxmlformats.org/drawingml/2006/main" cx="81381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45920"/>
                <a:gridCol w="3657600"/>
                <a:gridCol w="2834640"/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Symptom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The metric signature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First remedy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Data skew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Max task time ≫ median; one partition huge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Broadcast small side · AQE · rethink/salt the key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Heavy shuffle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Big Shuffle Read/Write on a wide op (join, groupBy)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Broadcast the small table · prune &amp; filter early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Disk spill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Spill (Memory) / Spill (Disk) counters &gt; 0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More partitions (smaller each) · more executor memory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8D46999D-1773-44FA-935B-571FF1D8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813816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3F3"/>
          </a:solidFill>
        </p:spPr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CCF4B0AF-B79A-4F97-81D9-F9369D74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54864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6D7D85E8-8DC5-4CAD-89F3-71C6D775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849624"/>
            <a:ext cx="7772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9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READING ORDER   </a:t>
            </a:r>
            <a:r>
              <a:rPr sz="1100">
                <a:solidFill>
                  <a:srgbClr val="2C3E50"/>
                </a:solidFill>
                <a:latin typeface="Arial"/>
                <a:ea typeface="Arial"/>
                <a:cs typeface="Arial"/>
              </a:rPr>
              <a:t>Longest stage first → task-duration distribution → I/O and spill counters. “Median 30s, max 28 minutes” = SKEW — that sentence is an exam question.</a:t>
            </a:r>
          </a:p>
        </p:txBody>
      </p:sp>
    </p:spTree>
    <p:extLst>
      <p:ext uri="{BB962C8B-B14F-4D97-AF65-F5344CB8AC3E}">
        <p14:creationId xmlns:p14="http://schemas.microsoft.com/office/powerpoint/2010/main" val="19123525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2A861EF-BB4F-462C-A314-BEAB9A26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8138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EXAM DOMAINS 3 &amp; 6 · MEMORIZE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3D2F4CE-F587-4065-96FE-A9C2F1B4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Four knobs and three failures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4FBBE88-D58D-4E9B-8D6B-0EC73ECF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CREO TECHNOLOGIES  ·  DATABRICKS DATA ENGINEER ASSOCIATE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3DE9C47-371B-44A9-884B-36FF4DBA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84632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WEEK 4  ·  JUNE 2026  ·  12</a:t>
            </a:r>
          </a:p>
        </p:txBody>
      </p:sp>
      <p:graphicFrame>
        <p:nvGraphicFramePr>
          <p:cNvPr id="24" name="Table 0"/>
          <p:cNvGraphicFramePr/>
          <p:nvPr/>
        </p:nvGraphicFramePr>
        <p:xfrm>
          <a:off xmlns:a="http://schemas.openxmlformats.org/drawingml/2006/main" x="502920" y="1280160"/>
          <a:ext xmlns:a="http://schemas.openxmlformats.org/drawingml/2006/main" cx="50292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06040"/>
                <a:gridCol w="242316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Parameter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Controls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spark.sql.shuffle.partitions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Partition count AFTER wide ops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spark.default.parallelism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Default RDD parallelism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spark.executor/driver.memory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The spill &amp; OOM levers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spark.sql.autoBroadcastJoinThreshold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Auto-broadcast size cap (~10MB)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0882882E-5BE6-4757-BAFF-55733212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280160"/>
            <a:ext cx="2926080" cy="3154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0F1"/>
          </a:solidFill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7648DDDE-1274-416D-965E-A31FD3BE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1408176"/>
            <a:ext cx="252374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7F8C8D"/>
                </a:solidFill>
                <a:latin typeface="Arial"/>
                <a:ea typeface="Arial"/>
                <a:cs typeface="Arial"/>
              </a:rPr>
              <a:t>FAILURE TRIAGE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5A22EE4-4FFD-4A56-B75A-E9108373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55648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5687FC08-622D-47AF-B2DA-A9D2D1C7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1655064"/>
            <a:ext cx="2295144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386"/>
              </a:lnSpc>
              <a:buNone/>
            </a:pPr>
            <a:r>
              <a:rPr sz="105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Before any task?  </a:t>
            </a:r>
            <a:r>
              <a:rPr sz="1050">
                <a:solidFill>
                  <a:srgbClr val="55606B"/>
                </a:solidFill>
                <a:latin typeface="Arial"/>
                <a:ea typeface="Arial"/>
                <a:cs typeface="Arial"/>
              </a:rPr>
              <a:t>cluster startup (init script, quota) or library conflict (import errors)</a:t>
            </a: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93139CA1-5CFA-4877-B3FC-89CAEC29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96896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B9C29487-4446-4FBD-A2EA-9F1C6487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2496312"/>
            <a:ext cx="2295144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386"/>
              </a:lnSpc>
              <a:buNone/>
            </a:pPr>
            <a:r>
              <a:rPr sz="105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During the job?  </a:t>
            </a:r>
            <a:r>
              <a:rPr sz="1050">
                <a:solidFill>
                  <a:srgbClr val="55606B"/>
                </a:solidFill>
                <a:latin typeface="Arial"/>
                <a:ea typeface="Arial"/>
                <a:cs typeface="Arial"/>
              </a:rPr>
              <a:t>skew / spill / OOM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7ED9809-42D2-480F-8428-0BA21A24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38144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282BCD3F-9DEE-415A-A966-3A16D963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3337560"/>
            <a:ext cx="2295144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386"/>
              </a:lnSpc>
              <a:buNone/>
            </a:pPr>
            <a:r>
              <a:rPr sz="105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Driver OOM  </a:t>
            </a:r>
            <a:r>
              <a:rPr sz="1050">
                <a:solidFill>
                  <a:srgbClr val="55606B"/>
                </a:solidFill>
                <a:latin typeface="Arial"/>
                <a:ea typeface="Arial"/>
                <a:cs typeface="Arial"/>
              </a:rPr>
              <a:t>collect(), toPandas() — executors healthy</a:t>
            </a:r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5C5E35E6-36D0-4207-B688-0AB76CF5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502920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3F3"/>
          </a:solidFill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AF0E1747-9C5B-470E-BFD0-4F1FE568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54864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2F1F4D06-FDB7-4A3D-9511-DC826B37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078224"/>
            <a:ext cx="4663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9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SERVERLESS CAVEAT   </a:t>
            </a:r>
            <a:r>
              <a:rPr sz="1100">
                <a:solidFill>
                  <a:srgbClr val="2C3E50"/>
                </a:solidFill>
                <a:latin typeface="Arial"/>
                <a:ea typeface="Arial"/>
                <a:cs typeface="Arial"/>
              </a:rPr>
              <a:t>On serverless you mostly CAN'T set these — Databricks does. That fact itself is exam-friendly.</a:t>
            </a:r>
          </a:p>
        </p:txBody>
      </p:sp>
    </p:spTree>
    <p:extLst>
      <p:ext uri="{BB962C8B-B14F-4D97-AF65-F5344CB8AC3E}">
        <p14:creationId xmlns:p14="http://schemas.microsoft.com/office/powerpoint/2010/main" val="19216747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B68469E-79F9-4A08-AB92-EA7054AF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8138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EXAM DOMAIN 1 · COMPUTE SELECTION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AE0380D-C34B-42A4-8413-A672B67E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Which compute for which job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6CA7520-D4F1-430E-9524-61F57871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CREO TECHNOLOGIES  ·  DATABRICKS DATA ENGINEER ASSOCIATE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D46BDE3-B7AD-4DA5-84E1-25159333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84632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WEEK 4  ·  JUNE 2026  ·  13</a:t>
            </a:r>
          </a:p>
        </p:txBody>
      </p:sp>
      <p:graphicFrame>
        <p:nvGraphicFramePr>
          <p:cNvPr id="24" name="Table 0"/>
          <p:cNvGraphicFramePr/>
          <p:nvPr/>
        </p:nvGraphicFramePr>
        <p:xfrm>
          <a:off xmlns:a="http://schemas.openxmlformats.org/drawingml/2006/main" x="502920" y="1280160"/>
          <a:ext xmlns:a="http://schemas.openxmlformats.org/drawingml/2006/main" cx="50292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06040"/>
                <a:gridCol w="242316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Compute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Best for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All-purpose cluster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Interactive dev, shared notebooks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Job cluster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Scheduled jobs — cheapest, no idle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SQL warehouse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SQL, BI, dashboards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Serverless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Instant start, Databricks-managed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AC689F94-92C9-4748-91BE-34B3DCBF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280160"/>
            <a:ext cx="2926080" cy="3154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0F1"/>
          </a:solidFill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665A3F3-2385-40B5-AD2B-3FCD30B0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1408176"/>
            <a:ext cx="252374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7F8C8D"/>
                </a:solidFill>
                <a:latin typeface="Arial"/>
                <a:ea typeface="Arial"/>
                <a:cs typeface="Arial"/>
              </a:rPr>
              <a:t>PICK THE RIGHT ONE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80BC8573-67E7-44C7-85E6-47AA13C4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55648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C724465F-12D8-4633-9065-0A1F1553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1655064"/>
            <a:ext cx="2295144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386"/>
              </a:lnSpc>
              <a:buNone/>
            </a:pPr>
            <a:r>
              <a:rPr sz="105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SQL only?  </a:t>
            </a:r>
            <a:r>
              <a:rPr sz="1050">
                <a:solidFill>
                  <a:srgbClr val="55606B"/>
                </a:solidFill>
                <a:latin typeface="Arial"/>
                <a:ea typeface="Arial"/>
                <a:cs typeface="Arial"/>
              </a:rPr>
              <a:t>a SQL warehouse (serverless / pro / classic)</a:t>
            </a: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78E982D-2040-411C-9CDE-BE0E2BD7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96896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279B7C61-D7C8-4AA8-A844-93F23AC4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2496312"/>
            <a:ext cx="2295144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386"/>
              </a:lnSpc>
              <a:buNone/>
            </a:pPr>
            <a:r>
              <a:rPr sz="105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Nightly job?  </a:t>
            </a:r>
            <a:r>
              <a:rPr sz="1050">
                <a:solidFill>
                  <a:srgbClr val="55606B"/>
                </a:solidFill>
                <a:latin typeface="Arial"/>
                <a:ea typeface="Arial"/>
                <a:cs typeface="Arial"/>
              </a:rPr>
              <a:t>a job cluster — no idle cost between runs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13BF8539-612F-43B5-A4AB-940FB56D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38144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2DCFB2BF-4D4A-4859-AE8A-FDFCAA12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3337560"/>
            <a:ext cx="2295144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386"/>
              </a:lnSpc>
              <a:buNone/>
            </a:pPr>
            <a:r>
              <a:rPr sz="105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Interactive dev?  </a:t>
            </a:r>
            <a:r>
              <a:rPr sz="1050">
                <a:solidFill>
                  <a:srgbClr val="55606B"/>
                </a:solidFill>
                <a:latin typeface="Arial"/>
                <a:ea typeface="Arial"/>
                <a:cs typeface="Arial"/>
              </a:rPr>
              <a:t>all-purpose or serverless</a:t>
            </a:r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61543211-4404-44C4-B7A7-C103B577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502920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3F3"/>
          </a:solidFill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21007BD3-C39B-4B5D-918E-48160BD1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54864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9D01DA0A-985F-47F5-8DB7-B50F00BA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078224"/>
            <a:ext cx="4663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9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CONTROL vs COMPUTE PLANE   </a:t>
            </a:r>
            <a:r>
              <a:rPr sz="1100">
                <a:solidFill>
                  <a:srgbClr val="2C3E50"/>
                </a:solidFill>
                <a:latin typeface="Arial"/>
                <a:ea typeface="Arial"/>
                <a:cs typeface="Arial"/>
              </a:rPr>
              <a:t>Metastore, scheduler, and UI live in the control plane. Classic compute runs in YOUR cloud account; serverless in Databricks-managed.</a:t>
            </a:r>
          </a:p>
        </p:txBody>
      </p:sp>
    </p:spTree>
    <p:extLst>
      <p:ext uri="{BB962C8B-B14F-4D97-AF65-F5344CB8AC3E}">
        <p14:creationId xmlns:p14="http://schemas.microsoft.com/office/powerpoint/2010/main" val="8918756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8A6E8A4-4BDC-4279-920D-0BE73C1C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8138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TODAY IN CLASS · HANDS-ON LAB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E4290B2-41FC-41D0-B270-708EF32A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Today's lab: secure &amp; tune BrewMart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9E2C673-7A20-45E2-AB73-1C022EF3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CREO TECHNOLOGIES  ·  DATABRICKS DATA ENGINEER ASSOCIATE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F83B8D7-A127-433E-8646-6C460538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84632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WEEK 4  ·  JUNE 2026  ·  14</a:t>
            </a:r>
          </a:p>
        </p:txBody>
      </p:sp>
      <p:graphicFrame>
        <p:nvGraphicFramePr>
          <p:cNvPr id="24" name="Table 0"/>
          <p:cNvGraphicFramePr/>
          <p:nvPr/>
        </p:nvGraphicFramePr>
        <p:xfrm>
          <a:off xmlns:a="http://schemas.openxmlformats.org/drawingml/2006/main" x="502920" y="1280160"/>
          <a:ext xmlns:a="http://schemas.openxmlformats.org/drawingml/2006/main" cx="50292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06040"/>
                <a:gridCol w="242316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Lab task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you do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Secure customers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Reset table, then mask email + row-filter city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Access control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GRANT → SHOW GRANTS → REVOKE on sales_by_store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Optimize gold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sales_gold_daily CLUSTER BY + OPTIMIZE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Inspect &amp; clean up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</a:rPr>
                        <a:t>Open lineage, then DROP mask + row filter</a:t>
                      </a:r>
                    </a:p>
                  </a:txBody>
                  <a:tcPr marL="54864" marR="54864" marT="54864" marB="54864" anchor="ctr">
                    <a:lnL w="9525" cmpd="sng">
                      <a:solidFill>
                        <a:srgbClr val="D8DEE2"/>
                      </a:solidFill>
                      <a:prstDash val="solid"/>
                    </a:lnL>
                    <a:lnR w="9525" cmpd="sng">
                      <a:solidFill>
                        <a:srgbClr val="D8DEE2"/>
                      </a:solidFill>
                      <a:prstDash val="solid"/>
                    </a:lnR>
                    <a:lnT w="9525" cmpd="sng">
                      <a:solidFill>
                        <a:srgbClr val="D8DEE2"/>
                      </a:solidFill>
                      <a:prstDash val="solid"/>
                    </a:lnT>
                    <a:lnB w="9525" cmpd="sng">
                      <a:solidFill>
                        <a:srgbClr val="D8DEE2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31F20C66-4044-4AA3-AA34-B2CD2516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280160"/>
            <a:ext cx="2926080" cy="3154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0F1"/>
          </a:solidFill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49CB81B8-9041-413E-8189-78335C4A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1408176"/>
            <a:ext cx="252374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7F8C8D"/>
                </a:solidFill>
                <a:latin typeface="Arial"/>
                <a:ea typeface="Arial"/>
                <a:cs typeface="Arial"/>
              </a:rPr>
              <a:t>HOW WE RUN IT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4F7B4BC-8D90-45BF-972A-01070713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55648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6165B51F-087E-4B24-BF08-E21AB3F6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1655064"/>
            <a:ext cx="2295144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386"/>
              </a:lnSpc>
              <a:buNone/>
            </a:pPr>
            <a:r>
              <a:rPr sz="105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Demo  </a:t>
            </a:r>
            <a:r>
              <a:rPr sz="1050">
                <a:solidFill>
                  <a:srgbClr val="55606B"/>
                </a:solidFill>
                <a:latin typeface="Arial"/>
                <a:ea typeface="Arial"/>
                <a:cs typeface="Arial"/>
              </a:rPr>
              <a:t>instructor walks the Part 2 cells</a:t>
            </a: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2BD8770D-46FD-481C-91D7-8883D70B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96896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97E7CEC-D69C-4AE0-923E-6196E4F9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2496312"/>
            <a:ext cx="2295144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386"/>
              </a:lnSpc>
              <a:buNone/>
            </a:pPr>
            <a:r>
              <a:rPr sz="105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You  </a:t>
            </a:r>
            <a:r>
              <a:rPr sz="1050">
                <a:solidFill>
                  <a:srgbClr val="55606B"/>
                </a:solidFill>
                <a:latin typeface="Arial"/>
                <a:ea typeface="Arial"/>
                <a:cs typeface="Arial"/>
              </a:rPr>
              <a:t>complete the TODO tasks (1–7) solo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15341CBC-87F0-48AF-B926-CB62F7C3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38144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AF44C120-9112-4F31-9AA4-DE465AA0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3337560"/>
            <a:ext cx="2295144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386"/>
              </a:lnSpc>
              <a:buNone/>
            </a:pPr>
            <a:r>
              <a:rPr sz="105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Debrief  </a:t>
            </a:r>
            <a:r>
              <a:rPr sz="1050">
                <a:solidFill>
                  <a:srgbClr val="55606B"/>
                </a:solidFill>
                <a:latin typeface="Arial"/>
                <a:ea typeface="Arial"/>
                <a:cs typeface="Arial"/>
              </a:rPr>
              <a:t>solution review after the lab</a:t>
            </a:r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5474EB68-B5C8-4C2A-95FE-538DD715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502920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3F3"/>
          </a:solidFill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1CB953F0-D802-4DA4-ADC6-B379AAB2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54864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317E04EB-49E0-4EB4-B0AC-3EEE1892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078224"/>
            <a:ext cx="4663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9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START WITH THE RESET CELL   </a:t>
            </a:r>
            <a:r>
              <a:rPr sz="1100">
                <a:solidFill>
                  <a:srgbClr val="2C3E50"/>
                </a:solidFill>
                <a:latin typeface="Arial"/>
                <a:ea typeface="Arial"/>
                <a:cs typeface="Arial"/>
              </a:rPr>
              <a:t>It rebuilds customers and clears any bound mask/filter, so the lab is repeatable — no surprises from stale state.</a:t>
            </a:r>
          </a:p>
        </p:txBody>
      </p:sp>
    </p:spTree>
    <p:extLst>
      <p:ext uri="{BB962C8B-B14F-4D97-AF65-F5344CB8AC3E}">
        <p14:creationId xmlns:p14="http://schemas.microsoft.com/office/powerpoint/2010/main" val="15919992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4B46802-6BE0-4ABD-9E8C-31E14956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8138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EXAM STRATEGY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3CDBCA4-72B3-491B-B5EE-337E397D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How to take this exam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1C95F46-F29B-4E79-8F32-1C9B921C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CREO TECHNOLOGIES  ·  DATABRICKS DATA ENGINEER ASSOCIATE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06952F1-4C79-463B-BCC2-7137E53D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84632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WEEK 4  ·  JUNE 2026  ·  15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406A398-E1CE-4025-A843-478D509A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71600"/>
            <a:ext cx="25298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8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2:00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C80430D-F6B5-4025-8438-023AA3F8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0"/>
            <a:ext cx="25298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000" b="1">
                <a:solidFill>
                  <a:srgbClr val="7F8C8D"/>
                </a:solidFill>
                <a:latin typeface="Arial"/>
                <a:ea typeface="Arial"/>
                <a:cs typeface="Arial"/>
              </a:rPr>
              <a:t>MINUTES PER QUESTION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CA3BFA35-D592-481A-BD74-E787515F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508760"/>
            <a:ext cx="0" cy="10058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EE2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599D8AC-0F55-4C3D-A86B-E19F170E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640" y="1371600"/>
            <a:ext cx="25298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80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C74FBC6-8A60-4625-B4BF-DBABA3C4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640" y="2286000"/>
            <a:ext cx="25298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000" b="1">
                <a:solidFill>
                  <a:srgbClr val="7F8C8D"/>
                </a:solidFill>
                <a:latin typeface="Arial"/>
                <a:ea typeface="Arial"/>
                <a:cs typeface="Arial"/>
              </a:rPr>
              <a:t>PASSES: FAST · FLAGGED · SWEEP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772C6950-8D67-4723-B37A-C3D412B1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6920" y="1508760"/>
            <a:ext cx="0" cy="10058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EE2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573CF5B-BD98-4CF2-AF1E-FFF7051A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1371600"/>
            <a:ext cx="25298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80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28F4E29-14FE-47D8-83FA-5AECE4F0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2286000"/>
            <a:ext cx="25298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000" b="1">
                <a:solidFill>
                  <a:srgbClr val="7F8C8D"/>
                </a:solidFill>
                <a:latin typeface="Arial"/>
                <a:ea typeface="Arial"/>
                <a:cs typeface="Arial"/>
              </a:rPr>
              <a:t>PENALTY FOR GUESSING — ANSWER ALL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630F702-95F2-48D1-A5D0-45189A87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71800"/>
            <a:ext cx="256032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2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9AA5AD">
                <a:alpha val="30000"/>
              </a:srgbClr>
            </a:outerShdw>
          </a:effectLst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B86992E-918F-40D4-AEAC-1E8EF1E9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71800"/>
            <a:ext cx="64008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A6E5327-34D0-43FD-B411-0A69968A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8104"/>
            <a:ext cx="22128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5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Kill order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3060EE6D-1A25-4B87-9B67-5059C8C8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3864"/>
            <a:ext cx="221284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5606B"/>
                </a:solidFill>
                <a:latin typeface="Arial"/>
                <a:ea typeface="Arial"/>
                <a:cs typeface="Arial"/>
              </a:rPr>
              <a:t>① invented syntax → ② real-feature-wrong-job → ③ violates a stated constraint → winner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F79E7214-373E-4E2F-907D-FCF2D267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971800"/>
            <a:ext cx="256032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2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9AA5AD">
                <a:alpha val="30000"/>
              </a:srgbClr>
            </a:outerShdw>
          </a:effectLst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8B043FA-84C9-40C3-B37D-EEB61733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971800"/>
            <a:ext cx="64008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BAAC6CB4-E03E-466F-8E49-420DF2CB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118104"/>
            <a:ext cx="22128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5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Distractor types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B636951-B479-4CBE-BD49-34414535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483864"/>
            <a:ext cx="221284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5606B"/>
                </a:solidFill>
                <a:latin typeface="Arial"/>
                <a:ea typeface="Arial"/>
                <a:cs typeface="Arial"/>
              </a:rPr>
              <a:t>invented syntax · misapplied feature · old-name bait · over-powered tool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A5FBE72-D59F-4E14-8645-B3A9C59F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971800"/>
            <a:ext cx="256032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2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9AA5AD">
                <a:alpha val="30000"/>
              </a:srgbClr>
            </a:outerShdw>
          </a:effectLst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0D8C79D9-438F-4EF5-96AF-B9CE2C1E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971800"/>
            <a:ext cx="64008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B127714-5DB8-4151-B48A-BBBBCAC6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118104"/>
            <a:ext cx="22128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50" b="1">
                <a:solidFill>
                  <a:srgbClr val="2C3E50"/>
                </a:solidFill>
                <a:latin typeface="Arial"/>
                <a:ea typeface="Arial"/>
                <a:cs typeface="Arial"/>
              </a:rPr>
              <a:t>Logistics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E7AE319-6817-4327-B24B-8EE6E1C4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483864"/>
            <a:ext cx="221284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5606B"/>
                </a:solidFill>
                <a:latin typeface="Arial"/>
                <a:ea typeface="Arial"/>
                <a:cs typeface="Arial"/>
              </a:rPr>
              <a:t>Webcam, ID, clean desk, system check done; online proctored or test center</a:t>
            </a:r>
          </a:p>
        </p:txBody>
      </p:sp>
    </p:spTree>
    <p:extLst>
      <p:ext uri="{BB962C8B-B14F-4D97-AF65-F5344CB8AC3E}">
        <p14:creationId xmlns:p14="http://schemas.microsoft.com/office/powerpoint/2010/main" val="508963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2C3E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1D8FC53-5B19-4663-800E-14EB7E8D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2377440" cy="2377440"/>
          </a:xfrm>
          <a:prstGeom xmlns:a="http://schemas.openxmlformats.org/drawingml/2006/main" prst="ellipse">
            <a:avLst/>
          </a:prstGeom>
          <a:ln xmlns:a="http://schemas.openxmlformats.org/drawingml/2006/main" w="12700">
            <a:solidFill>
              <a:srgbClr val="46637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74CA605-B0B7-4C89-9AD7-73B801E3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08960"/>
            <a:ext cx="1554480" cy="1554480"/>
          </a:xfrm>
          <a:prstGeom xmlns:a="http://schemas.openxmlformats.org/drawingml/2006/main" prst="ellipse">
            <a:avLst/>
          </a:prstGeom>
          <a:ln xmlns:a="http://schemas.openxmlformats.org/drawingml/2006/main" w="12700">
            <a:solidFill>
              <a:srgbClr val="46637F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11CE5DB-11F6-4FE4-956B-B9458E17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E31E24"/>
                </a:solidFill>
                <a:latin typeface="Arial"/>
                <a:ea typeface="Arial"/>
                <a:cs typeface="Arial"/>
              </a:rPr>
              <a:t>ALL SEVEN DOMAINS CLOSED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1006EC0-7F71-4019-83E6-F98ED705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60120"/>
            <a:ext cx="7772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Tonight: the mock exam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2B7D6A5-A571-48D0-8D87-BACCF7EC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929384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4AB41C1-60B3-497E-8AFC-C6043A1B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828800"/>
            <a:ext cx="5120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300">
                <a:solidFill>
                  <a:srgbClr val="DCE4EA"/>
                </a:solidFill>
                <a:latin typeface="Arial"/>
                <a:ea typeface="Arial"/>
                <a:cs typeface="Arial"/>
              </a:rPr>
              <a:t>45 questions · 90 minutes · timed · closed-book · ONE sitting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85D6BD4-3B9C-4DF5-AE61-5D92F9F4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96312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FA66055-2F60-4817-A7E9-3CC28ACC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395728"/>
            <a:ext cx="5120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300">
                <a:solidFill>
                  <a:srgbClr val="DCE4EA"/>
                </a:solidFill>
                <a:latin typeface="Arial"/>
                <a:ea typeface="Arial"/>
                <a:cs typeface="Arial"/>
              </a:rPr>
              <a:t>Score yourself PER DOMAIN — bring the breakdown to Week 5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B1BC110-B51C-4DB6-A759-E4D7FEF6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63240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C98E611-B1A9-4545-9D42-142029C4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962656"/>
            <a:ext cx="5120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300">
                <a:solidFill>
                  <a:srgbClr val="DCE4EA"/>
                </a:solidFill>
                <a:latin typeface="Arial"/>
                <a:ea typeface="Arial"/>
                <a:cs typeface="Arial"/>
              </a:rPr>
              <a:t>Week 5 review flexes to the cohort's actual weak domains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D96D9D7-4589-4397-8698-D1AB3F43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30168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9F57B93-5A6A-44BB-B421-B0E874A6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529584"/>
            <a:ext cx="5120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300">
                <a:solidFill>
                  <a:srgbClr val="DCE4EA"/>
                </a:solidFill>
                <a:latin typeface="Arial"/>
                <a:ea typeface="Arial"/>
                <a:cs typeface="Arial"/>
              </a:rPr>
              <a:t>Also tonight: run the Kryterion system check on your exam machine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1A20914-702E-40D6-BA00-B476D9DD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28800"/>
            <a:ext cx="260604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E24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529BDA2-1F78-43AC-B5D3-90FCFBE5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574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3150090-D112-49D6-A262-F76AC3ED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377440"/>
            <a:ext cx="21945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Capstone +</a:t>
            </a:r>
          </a:p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mock review +</a:t>
            </a:r>
          </a:p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readiness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A82F5EF-FBBD-4F99-AE7F-33D6AD2B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CREO TECHNOLOGIES  ·  DATABRICKS DATA ENGINEER ASSOCIATE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3BEE01E-2E2D-4DF9-8534-DFBCC280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84632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F8C8D"/>
                </a:solidFill>
                <a:latin typeface="Arial"/>
                <a:ea typeface="Arial"/>
                <a:cs typeface="Arial"/>
              </a:rPr>
              <a:t>WEEK 4  ·  JUNE 2026  ·  16</a:t>
            </a:r>
          </a:p>
        </p:txBody>
      </p:sp>
    </p:spTree>
    <p:extLst>
      <p:ext uri="{BB962C8B-B14F-4D97-AF65-F5344CB8AC3E}">
        <p14:creationId xmlns:p14="http://schemas.microsoft.com/office/powerpoint/2010/main" val="128943595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2026-07-10T05:54:33.4890000Z</dcterms:created>
  <dcterms:modified xsi:type="dcterms:W3CDTF">2026-07-10T05:54:33.4890000Z</dcterms:modified>
</coreProperties>
</file>