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Week 3 retrieval first (CLI verbs, repair semantics, trigger trio). Reframe: everything so far assumed you could see all the data — real orgs don't work that way, and neither does the exam. These are the two most UNDER-studied domains.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 the Week 1 tree with locks. Inheritance is load-bearing: SELECT granted on a SCHEMA covers all current AND FUTURE tables in it — the official sample-question pattern. Service principals = machine identities; prod jobs run as them, not as Dave.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official sample live: analysts need read-only on a schema (they have USE on both levels) → GRANT SELECT ON SCHEMA. ALL PRIVILEGES over-grants; INSERT writes; per-table misses future tables. DENY vs REVOKE is pure exam: REVOKE removes A grant; DENY overrides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the room cold on DROP semantics — should be instant by Week 4. New material: UNDROP (managed drops recoverable within a retention window) and conversion existence. Depth on conversion syntax is low-yield; know it's possible and what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pattern is two steps, always: CREATE FUNCTION (decides), ALTER TABLE (binds). Big demo moment: OWNERS ARE NOT EXEMPT — you'll see your own emails masked. Beats 15 filtered views: one table, no bypass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conceptual — exam objective is 'understand'. The discriminator is SCALE: one sensitive table → mask/filter directly; hundreds of tables + central security team + consistent policy → ABAC. Same machinery (filters/masks), central tag-driven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Lineage: UC builds table- AND column-level lineage from actual query execution — no scanner, no registration (the anti-Purview moment). Audit: system tables, queryable with SQL — system.access.audit. Free Edition may restrict system tables; the answer shape still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zero-copy features, opposite directions. Sharing exports live tables outward (D2D for UC recipients; OPEN protocol for pandas/Power BI/anything). Federation imports queryability inward — query Postgres/Snowflake through UC without ingesting. Egress cost across clouds is a named exam consideration.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Physical truth: tables are files; speed is layout. OPTIMIZE compacts small files (the streaming-append disease). VACUUM reclaims storage and TRIMS TIME TRAVEL — swapped purposes are a standard distractor. Liquid Clustering replaces partitioning AND Z-order: keys changeable without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Short, high-yield. Exam shape: 'which feature removes manually scheduled OPTIMIZE jobs?' Scope precision: UC MANAGED tables, paid tiers. Connect threads: managed tables + CLUSTER BY AUTO + this = 'Databricks runs your table maintenance.'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symptom → metric → first remedy. The exam DESCRIBES a Spark UI and wants the word. Connect to Week 2: broadcast joins were shuffle-avoidance. Serverless learners will use the query profile — same concepts, friendlier rendering.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parameters are listed BY NAME in the outline — memorization targets, direction matters not magic numbers. The failure triage master key: did it fail BEFORE any work (infra/library) or DURING (data/memory)? collect()/toPandas() kills the DRIVER — executors look healthy; that's the planted clue.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math vivid: a question that ate 4 minutes owes you two flags. Three passes: answer &lt;90s items, then flagged, then sweep. No penalty for guessing — answer everything. Push the Kryterion system check THIS WEEK, not exam morning.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mock rules explicitly: simulate the real thing. The score matters less than the per-domain diagnosis. Collect a pulse: which domain feels weakest (usually CI/CD or governance). Don't clean up lab objects — the capstone reuses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18104" y="9144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68496" y="365760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3542" y="4114800"/>
            <a:ext cx="502920" cy="50292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43584"/>
            <a:ext cx="1280160" cy="54864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INSTRUCTOR-LED CERTIFICATION SERIES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Certified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Associate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Governance &amp; Security (~15%) — full coverage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Troubleshooting &amp; Optimization (~10%) — the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performance half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Exam strategy + tonight: the 45-question mock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97880" y="0"/>
            <a:ext cx="3246120" cy="51435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199632" y="96012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0" dirty="0"/>
          </a:p>
        </p:txBody>
      </p:sp>
      <p:sp>
        <p:nvSpPr>
          <p:cNvPr id="13" name="Text 11"/>
          <p:cNvSpPr/>
          <p:nvPr/>
        </p:nvSpPr>
        <p:spPr>
          <a:xfrm>
            <a:off x="6263640" y="301752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Optimization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63640" y="4251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D9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GRANT/DENY · Masks &amp; Filters · Spark UI · Liquid Clustering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THE FOUNDATION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Securables inherit; grant to groups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2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356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35024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Privileges inherit DOWN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grant → flows to schemas and tables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1854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084832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 to groups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grants don't scale; exams favor groups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293522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2834640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principals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identities for jobs and CI/CD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368503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" y="3584448"/>
            <a:ext cx="3849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(or higher admins) can grant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92040" y="1298448"/>
            <a:ext cx="3749040" cy="324612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16" name="Text 13"/>
          <p:cNvSpPr/>
          <p:nvPr/>
        </p:nvSpPr>
        <p:spPr>
          <a:xfrm>
            <a:off x="5093208" y="1426464"/>
            <a:ext cx="3346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GETS ACCESS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120640" y="1691640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120640" y="1691640"/>
            <a:ext cx="64008" cy="8412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0" y="183794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303520" y="2203704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— dave@creo.com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120640" y="2761488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20640" y="2761488"/>
            <a:ext cx="64008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0" y="2907792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303520" y="3273552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analysts, engineers — grant HERE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120640" y="3831336"/>
            <a:ext cx="329184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120640" y="3831336"/>
            <a:ext cx="64008" cy="841248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7" name="Text 24"/>
          <p:cNvSpPr/>
          <p:nvPr/>
        </p:nvSpPr>
        <p:spPr>
          <a:xfrm>
            <a:off x="5303520" y="397764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principal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303520" y="4343400"/>
            <a:ext cx="2944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machine — the prod job's identity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OFFICIAL SAMPLE Q2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GRANT, REVOKE, DENY — and the chain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3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grants.sql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read chain: all three or no access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USE CATALOG ON CATALOG main 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USE SCHEMA  ON SCHEMA  sales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SELECT      ON SCHEMA  sales TO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GRANTS ON SCHEMA sales;   -- the audit answer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 SELECT ON SCHEMA sales FROM analysts;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   SELECT ON TABLE  sales.pay TO dave;  -- trumps all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CATALOG + USE SCHEMA + SELECT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76072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3408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REVOKE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one grant — other paths survive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76072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2552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84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 </a:t>
            </a:r>
            <a:pPr indent="0" marL="0">
              <a:lnSpc>
                <a:spcPts val="1584"/>
              </a:lnSpc>
              <a:buNone/>
            </a:pPr>
            <a:r>
              <a:rPr lang="en-US" sz="12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even group-inherited access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OPERATIONS EDITION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vs. external: create, drop, UNDROP, convert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AND data deleted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only — files remain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UNDROP TABLE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within retention window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 (files never left)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owns the 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Unity Catalog storage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external location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Predictive optimization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not eligible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when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— let Databricks optimize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 storage requirements, external readers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06908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12394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NUANCE THE EXAM LIKES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“Managed drops are instantly unrecoverable” — FALSE. UNDROP exists. And conversion between types is possible (directional operations).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masks and row filters: policy in the table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5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2461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masks_filters.sql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a function that decides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FUNCTION email_mask(email STRING)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CASE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WHEN is_account_group_member('support')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THEN email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regexp_replace(email,'^[^@]+','***') END;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bind 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customers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ALTER COLUMN email SET MASK email_mask;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customers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SET ROW FILTER atlanta_only ON (city);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Query-time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untouched; every path covered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31343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212848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a COLUMN's value per user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09981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2999232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filter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 fn decides ROW visibility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760720" y="388620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9" name="Text 16"/>
          <p:cNvSpPr/>
          <p:nvPr/>
        </p:nvSpPr>
        <p:spPr>
          <a:xfrm>
            <a:off x="5980176" y="3785616"/>
            <a:ext cx="2660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too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automatic exemption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CONCEPT (ADMIN FEATURE)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ABAC: tag once, police everywhere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6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777240" y="1783080"/>
            <a:ext cx="2103120" cy="914400"/>
          </a:xfrm>
          <a:prstGeom prst="rect">
            <a:avLst/>
          </a:prstGeom>
          <a:solidFill>
            <a:srgbClr val="3D5166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pii_email on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tables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862072" y="2066544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429000" y="1783080"/>
            <a:ext cx="2103120" cy="9144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tag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masking rule,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once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513832" y="2066544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80760" y="1783080"/>
            <a:ext cx="2103120" cy="91440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6" name="Text 13"/>
          <p:cNvSpPr/>
          <p:nvPr/>
        </p:nvSpPr>
        <p:spPr>
          <a:xfrm>
            <a:off x="6080760" y="1783080"/>
            <a:ext cx="210312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</a:t>
            </a:r>
            <a:endParaRPr lang="en-US" sz="12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everywhere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0" y="275234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tagged column,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and future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3657600"/>
            <a:ext cx="8138160" cy="8412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502920" y="3657600"/>
            <a:ext cx="54864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704088" y="371246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— PAID/ADMIN WORKSPACE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security team must apply identical masking to every column tagged sensitive_pii across thousands of tables” → ABAC. Per-table functions at that scale is the wrong answer by design.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TWO QUICK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is automatic; audit is queryable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48132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138074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Explorer → table → Lineage tab; spans SQL, notebooks, jobs, pipelines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35000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" y="224942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analysis, root cause, compliance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21868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" y="3118104"/>
            <a:ext cx="3849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16"/>
              </a:lnSpc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logs  </a:t>
            </a:r>
            <a:pPr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did what, when — system tables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325880"/>
            <a:ext cx="3749040" cy="228600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14" name="Shape 11"/>
          <p:cNvSpPr/>
          <p:nvPr/>
        </p:nvSpPr>
        <p:spPr>
          <a:xfrm>
            <a:off x="4892040" y="1325880"/>
            <a:ext cx="374904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15" name="Shape 12"/>
          <p:cNvSpPr/>
          <p:nvPr/>
        </p:nvSpPr>
        <p:spPr>
          <a:xfrm>
            <a:off x="502005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6" name="Text 13"/>
          <p:cNvSpPr/>
          <p:nvPr/>
        </p:nvSpPr>
        <p:spPr>
          <a:xfrm>
            <a:off x="5202936" y="13441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audit.sql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93208" y="1691640"/>
            <a:ext cx="336499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the audit answer shape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user_identity, action_name,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request_params, event_time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  system.access.audit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event_date = current_date();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92040" y="3794760"/>
            <a:ext cx="3749040" cy="77724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9" name="Shape 16"/>
          <p:cNvSpPr/>
          <p:nvPr/>
        </p:nvSpPr>
        <p:spPr>
          <a:xfrm>
            <a:off x="4892040" y="3794760"/>
            <a:ext cx="54864" cy="7772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3849624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“Lineage needs a third-party scanner.” It doesn't — UC captures it automatically from execution.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7 · CONCEPT (ADMIN SETUP)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Sharing out, Federation 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37560"/>
                <a:gridCol w="3337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 Sharing (data OUT)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Lakehouse Federation (queries OUT, no copy IN)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Recipients query your LIVE tables — no extracts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 external DBs through UC — no ingestion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flavors / parts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D2D (recipient has UC) · open protocol (any tool)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Connection + foreign catalog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when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“Partner needs live data” — even without Databricks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“Query the operational Postgres without a pipeline”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Watch out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Cross-cloud/region egress costs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Exploration &amp; light access — not heavy repeated ETL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4160520"/>
            <a:ext cx="54864" cy="50292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4215384"/>
            <a:ext cx="7772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“Delta Sharing emails a copy.” Zero-copy live access is the entire advantage — and why egress matters.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LAYOUT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OPTIMIZE, VACUUM, and Liquid Clustering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9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983480" cy="3017520"/>
          </a:xfrm>
          <a:prstGeom prst="rect">
            <a:avLst/>
          </a:prstGeom>
          <a:solidFill>
            <a:srgbClr val="263545"/>
          </a:solidFill>
          <a:ln/>
        </p:spPr>
      </p:sp>
      <p:sp>
        <p:nvSpPr>
          <p:cNvPr id="8" name="Shape 5"/>
          <p:cNvSpPr/>
          <p:nvPr/>
        </p:nvSpPr>
        <p:spPr>
          <a:xfrm>
            <a:off x="502920" y="1325880"/>
            <a:ext cx="4983480" cy="2743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" y="1417320"/>
            <a:ext cx="91440" cy="91440"/>
          </a:xfrm>
          <a:prstGeom prst="ellipse">
            <a:avLst/>
          </a:prstGeom>
          <a:solidFill>
            <a:srgbClr val="E31E24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" y="134416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7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layout.sql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1691640"/>
            <a:ext cx="459943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layout at creation (liquid clustering)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gold_daily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 BY (store, order_date) AS SELECT ...;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gold_daily CLUSTER BY (region);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^ change keys WITHOUT rewriting the table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 gold_daily;  -- compact small files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EAF0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VACUUM   gold_daily;  -- delete old files</a:t>
            </a:r>
            <a:endParaRPr lang="en-US" sz="10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8F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-- (limits time travel!)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15270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5980176" y="14264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Partitioning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legacy: rigid dirs, cardinality traps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60720" y="24414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2"/>
          <p:cNvSpPr/>
          <p:nvPr/>
        </p:nvSpPr>
        <p:spPr>
          <a:xfrm>
            <a:off x="5980176" y="23408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Z-ORDER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OPTIMIZE-time re-sorts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60720" y="33558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5980176" y="3255264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 </a:t>
            </a:r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incremental, key-changeable — the current exam answer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CONCEPT (PREMIUM+)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optimization: maintenance on autopilot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10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0292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runs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580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· VACUUM · layout decisions — automatically, based on observed usage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0"/>
          <p:cNvSpPr/>
          <p:nvPr/>
        </p:nvSpPr>
        <p:spPr>
          <a:xfrm>
            <a:off x="347472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works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47472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 Catalog MANAGED tables only — a big reason managed is the recommendation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80760" y="1325880"/>
            <a:ext cx="25603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080760" y="1325880"/>
            <a:ext cx="64008" cy="16002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147218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NOT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263640" y="1837944"/>
            <a:ext cx="2212848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query tuner. It maintains TABLES; query plans are still Spark's job (and yours)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3566160"/>
            <a:ext cx="813816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20" name="Shape 17"/>
          <p:cNvSpPr/>
          <p:nvPr/>
        </p:nvSpPr>
        <p:spPr>
          <a:xfrm>
            <a:off x="502920" y="35661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" y="362102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CONCEPT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Premium+ feature — not exercisable in Free Edition; fully testable on the exam.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 6 · VERBATIM OBJECTIVE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UI: skew, shuffle, spill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28346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Symptom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metric signature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remedy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skew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task time ≫ median; one partition huge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Broadcast small side · AQE · rethink/salt the key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 shuffle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Shuffle Read/Write on a wide op (join, groupBy)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Broadcast the small table · prune &amp; filter early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Disk spill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Spill (Memory) / Spill (Disk) counters &gt;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partitions (smaller each) · more executor memory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" y="3794760"/>
            <a:ext cx="8138160" cy="84124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" y="3794760"/>
            <a:ext cx="54864" cy="84124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0" name="Text 6"/>
          <p:cNvSpPr/>
          <p:nvPr/>
        </p:nvSpPr>
        <p:spPr>
          <a:xfrm>
            <a:off x="704088" y="3849624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ORDER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Longest stage first → task-duration distribution → I/O and spill counters. “Median 30s, max 28 minutes” = SKEW — that sentence is an exam question.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DOMAINS 3 &amp; 6 · MEMORIZE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knobs and three failures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12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0292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423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spark.sql.shuffle.partitions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Partition count AFTER wide ops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spark.default.parallelism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 RDD parallelism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spark.executor/driver.memory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spill &amp; OOM levers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spark.sql.autoBroadcastJoinThreshold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Auto-broadcast size cap (~10MB)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715000" y="1280160"/>
            <a:ext cx="2926080" cy="3154680"/>
          </a:xfrm>
          <a:prstGeom prst="rect">
            <a:avLst/>
          </a:prstGeom>
          <a:solidFill>
            <a:srgbClr val="ECF0F1"/>
          </a:solidFill>
          <a:ln/>
        </p:spPr>
      </p:sp>
      <p:sp>
        <p:nvSpPr>
          <p:cNvPr id="9" name="Text 5"/>
          <p:cNvSpPr/>
          <p:nvPr/>
        </p:nvSpPr>
        <p:spPr>
          <a:xfrm>
            <a:off x="5916168" y="140817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TRIAGE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943600" y="175564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7"/>
          <p:cNvSpPr/>
          <p:nvPr/>
        </p:nvSpPr>
        <p:spPr>
          <a:xfrm>
            <a:off x="6163056" y="1655064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task?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startup (init script, quota) or library conflict (import errors)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943600" y="2596896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9"/>
          <p:cNvSpPr/>
          <p:nvPr/>
        </p:nvSpPr>
        <p:spPr>
          <a:xfrm>
            <a:off x="6163056" y="2496312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job?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 / spill / OOM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43600" y="343814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3337560"/>
            <a:ext cx="2295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6"/>
              </a:lnSpc>
              <a:buNone/>
            </a:pPr>
            <a:r>
              <a:rPr lang="en-US" sz="10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OOM  </a:t>
            </a:r>
            <a:pPr indent="0" marL="0">
              <a:lnSpc>
                <a:spcPts val="1386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collect(), toPandas() — executors healthy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920" y="4023360"/>
            <a:ext cx="5029200" cy="566928"/>
          </a:xfrm>
          <a:prstGeom prst="rect">
            <a:avLst/>
          </a:prstGeom>
          <a:solidFill>
            <a:srgbClr val="FDF3F3"/>
          </a:solidFill>
          <a:ln/>
        </p:spPr>
      </p:sp>
      <p:sp>
        <p:nvSpPr>
          <p:cNvPr id="17" name="Shape 13"/>
          <p:cNvSpPr/>
          <p:nvPr/>
        </p:nvSpPr>
        <p:spPr>
          <a:xfrm>
            <a:off x="502920" y="4023360"/>
            <a:ext cx="54864" cy="566928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8" name="Text 14"/>
          <p:cNvSpPr/>
          <p:nvPr/>
        </p:nvSpPr>
        <p:spPr>
          <a:xfrm>
            <a:off x="704088" y="407822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CAVEAT 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serverless you mostly CAN'T set these — Databricks does. That fact itself is exam-friendly.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take this exam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0292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2:00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PER QUESTION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12420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1564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321564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PASSES: FAST · FLAGGED · SWEEP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36920" y="1508760"/>
            <a:ext cx="0" cy="1005840"/>
          </a:xfrm>
          <a:prstGeom prst="line">
            <a:avLst/>
          </a:prstGeom>
          <a:noFill/>
          <a:ln w="12700">
            <a:solidFill>
              <a:srgbClr val="D8DEE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28360" y="1371600"/>
            <a:ext cx="252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5928360" y="2286000"/>
            <a:ext cx="252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spc="15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PENALTY FOR GUESSING — ANSWER ALL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0292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order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8580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invented syntax → ② real-feature-wrong-job → ③ violates a stated constraint → winner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29184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29184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1" name="Text 18"/>
          <p:cNvSpPr/>
          <p:nvPr/>
        </p:nvSpPr>
        <p:spPr>
          <a:xfrm>
            <a:off x="347472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Distractor types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347472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invented syntax · misapplied feature · old-name bait · over-powered tool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080760" y="297180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2"/>
            </a:solidFill>
            <a:prstDash val="solid"/>
          </a:ln>
          <a:effectLst>
            <a:outerShdw sx="100000" sy="100000" kx="0" ky="0" algn="bl" rotWithShape="0" blurRad="88900" dist="25400" dir="5400000">
              <a:srgbClr val="9AA5AD">
                <a:alpha val="3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0760" y="2971800"/>
            <a:ext cx="64008" cy="13716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31181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263640" y="3483864"/>
            <a:ext cx="2212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Webcam, ID, clean desk, system check done; online proctored or test center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2377440" cy="237744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108960"/>
            <a:ext cx="1554480" cy="1554480"/>
          </a:xfrm>
          <a:prstGeom prst="ellipse">
            <a:avLst/>
          </a:prstGeom>
          <a:ln w="12700">
            <a:solidFill>
              <a:srgbClr val="46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31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SEVEN DOMAINS CLOSED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Tonight: the mock exam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9384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questions · 90 minutes · timed · closed-book · ONE sitting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496312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3957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yourself PER DOMAIN — bring the breakdown to Week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296265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review flexes to the cohort's actual weak domains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30168"/>
            <a:ext cx="91440" cy="9144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5295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DCE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tonight: run the Kryterion system check on your exam machine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828800"/>
            <a:ext cx="2606040" cy="22860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37744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review +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readiness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846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CREO TECHNOLOGIES  ·  DATABRICKS DATA ENGINEER ASSOCIATE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JUNE 2026  ·  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Creo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— Governance &amp; Optimization</dc:title>
  <dc:subject>PptxGenJS Presentation</dc:subject>
  <dc:creator>Creo Academy</dc:creator>
  <cp:lastModifiedBy>Creo Academy</cp:lastModifiedBy>
  <cp:revision>1</cp:revision>
  <dcterms:created xsi:type="dcterms:W3CDTF">2026-06-12T14:46:30Z</dcterms:created>
  <dcterms:modified xsi:type="dcterms:W3CDTF">2026-06-12T14:46:30Z</dcterms:modified>
</cp:coreProperties>
</file>